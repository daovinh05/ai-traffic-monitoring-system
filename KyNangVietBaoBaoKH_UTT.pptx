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2" r:id="rId17"/>
    <p:sldId id="271" r:id="rId18"/>
    <p:sldId id="272" r:id="rId19"/>
    <p:sldId id="283" r:id="rId20"/>
    <p:sldId id="274" r:id="rId21"/>
    <p:sldId id="276" r:id="rId22"/>
    <p:sldId id="277" r:id="rId23"/>
    <p:sldId id="278" r:id="rId24"/>
    <p:sldId id="279" r:id="rId25"/>
    <p:sldId id="280" r:id="rId26"/>
    <p:sldId id="281"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146" d="100"/>
          <a:sy n="146" d="100"/>
        </p:scale>
        <p:origin x="64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5609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bìa. Chào mừng sinh viên. Hỏi: 'Ai đã từng đọc bài báo khoa học? Ai đã từng viết?' để nắm trình độ xuất phát điểm.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mục tiêu. Nhắc sinh viên chuẩn bị đề tài NCKH để dùng trong phần thực hành cuối buổi.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chuyển sang phần 1. Thời lượng 20 phút.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sinh viên: 'Nhìn vào bài báo mẫu, em thấy nó khác gì với báo cáo NCKH của mình?' — Ghi nhận 3-4 câu trả lời.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Không phải mọi đề tài đều thành được bài báo, nhưng kết quả tốt + phương pháp đúng thì hoàn toàn làm được. Đã có sinh viên UTT đăng JSTT!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2. Thời lượng 30 phút.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bài báo mẫu — chỉ từng phần cho SV thấy IMRAD thực tế. Hỏi: Phần nào trong đề tài NCKH của em tương ứng với mỗi phần?
LUU Y cho GV: IMRAD la chuan cua KH tu nhien, ky thuat, y sinh. Bai bao kinh te/xa hoi/giao duc thuong dung: Gioi thieu - Tong quan NC - Phuong phap - Ket qua &amp; Thao luan - Ket luan &amp; Khuyen nghi.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SV bị kẹt ở Introduction vì chưa biết bài mình nói gì. Methods là phần bạn ĐÃ LÀM RỒI — bắt đầu từ đó!</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3. Thời lượng 40 phút.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Yêu cầu SV viết tiêu đề từ đề tài của mình. Hỏi 2 bạn đọc to — cả lớp nhận xét theo tiêu chí.</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rõ điểm khác nhau. Không số liệu vs có số liệu; không phương pháp vs phương pháp rõ; không ý nghĩa vs ý nghĩa thực tiễn.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CARS: Introduction phải kết thúc bằng câu 'Bài báo này được tổ chức như sau...' — nhiều SV hay bỏ qua.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phổ biến: Discussion chỉ diễn đạt lại Results. Hỏi: 'Nếu kết quả là X, thì TẠI SAO X xảy ra? X so với nghiên cứu của ai khác thì thế nào?'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Yêu cầu SV đánh dấu các lỗi mà mình có khả năng mắc phải nhất. Đây là tổng hợp từ kinh nghiệm biên tập thực tế.</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4. Thời lượng 20 phút.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JSTT tiếng Anh là tạp chí Scopus duy nhất của UTT, hiện xếp hạng Q3 SJR — chỉ sau 1 năm từ Q4. Đây là lợi thế rất lớn cho SV/GV UTT khi công bố quốc tế: được hỗ trợ trực tiếp từ ban biên tập trong trường.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trực tiếp jstt.vn. Nhấn mạnh: JSTT được Hội đồng Giáo sư Nhà nước tính điểm — bài đăng có giá trị cho học bổng, NCS, tuyển dụng. SV UTT có lợi thế được hỗ trợ trực tiếp từ ban biên tập.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SV xem ai có kết quả định lượng trong đề tài — nếu có và đúng lĩnh vực JSTT, đó là ứng viên tiềm năng.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Sinh viên NCKH → hướng đến loại 01 (Nghiên cứu nguyên bản) nếu có kết quả thực nghiệm; loại 03 (Thông tin KH) nếu muốn bình luận xu hướng ngành. Loại 02 (Review) thường dành cho giảng viên và NCS.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TRỰC TIẾP jstt.vn — chỉ mục 'Hướng dẫn gửi', link tải template (.docx), và trang 'Gửi bài'. Nhắc SV tạo tài khoản ngay hôm nay nếu có điện thoại/laptop.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thực hành. Phát mẫu biểu cho sinh viên.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vòng quanh lớp hỗ trợ từng SV. Tập trung: (1) SV không biết thesis → hỏi 'Kết quả quan trọng nhất của đề tài em là gì?'; (2) Tiêu đề quá chung → dùng công thức đã học.</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handout in sẵn cho SV. Dặn họ dùng checklist này trước mỗi lần nộp bài. Nhắc tải template JSTT tại jstt.vn và email hỗ trợ jstt@utt.edu.vn.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nhanh Zotero: cài plugin Word, xuất TLTK theo APA. Đây là công cụ tiết kiệm thời gian nhất cho SV.</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ngắn gọn. Nhắc SV: bài báo đầu tiên luôn khó nhất — nhưng họ đã có khung, đã có checklist, và có thể liên hệ ban biên tập JSTT trực tiếp. Phát handout.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phần hỏi đáp. Nhắc SV: (1) Tạo tài khoản jstt.vn; (2) Tải template; (3) Liên hệ jstt@utt.edu.vn nếu có câu hỏi sau buổi học.</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7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5A623"/>
          </a:solidFill>
          <a:ln w="12700">
            <a:solidFill>
              <a:srgbClr val="F5A623"/>
            </a:solidFill>
            <a:prstDash val="solid"/>
          </a:ln>
        </p:spPr>
      </p:sp>
      <p:sp>
        <p:nvSpPr>
          <p:cNvPr id="3" name="Shape 1"/>
          <p:cNvSpPr/>
          <p:nvPr/>
        </p:nvSpPr>
        <p:spPr>
          <a:xfrm>
            <a:off x="109728" y="91440"/>
            <a:ext cx="566928" cy="566928"/>
          </a:xfrm>
          <a:prstGeom prst="rect">
            <a:avLst/>
          </a:prstGeom>
          <a:solidFill>
            <a:srgbClr val="FFFFFF"/>
          </a:solidFill>
          <a:ln w="12700">
            <a:solidFill>
              <a:srgbClr val="FFFFFF"/>
            </a:solidFill>
            <a:prstDash val="solid"/>
          </a:ln>
        </p:spPr>
      </p:sp>
      <p:sp>
        <p:nvSpPr>
          <p:cNvPr id="4" name="Text 2"/>
          <p:cNvSpPr/>
          <p:nvPr/>
        </p:nvSpPr>
        <p:spPr>
          <a:xfrm>
            <a:off x="109728" y="91440"/>
            <a:ext cx="566928" cy="566928"/>
          </a:xfrm>
          <a:prstGeom prst="rect">
            <a:avLst/>
          </a:prstGeom>
          <a:noFill/>
          <a:ln/>
        </p:spPr>
        <p:txBody>
          <a:bodyPr wrap="square" lIns="0" tIns="0" rIns="0" bIns="0" rtlCol="0" anchor="ctr"/>
          <a:lstStyle/>
          <a:p>
            <a:pPr marL="0" indent="0" algn="ctr">
              <a:buNone/>
            </a:pPr>
            <a:r>
              <a:rPr lang="en-US" sz="1600" b="1" dirty="0">
                <a:solidFill>
                  <a:srgbClr val="F5A623"/>
                </a:solidFill>
                <a:latin typeface="Calibri" pitchFamily="34" charset="0"/>
                <a:ea typeface="Calibri" pitchFamily="34" charset="-122"/>
                <a:cs typeface="Calibri" pitchFamily="34" charset="-120"/>
              </a:rPr>
              <a:t>UTT</a:t>
            </a:r>
            <a:endParaRPr lang="en-US" sz="1600" dirty="0"/>
          </a:p>
        </p:txBody>
      </p:sp>
      <p:sp>
        <p:nvSpPr>
          <p:cNvPr id="5" name="Text 3"/>
          <p:cNvSpPr/>
          <p:nvPr/>
        </p:nvSpPr>
        <p:spPr>
          <a:xfrm>
            <a:off x="777240"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Text 5"/>
          <p:cNvSpPr/>
          <p:nvPr/>
        </p:nvSpPr>
        <p:spPr>
          <a:xfrm>
            <a:off x="457200" y="1463040"/>
            <a:ext cx="8229600" cy="17373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KỸ NĂNG VIẾT VÀ CÔNG BỐ</a:t>
            </a:r>
            <a:endParaRPr lang="en-US" sz="4400" dirty="0"/>
          </a:p>
          <a:p>
            <a:pPr marL="0" indent="0" algn="ctr">
              <a:buNone/>
            </a:pPr>
            <a:r>
              <a:rPr lang="en-US" sz="4400" b="1" dirty="0">
                <a:solidFill>
                  <a:srgbClr val="FFFFFF"/>
                </a:solidFill>
                <a:latin typeface="Calibri" pitchFamily="34" charset="0"/>
                <a:ea typeface="Calibri" pitchFamily="34" charset="-122"/>
                <a:cs typeface="Calibri" pitchFamily="34" charset="-120"/>
              </a:rPr>
              <a:t>BÀI BÁO KHOA HỌC</a:t>
            </a:r>
            <a:endParaRPr lang="en-US" sz="4400" dirty="0"/>
          </a:p>
        </p:txBody>
      </p:sp>
      <p:sp>
        <p:nvSpPr>
          <p:cNvPr id="8" name="Shape 6"/>
          <p:cNvSpPr/>
          <p:nvPr/>
        </p:nvSpPr>
        <p:spPr>
          <a:xfrm>
            <a:off x="2926080" y="3246120"/>
            <a:ext cx="3291840" cy="64008"/>
          </a:xfrm>
          <a:prstGeom prst="rect">
            <a:avLst/>
          </a:prstGeom>
          <a:solidFill>
            <a:srgbClr val="F5A623"/>
          </a:solidFill>
          <a:ln w="12700">
            <a:solidFill>
              <a:srgbClr val="F5A623"/>
            </a:solidFill>
            <a:prstDash val="solid"/>
          </a:ln>
        </p:spPr>
      </p:sp>
      <p:sp>
        <p:nvSpPr>
          <p:cNvPr id="9" name="Text 7"/>
          <p:cNvSpPr/>
          <p:nvPr/>
        </p:nvSpPr>
        <p:spPr>
          <a:xfrm>
            <a:off x="457200" y="3429000"/>
            <a:ext cx="8229600" cy="457200"/>
          </a:xfrm>
          <a:prstGeom prst="rect">
            <a:avLst/>
          </a:prstGeom>
          <a:noFill/>
          <a:ln/>
        </p:spPr>
        <p:txBody>
          <a:bodyPr wrap="square" lIns="0" tIns="0" rIns="0" bIns="0"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Dành cho sinh viên tham gia Đề tài NCKH</a:t>
            </a:r>
            <a:endParaRPr lang="en-US" sz="2200" dirty="0"/>
          </a:p>
        </p:txBody>
      </p:sp>
      <p:sp>
        <p:nvSpPr>
          <p:cNvPr id="10" name="Text 8"/>
          <p:cNvSpPr/>
          <p:nvPr/>
        </p:nvSpPr>
        <p:spPr>
          <a:xfrm>
            <a:off x="457200" y="3977640"/>
            <a:ext cx="8229600" cy="365760"/>
          </a:xfrm>
          <a:prstGeom prst="rect">
            <a:avLst/>
          </a:prstGeom>
          <a:noFill/>
          <a:ln/>
        </p:spPr>
        <p:txBody>
          <a:bodyPr wrap="square" lIns="0" tIns="0" rIns="0" bIns="0" rtlCol="0" anchor="ctr"/>
          <a:lstStyle/>
          <a:p>
            <a:pPr marL="0" indent="0" algn="ctr">
              <a:buNone/>
            </a:pPr>
            <a:r>
              <a:rPr lang="en-US" sz="1600" dirty="0">
                <a:solidFill>
                  <a:srgbClr val="F5A623"/>
                </a:solidFill>
                <a:latin typeface="Calibri" pitchFamily="34" charset="0"/>
                <a:ea typeface="Calibri" pitchFamily="34" charset="-122"/>
                <a:cs typeface="Calibri" pitchFamily="34" charset="-120"/>
              </a:rPr>
              <a:t>Trường Đại học Công nghệ Giao thông Vận tải  |  Tạp chí JSTT  |  Tháng 6/2026</a:t>
            </a:r>
            <a:endParaRPr lang="en-US" sz="1600" dirty="0"/>
          </a:p>
        </p:txBody>
      </p:sp>
      <p:sp>
        <p:nvSpPr>
          <p:cNvPr id="11" name="Shape 9"/>
          <p:cNvSpPr/>
          <p:nvPr/>
        </p:nvSpPr>
        <p:spPr>
          <a:xfrm>
            <a:off x="0" y="4892040"/>
            <a:ext cx="9144000" cy="251460"/>
          </a:xfrm>
          <a:prstGeom prst="rect">
            <a:avLst/>
          </a:prstGeom>
          <a:solidFill>
            <a:srgbClr val="F5A623"/>
          </a:solidFill>
          <a:ln w="12700">
            <a:solidFill>
              <a:srgbClr val="F5A623"/>
            </a:solidFill>
            <a:prstDash val="solid"/>
          </a:ln>
        </p:spPr>
      </p:sp>
      <p:sp>
        <p:nvSpPr>
          <p:cNvPr id="12" name="Text 10"/>
          <p:cNvSpPr/>
          <p:nvPr/>
        </p:nvSpPr>
        <p:spPr>
          <a:xfrm>
            <a:off x="182880" y="4901184"/>
            <a:ext cx="877824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 Số 54 Triều Khúc, Thanh Xuân, Hà Nội   |   📞 (0243).854.4264   |   Email: utt@utt.edu.vn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cs typeface="Calibri" pitchFamily="34" charset="-120"/>
              </a:rPr>
              <a:t>MỤC TIÊU</a:t>
            </a:r>
            <a:endParaRPr lang="en-US" sz="2600" dirty="0"/>
          </a:p>
        </p:txBody>
      </p:sp>
      <p:sp>
        <p:nvSpPr>
          <p:cNvPr id="10" name="Shape 8"/>
          <p:cNvSpPr/>
          <p:nvPr/>
        </p:nvSpPr>
        <p:spPr>
          <a:xfrm>
            <a:off x="320040" y="1572768"/>
            <a:ext cx="411480" cy="384048"/>
          </a:xfrm>
          <a:prstGeom prst="rect">
            <a:avLst/>
          </a:prstGeom>
          <a:solidFill>
            <a:srgbClr val="F5A623"/>
          </a:solidFill>
          <a:ln w="12700">
            <a:solidFill>
              <a:srgbClr val="F5A623"/>
            </a:solidFill>
            <a:prstDash val="solid"/>
          </a:ln>
        </p:spPr>
      </p:sp>
      <p:sp>
        <p:nvSpPr>
          <p:cNvPr id="11" name="Text 9"/>
          <p:cNvSpPr/>
          <p:nvPr/>
        </p:nvSpPr>
        <p:spPr>
          <a:xfrm>
            <a:off x="320040" y="1572768"/>
            <a:ext cx="411480"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10"/>
          <p:cNvSpPr/>
          <p:nvPr/>
        </p:nvSpPr>
        <p:spPr>
          <a:xfrm>
            <a:off x="822960" y="1591056"/>
            <a:ext cx="813816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Hiểu bài báo khoa học là gì và khác gì báo cáo đề tài NCKH</a:t>
            </a:r>
            <a:endParaRPr lang="en-US" sz="1800" dirty="0"/>
          </a:p>
        </p:txBody>
      </p:sp>
      <p:sp>
        <p:nvSpPr>
          <p:cNvPr id="13" name="Shape 11"/>
          <p:cNvSpPr/>
          <p:nvPr/>
        </p:nvSpPr>
        <p:spPr>
          <a:xfrm>
            <a:off x="320040" y="2075688"/>
            <a:ext cx="411480" cy="384048"/>
          </a:xfrm>
          <a:prstGeom prst="rect">
            <a:avLst/>
          </a:prstGeom>
          <a:solidFill>
            <a:srgbClr val="F5A623"/>
          </a:solidFill>
          <a:ln w="12700">
            <a:solidFill>
              <a:srgbClr val="F5A623"/>
            </a:solidFill>
            <a:prstDash val="solid"/>
          </a:ln>
        </p:spPr>
      </p:sp>
      <p:sp>
        <p:nvSpPr>
          <p:cNvPr id="14" name="Text 12"/>
          <p:cNvSpPr/>
          <p:nvPr/>
        </p:nvSpPr>
        <p:spPr>
          <a:xfrm>
            <a:off x="320040" y="2075688"/>
            <a:ext cx="411480"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822960" y="2093976"/>
            <a:ext cx="813816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Nắm vững cấu trúc IMRAD — chuẩn quốc tế của bài báo khoa học</a:t>
            </a:r>
            <a:endParaRPr lang="en-US" sz="1800" dirty="0"/>
          </a:p>
        </p:txBody>
      </p:sp>
      <p:sp>
        <p:nvSpPr>
          <p:cNvPr id="16" name="Shape 14"/>
          <p:cNvSpPr/>
          <p:nvPr/>
        </p:nvSpPr>
        <p:spPr>
          <a:xfrm>
            <a:off x="320040" y="2578608"/>
            <a:ext cx="411480" cy="384048"/>
          </a:xfrm>
          <a:prstGeom prst="rect">
            <a:avLst/>
          </a:prstGeom>
          <a:solidFill>
            <a:srgbClr val="F5A623"/>
          </a:solidFill>
          <a:ln w="12700">
            <a:solidFill>
              <a:srgbClr val="F5A623"/>
            </a:solidFill>
            <a:prstDash val="solid"/>
          </a:ln>
        </p:spPr>
      </p:sp>
      <p:sp>
        <p:nvSpPr>
          <p:cNvPr id="17" name="Text 15"/>
          <p:cNvSpPr/>
          <p:nvPr/>
        </p:nvSpPr>
        <p:spPr>
          <a:xfrm>
            <a:off x="320040" y="2578608"/>
            <a:ext cx="411480"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822960" y="2596896"/>
            <a:ext cx="813816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Biết cách viết: Tiêu đề, Tóm tắt, Từ khóa, Giới thiệu, Phương pháp, Kết quả, Kết luận, TLTK</a:t>
            </a:r>
            <a:endParaRPr lang="en-US" sz="1800" dirty="0"/>
          </a:p>
        </p:txBody>
      </p:sp>
      <p:sp>
        <p:nvSpPr>
          <p:cNvPr id="19" name="Shape 17"/>
          <p:cNvSpPr/>
          <p:nvPr/>
        </p:nvSpPr>
        <p:spPr>
          <a:xfrm>
            <a:off x="320040" y="3081528"/>
            <a:ext cx="411480" cy="384048"/>
          </a:xfrm>
          <a:prstGeom prst="rect">
            <a:avLst/>
          </a:prstGeom>
          <a:solidFill>
            <a:srgbClr val="F5A623"/>
          </a:solidFill>
          <a:ln w="12700">
            <a:solidFill>
              <a:srgbClr val="F5A623"/>
            </a:solidFill>
            <a:prstDash val="solid"/>
          </a:ln>
        </p:spPr>
      </p:sp>
      <p:sp>
        <p:nvSpPr>
          <p:cNvPr id="20" name="Text 18"/>
          <p:cNvSpPr/>
          <p:nvPr/>
        </p:nvSpPr>
        <p:spPr>
          <a:xfrm>
            <a:off x="320040" y="3081528"/>
            <a:ext cx="411480"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9"/>
          <p:cNvSpPr/>
          <p:nvPr/>
        </p:nvSpPr>
        <p:spPr>
          <a:xfrm>
            <a:off x="822960" y="3099816"/>
            <a:ext cx="813816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Nhận biết và tránh được 8 lỗi phổ biến nhất khi viết bài báo</a:t>
            </a:r>
            <a:endParaRPr lang="en-US" sz="1800" dirty="0"/>
          </a:p>
        </p:txBody>
      </p:sp>
      <p:sp>
        <p:nvSpPr>
          <p:cNvPr id="22" name="Shape 20"/>
          <p:cNvSpPr/>
          <p:nvPr/>
        </p:nvSpPr>
        <p:spPr>
          <a:xfrm>
            <a:off x="320040" y="3584448"/>
            <a:ext cx="411480" cy="384048"/>
          </a:xfrm>
          <a:prstGeom prst="rect">
            <a:avLst/>
          </a:prstGeom>
          <a:solidFill>
            <a:srgbClr val="F5A623"/>
          </a:solidFill>
          <a:ln w="12700">
            <a:solidFill>
              <a:srgbClr val="F5A623"/>
            </a:solidFill>
            <a:prstDash val="solid"/>
          </a:ln>
        </p:spPr>
      </p:sp>
      <p:sp>
        <p:nvSpPr>
          <p:cNvPr id="23" name="Text 21"/>
          <p:cNvSpPr/>
          <p:nvPr/>
        </p:nvSpPr>
        <p:spPr>
          <a:xfrm>
            <a:off x="320040" y="3584448"/>
            <a:ext cx="411480"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4" name="Text 22"/>
          <p:cNvSpPr/>
          <p:nvPr/>
        </p:nvSpPr>
        <p:spPr>
          <a:xfrm>
            <a:off x="822960" y="3602736"/>
            <a:ext cx="813816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Biết quy trình nộp bài cho Tạp chí JSTT tại jstt.vn</a:t>
            </a:r>
            <a:endParaRPr lang="en-US" sz="1800" dirty="0"/>
          </a:p>
        </p:txBody>
      </p:sp>
      <p:sp>
        <p:nvSpPr>
          <p:cNvPr id="25" name="Shape 23"/>
          <p:cNvSpPr/>
          <p:nvPr/>
        </p:nvSpPr>
        <p:spPr>
          <a:xfrm>
            <a:off x="320040" y="4087368"/>
            <a:ext cx="411480" cy="384048"/>
          </a:xfrm>
          <a:prstGeom prst="rect">
            <a:avLst/>
          </a:prstGeom>
          <a:solidFill>
            <a:srgbClr val="F5A623"/>
          </a:solidFill>
          <a:ln w="12700">
            <a:solidFill>
              <a:srgbClr val="F5A623"/>
            </a:solidFill>
            <a:prstDash val="solid"/>
          </a:ln>
        </p:spPr>
      </p:sp>
      <p:sp>
        <p:nvSpPr>
          <p:cNvPr id="26" name="Text 24"/>
          <p:cNvSpPr/>
          <p:nvPr/>
        </p:nvSpPr>
        <p:spPr>
          <a:xfrm>
            <a:off x="320040" y="4087368"/>
            <a:ext cx="411480"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7" name="Text 25"/>
          <p:cNvSpPr/>
          <p:nvPr/>
        </p:nvSpPr>
        <p:spPr>
          <a:xfrm>
            <a:off x="822960" y="4105656"/>
            <a:ext cx="813816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Hoàn thành khung bài báo đầu tiên từ đề tài NCKH của mình</a:t>
            </a:r>
            <a:endParaRPr lang="en-US" sz="1800" dirty="0"/>
          </a:p>
        </p:txBody>
      </p:sp>
      <p:sp>
        <p:nvSpPr>
          <p:cNvPr id="28" name="Shape 26"/>
          <p:cNvSpPr/>
          <p:nvPr/>
        </p:nvSpPr>
        <p:spPr>
          <a:xfrm>
            <a:off x="2011680" y="4846320"/>
            <a:ext cx="7040880" cy="36576"/>
          </a:xfrm>
          <a:prstGeom prst="rect">
            <a:avLst/>
          </a:prstGeom>
          <a:solidFill>
            <a:srgbClr val="F5A623"/>
          </a:solidFill>
          <a:ln w="12700">
            <a:solidFill>
              <a:srgbClr val="F5A623"/>
            </a:solidFill>
            <a:prstDash val="solid"/>
          </a:ln>
        </p:spPr>
      </p:sp>
      <p:pic>
        <p:nvPicPr>
          <p:cNvPr id="29"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30" name="Text 27"/>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31" name="Text 28"/>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2B2F77"/>
          </a:solidFill>
          <a:ln w="12700">
            <a:solidFill>
              <a:srgbClr val="2B2F77"/>
            </a:solidFill>
            <a:prstDash val="solid"/>
          </a:ln>
        </p:spPr>
      </p:sp>
      <p:sp>
        <p:nvSpPr>
          <p:cNvPr id="3" name="Shape 1"/>
          <p:cNvSpPr/>
          <p:nvPr/>
        </p:nvSpPr>
        <p:spPr>
          <a:xfrm>
            <a:off x="0" y="4846320"/>
            <a:ext cx="3200400" cy="297180"/>
          </a:xfrm>
          <a:prstGeom prst="rect">
            <a:avLst/>
          </a:prstGeom>
          <a:solidFill>
            <a:srgbClr val="F5A623"/>
          </a:solidFill>
          <a:ln w="12700">
            <a:solidFill>
              <a:srgbClr val="F5A623"/>
            </a:solidFill>
            <a:prstDash val="solid"/>
          </a:ln>
        </p:spPr>
      </p:sp>
      <p:sp>
        <p:nvSpPr>
          <p:cNvPr id="4" name="Text 2"/>
          <p:cNvSpPr/>
          <p:nvPr/>
        </p:nvSpPr>
        <p:spPr>
          <a:xfrm>
            <a:off x="182880" y="1371600"/>
            <a:ext cx="2743200" cy="914400"/>
          </a:xfrm>
          <a:prstGeom prst="rect">
            <a:avLst/>
          </a:prstGeom>
          <a:noFill/>
          <a:ln/>
        </p:spPr>
        <p:txBody>
          <a:bodyPr wrap="square" lIns="0" tIns="0" rIns="0" bIns="0" rtlCol="0" anchor="ctr"/>
          <a:lstStyle/>
          <a:p>
            <a:pPr marL="0" indent="0" algn="ctr">
              <a:buNone/>
            </a:pPr>
            <a:r>
              <a:rPr lang="en-US" sz="6400" b="1" dirty="0">
                <a:solidFill>
                  <a:srgbClr val="F5A623"/>
                </a:solidFill>
                <a:latin typeface="Calibri" pitchFamily="34" charset="0"/>
                <a:ea typeface="Calibri" pitchFamily="34" charset="-122"/>
                <a:cs typeface="Calibri" pitchFamily="34" charset="-120"/>
              </a:rPr>
              <a:t>01</a:t>
            </a:r>
            <a:endParaRPr lang="en-US" sz="6400" dirty="0"/>
          </a:p>
        </p:txBody>
      </p:sp>
      <p:sp>
        <p:nvSpPr>
          <p:cNvPr id="5" name="Text 3"/>
          <p:cNvSpPr/>
          <p:nvPr/>
        </p:nvSpPr>
        <p:spPr>
          <a:xfrm>
            <a:off x="137160" y="2468880"/>
            <a:ext cx="2926080" cy="1645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Bài báo</a:t>
            </a:r>
            <a:endParaRPr lang="en-US" sz="2400" dirty="0"/>
          </a:p>
          <a:p>
            <a:pPr marL="0" indent="0" algn="ctr">
              <a:buNone/>
            </a:pPr>
            <a:r>
              <a:rPr lang="en-US" sz="2400" b="1" dirty="0">
                <a:solidFill>
                  <a:srgbClr val="FFFFFF"/>
                </a:solidFill>
                <a:latin typeface="Calibri" pitchFamily="34" charset="0"/>
                <a:ea typeface="Calibri" pitchFamily="34" charset="-122"/>
                <a:cs typeface="Calibri" pitchFamily="34" charset="-120"/>
              </a:rPr>
              <a:t>khoa học</a:t>
            </a:r>
            <a:endParaRPr lang="en-US" sz="2400" dirty="0"/>
          </a:p>
          <a:p>
            <a:pPr marL="0" indent="0" algn="ctr">
              <a:buNone/>
            </a:pPr>
            <a:r>
              <a:rPr lang="en-US" sz="2400" b="1" dirty="0">
                <a:solidFill>
                  <a:srgbClr val="FFFFFF"/>
                </a:solidFill>
                <a:latin typeface="Calibri" pitchFamily="34" charset="0"/>
                <a:ea typeface="Calibri" pitchFamily="34" charset="-122"/>
                <a:cs typeface="Calibri" pitchFamily="34" charset="-120"/>
              </a:rPr>
              <a:t>là gì?</a:t>
            </a:r>
            <a:endParaRPr lang="en-US" sz="2400" dirty="0"/>
          </a:p>
        </p:txBody>
      </p:sp>
      <p:sp>
        <p:nvSpPr>
          <p:cNvPr id="6" name="Text 4"/>
          <p:cNvSpPr/>
          <p:nvPr/>
        </p:nvSpPr>
        <p:spPr>
          <a:xfrm>
            <a:off x="3474720" y="2011680"/>
            <a:ext cx="5303520" cy="914400"/>
          </a:xfrm>
          <a:prstGeom prst="rect">
            <a:avLst/>
          </a:prstGeom>
          <a:noFill/>
          <a:ln/>
        </p:spPr>
        <p:txBody>
          <a:bodyPr wrap="square" lIns="0" tIns="0" rIns="0" bIns="0" rtlCol="0" anchor="ctr"/>
          <a:lstStyle/>
          <a:p>
            <a:pPr marL="0" indent="0" algn="l">
              <a:buNone/>
            </a:pPr>
            <a:r>
              <a:rPr lang="en-US" sz="2000" dirty="0">
                <a:solidFill>
                  <a:srgbClr val="2B2F77"/>
                </a:solidFill>
                <a:latin typeface="Calibri" pitchFamily="34" charset="0"/>
                <a:ea typeface="Calibri" pitchFamily="34" charset="-122"/>
                <a:cs typeface="Calibri" pitchFamily="34" charset="-120"/>
              </a:rPr>
              <a:t>Phân </a:t>
            </a:r>
            <a:r>
              <a:rPr lang="en-US" sz="2000" dirty="0" err="1">
                <a:solidFill>
                  <a:srgbClr val="2B2F77"/>
                </a:solidFill>
                <a:latin typeface="Calibri" pitchFamily="34" charset="0"/>
                <a:ea typeface="Calibri" pitchFamily="34" charset="-122"/>
                <a:cs typeface="Calibri" pitchFamily="34" charset="-120"/>
              </a:rPr>
              <a:t>biệt</a:t>
            </a:r>
            <a:r>
              <a:rPr lang="en-US" sz="2000" dirty="0">
                <a:solidFill>
                  <a:srgbClr val="2B2F77"/>
                </a:solidFill>
                <a:latin typeface="Calibri" pitchFamily="34" charset="0"/>
                <a:ea typeface="Calibri" pitchFamily="34" charset="-122"/>
                <a:cs typeface="Calibri" pitchFamily="34" charset="-120"/>
              </a:rPr>
              <a:t> </a:t>
            </a:r>
            <a:r>
              <a:rPr lang="en-US" sz="2000" dirty="0" err="1">
                <a:solidFill>
                  <a:srgbClr val="2B2F77"/>
                </a:solidFill>
                <a:latin typeface="Calibri" pitchFamily="34" charset="0"/>
                <a:ea typeface="Calibri" pitchFamily="34" charset="-122"/>
                <a:cs typeface="Calibri" pitchFamily="34" charset="-120"/>
              </a:rPr>
              <a:t>Bài</a:t>
            </a:r>
            <a:r>
              <a:rPr lang="en-US" sz="2000" dirty="0">
                <a:solidFill>
                  <a:srgbClr val="2B2F77"/>
                </a:solidFill>
                <a:latin typeface="Calibri" pitchFamily="34" charset="0"/>
                <a:ea typeface="Calibri" pitchFamily="34" charset="-122"/>
                <a:cs typeface="Calibri" pitchFamily="34" charset="-120"/>
              </a:rPr>
              <a:t> </a:t>
            </a:r>
            <a:r>
              <a:rPr lang="en-US" sz="2000" dirty="0" err="1">
                <a:solidFill>
                  <a:srgbClr val="2B2F77"/>
                </a:solidFill>
                <a:latin typeface="Calibri" pitchFamily="34" charset="0"/>
                <a:ea typeface="Calibri" pitchFamily="34" charset="-122"/>
                <a:cs typeface="Calibri" pitchFamily="34" charset="-120"/>
              </a:rPr>
              <a:t>báo</a:t>
            </a:r>
            <a:r>
              <a:rPr lang="en-US" sz="2000" dirty="0">
                <a:solidFill>
                  <a:srgbClr val="2B2F77"/>
                </a:solidFill>
                <a:latin typeface="Calibri" pitchFamily="34" charset="0"/>
                <a:ea typeface="Calibri" pitchFamily="34" charset="-122"/>
                <a:cs typeface="Calibri" pitchFamily="34" charset="-120"/>
              </a:rPr>
              <a:t> khoa </a:t>
            </a:r>
            <a:r>
              <a:rPr lang="en-US" sz="2000" dirty="0" err="1">
                <a:solidFill>
                  <a:srgbClr val="2B2F77"/>
                </a:solidFill>
                <a:latin typeface="Calibri" pitchFamily="34" charset="0"/>
                <a:ea typeface="Calibri" pitchFamily="34" charset="-122"/>
                <a:cs typeface="Calibri" pitchFamily="34" charset="-120"/>
              </a:rPr>
              <a:t>học</a:t>
            </a:r>
            <a:r>
              <a:rPr lang="en-US" sz="2000" dirty="0">
                <a:solidFill>
                  <a:srgbClr val="2B2F77"/>
                </a:solidFill>
                <a:latin typeface="Calibri" pitchFamily="34" charset="0"/>
                <a:ea typeface="Calibri" pitchFamily="34" charset="-122"/>
                <a:cs typeface="Calibri" pitchFamily="34" charset="-120"/>
              </a:rPr>
              <a:t> </a:t>
            </a:r>
            <a:r>
              <a:rPr lang="en-US" sz="2000" dirty="0" err="1">
                <a:solidFill>
                  <a:srgbClr val="2B2F77"/>
                </a:solidFill>
                <a:latin typeface="Calibri" pitchFamily="34" charset="0"/>
                <a:ea typeface="Calibri" pitchFamily="34" charset="-122"/>
                <a:cs typeface="Calibri" pitchFamily="34" charset="-120"/>
              </a:rPr>
              <a:t>với</a:t>
            </a:r>
            <a:r>
              <a:rPr lang="en-US" sz="2000" dirty="0">
                <a:solidFill>
                  <a:srgbClr val="2B2F77"/>
                </a:solidFill>
                <a:latin typeface="Calibri" pitchFamily="34" charset="0"/>
                <a:ea typeface="Calibri" pitchFamily="34" charset="-122"/>
                <a:cs typeface="Calibri" pitchFamily="34" charset="-120"/>
              </a:rPr>
              <a:t> báo cáo NCKH</a:t>
            </a:r>
            <a:endParaRPr lang="en-US" sz="2000" dirty="0"/>
          </a:p>
        </p:txBody>
      </p:sp>
      <p:sp>
        <p:nvSpPr>
          <p:cNvPr id="7" name="Text 5"/>
          <p:cNvSpPr/>
          <p:nvPr/>
        </p:nvSpPr>
        <p:spPr>
          <a:xfrm>
            <a:off x="3474720" y="4846320"/>
            <a:ext cx="5303520" cy="228600"/>
          </a:xfrm>
          <a:prstGeom prst="rect">
            <a:avLst/>
          </a:prstGeom>
          <a:noFill/>
          <a:ln/>
        </p:spPr>
        <p:txBody>
          <a:bodyPr wrap="square" lIns="0" tIns="0" rIns="0" bIns="0" rtlCol="0" anchor="ctr"/>
          <a:lstStyle/>
          <a:p>
            <a:pPr marL="0" indent="0" algn="r">
              <a:buNone/>
            </a:pPr>
            <a:r>
              <a:rPr lang="en-US" sz="1100" dirty="0">
                <a:solidFill>
                  <a:srgbClr val="CCCCCC"/>
                </a:solidFill>
                <a:latin typeface="Calibri" pitchFamily="34" charset="0"/>
                <a:ea typeface="Calibri" pitchFamily="34" charset="-122"/>
                <a:cs typeface="Calibri" pitchFamily="34" charset="-120"/>
              </a:rPr>
              <a:t>jstt.vn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Bài báo khoa </a:t>
            </a:r>
            <a:r>
              <a:rPr lang="en-US" sz="2600" b="1" dirty="0" err="1">
                <a:solidFill>
                  <a:srgbClr val="FFFFFF"/>
                </a:solidFill>
                <a:latin typeface="Calibri" pitchFamily="34" charset="0"/>
                <a:ea typeface="Calibri" pitchFamily="34" charset="-122"/>
                <a:cs typeface="Calibri" pitchFamily="34" charset="-120"/>
              </a:rPr>
              <a:t>học</a:t>
            </a:r>
            <a:endParaRPr lang="en-US" sz="2600" dirty="0"/>
          </a:p>
        </p:txBody>
      </p:sp>
      <p:sp>
        <p:nvSpPr>
          <p:cNvPr id="10" name="Shape 8"/>
          <p:cNvSpPr/>
          <p:nvPr/>
        </p:nvSpPr>
        <p:spPr>
          <a:xfrm>
            <a:off x="274320" y="1572768"/>
            <a:ext cx="4023360" cy="457200"/>
          </a:xfrm>
          <a:prstGeom prst="rect">
            <a:avLst/>
          </a:prstGeom>
          <a:solidFill>
            <a:srgbClr val="2B2F77"/>
          </a:solidFill>
          <a:ln w="12700">
            <a:solidFill>
              <a:srgbClr val="2B2F77"/>
            </a:solidFill>
            <a:prstDash val="solid"/>
          </a:ln>
        </p:spPr>
      </p:sp>
      <p:sp>
        <p:nvSpPr>
          <p:cNvPr id="11" name="Text 9"/>
          <p:cNvSpPr/>
          <p:nvPr/>
        </p:nvSpPr>
        <p:spPr>
          <a:xfrm>
            <a:off x="274320" y="1572768"/>
            <a:ext cx="402336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  Bài báo KH LÀ...</a:t>
            </a:r>
            <a:endParaRPr lang="en-US" sz="1900" dirty="0"/>
          </a:p>
        </p:txBody>
      </p:sp>
      <p:sp>
        <p:nvSpPr>
          <p:cNvPr id="12" name="Shape 10"/>
          <p:cNvSpPr/>
          <p:nvPr/>
        </p:nvSpPr>
        <p:spPr>
          <a:xfrm>
            <a:off x="274320" y="2103120"/>
            <a:ext cx="4023360" cy="566928"/>
          </a:xfrm>
          <a:prstGeom prst="rect">
            <a:avLst/>
          </a:prstGeom>
          <a:solidFill>
            <a:srgbClr val="EDF4FF"/>
          </a:solidFill>
          <a:ln w="6350">
            <a:solidFill>
              <a:srgbClr val="CCCCCC"/>
            </a:solidFill>
            <a:prstDash val="solid"/>
          </a:ln>
        </p:spPr>
      </p:sp>
      <p:sp>
        <p:nvSpPr>
          <p:cNvPr id="13" name="Shape 11"/>
          <p:cNvSpPr/>
          <p:nvPr/>
        </p:nvSpPr>
        <p:spPr>
          <a:xfrm>
            <a:off x="274320" y="2103120"/>
            <a:ext cx="73152" cy="566928"/>
          </a:xfrm>
          <a:prstGeom prst="rect">
            <a:avLst/>
          </a:prstGeom>
          <a:solidFill>
            <a:srgbClr val="2B2F77"/>
          </a:solidFill>
          <a:ln w="12700">
            <a:solidFill>
              <a:srgbClr val="2B2F77"/>
            </a:solidFill>
            <a:prstDash val="solid"/>
          </a:ln>
        </p:spPr>
      </p:sp>
      <p:sp>
        <p:nvSpPr>
          <p:cNvPr id="14" name="Text 12"/>
          <p:cNvSpPr/>
          <p:nvPr/>
        </p:nvSpPr>
        <p:spPr>
          <a:xfrm>
            <a:off x="438912" y="2157984"/>
            <a:ext cx="3749040" cy="45720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Tóm lược 1 đóng góp tri thức MỚI</a:t>
            </a:r>
            <a:endParaRPr lang="en-US" sz="1700" dirty="0"/>
          </a:p>
        </p:txBody>
      </p:sp>
      <p:sp>
        <p:nvSpPr>
          <p:cNvPr id="15" name="Shape 13"/>
          <p:cNvSpPr/>
          <p:nvPr/>
        </p:nvSpPr>
        <p:spPr>
          <a:xfrm>
            <a:off x="274320" y="2734056"/>
            <a:ext cx="4023360" cy="566928"/>
          </a:xfrm>
          <a:prstGeom prst="rect">
            <a:avLst/>
          </a:prstGeom>
          <a:solidFill>
            <a:srgbClr val="FFFFFF"/>
          </a:solidFill>
          <a:ln w="6350">
            <a:solidFill>
              <a:srgbClr val="CCCCCC"/>
            </a:solidFill>
            <a:prstDash val="solid"/>
          </a:ln>
        </p:spPr>
      </p:sp>
      <p:sp>
        <p:nvSpPr>
          <p:cNvPr id="16" name="Shape 14"/>
          <p:cNvSpPr/>
          <p:nvPr/>
        </p:nvSpPr>
        <p:spPr>
          <a:xfrm>
            <a:off x="274320" y="2734056"/>
            <a:ext cx="73152" cy="566928"/>
          </a:xfrm>
          <a:prstGeom prst="rect">
            <a:avLst/>
          </a:prstGeom>
          <a:solidFill>
            <a:srgbClr val="2B2F77"/>
          </a:solidFill>
          <a:ln w="12700">
            <a:solidFill>
              <a:srgbClr val="2B2F77"/>
            </a:solidFill>
            <a:prstDash val="solid"/>
          </a:ln>
        </p:spPr>
      </p:sp>
      <p:sp>
        <p:nvSpPr>
          <p:cNvPr id="17" name="Text 15"/>
          <p:cNvSpPr/>
          <p:nvPr/>
        </p:nvSpPr>
        <p:spPr>
          <a:xfrm>
            <a:off x="438912" y="2788920"/>
            <a:ext cx="3749040" cy="45720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Có phương pháp nghiên cứu rõ ràng</a:t>
            </a:r>
            <a:endParaRPr lang="en-US" sz="1700" dirty="0"/>
          </a:p>
        </p:txBody>
      </p:sp>
      <p:sp>
        <p:nvSpPr>
          <p:cNvPr id="18" name="Shape 16"/>
          <p:cNvSpPr/>
          <p:nvPr/>
        </p:nvSpPr>
        <p:spPr>
          <a:xfrm>
            <a:off x="274320" y="3364992"/>
            <a:ext cx="4023360" cy="566928"/>
          </a:xfrm>
          <a:prstGeom prst="rect">
            <a:avLst/>
          </a:prstGeom>
          <a:solidFill>
            <a:srgbClr val="EDF4FF"/>
          </a:solidFill>
          <a:ln w="6350">
            <a:solidFill>
              <a:srgbClr val="CCCCCC"/>
            </a:solidFill>
            <a:prstDash val="solid"/>
          </a:ln>
        </p:spPr>
      </p:sp>
      <p:sp>
        <p:nvSpPr>
          <p:cNvPr id="19" name="Shape 17"/>
          <p:cNvSpPr/>
          <p:nvPr/>
        </p:nvSpPr>
        <p:spPr>
          <a:xfrm>
            <a:off x="274320" y="3364992"/>
            <a:ext cx="73152" cy="566928"/>
          </a:xfrm>
          <a:prstGeom prst="rect">
            <a:avLst/>
          </a:prstGeom>
          <a:solidFill>
            <a:srgbClr val="2B2F77"/>
          </a:solidFill>
          <a:ln w="12700">
            <a:solidFill>
              <a:srgbClr val="2B2F77"/>
            </a:solidFill>
            <a:prstDash val="solid"/>
          </a:ln>
        </p:spPr>
      </p:sp>
      <p:sp>
        <p:nvSpPr>
          <p:cNvPr id="20" name="Text 18"/>
          <p:cNvSpPr/>
          <p:nvPr/>
        </p:nvSpPr>
        <p:spPr>
          <a:xfrm>
            <a:off x="438912" y="3419856"/>
            <a:ext cx="3749040" cy="45720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Được phản biện kín bởi chuyên gia</a:t>
            </a:r>
            <a:endParaRPr lang="en-US" sz="1700" dirty="0"/>
          </a:p>
          <a:p>
            <a:pPr marL="0" indent="0">
              <a:buNone/>
            </a:pPr>
            <a:r>
              <a:rPr lang="en-US" sz="1700" dirty="0">
                <a:solidFill>
                  <a:srgbClr val="2B2F77"/>
                </a:solidFill>
                <a:latin typeface="Calibri" pitchFamily="34" charset="0"/>
                <a:ea typeface="Calibri" pitchFamily="34" charset="-122"/>
                <a:cs typeface="Calibri" pitchFamily="34" charset="-120"/>
              </a:rPr>
              <a:t>(peer review)</a:t>
            </a:r>
            <a:endParaRPr lang="en-US" sz="1700" dirty="0"/>
          </a:p>
        </p:txBody>
      </p:sp>
      <p:sp>
        <p:nvSpPr>
          <p:cNvPr id="21" name="Shape 19"/>
          <p:cNvSpPr/>
          <p:nvPr/>
        </p:nvSpPr>
        <p:spPr>
          <a:xfrm>
            <a:off x="274320" y="3995928"/>
            <a:ext cx="4023360" cy="566928"/>
          </a:xfrm>
          <a:prstGeom prst="rect">
            <a:avLst/>
          </a:prstGeom>
          <a:solidFill>
            <a:srgbClr val="FFFFFF"/>
          </a:solidFill>
          <a:ln w="6350">
            <a:solidFill>
              <a:srgbClr val="CCCCCC"/>
            </a:solidFill>
            <a:prstDash val="solid"/>
          </a:ln>
        </p:spPr>
      </p:sp>
      <p:sp>
        <p:nvSpPr>
          <p:cNvPr id="22" name="Shape 20"/>
          <p:cNvSpPr/>
          <p:nvPr/>
        </p:nvSpPr>
        <p:spPr>
          <a:xfrm>
            <a:off x="274320" y="3995928"/>
            <a:ext cx="73152" cy="566928"/>
          </a:xfrm>
          <a:prstGeom prst="rect">
            <a:avLst/>
          </a:prstGeom>
          <a:solidFill>
            <a:srgbClr val="2B2F77"/>
          </a:solidFill>
          <a:ln w="12700">
            <a:solidFill>
              <a:srgbClr val="2B2F77"/>
            </a:solidFill>
            <a:prstDash val="solid"/>
          </a:ln>
        </p:spPr>
      </p:sp>
      <p:sp>
        <p:nvSpPr>
          <p:cNvPr id="23" name="Text 21"/>
          <p:cNvSpPr/>
          <p:nvPr/>
        </p:nvSpPr>
        <p:spPr>
          <a:xfrm>
            <a:off x="438912" y="4050792"/>
            <a:ext cx="3749040" cy="45720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Đăng trên tạp chí / kỷ yếu hội thảo</a:t>
            </a:r>
            <a:endParaRPr lang="en-US" sz="1700" dirty="0"/>
          </a:p>
        </p:txBody>
      </p:sp>
      <p:sp>
        <p:nvSpPr>
          <p:cNvPr id="24" name="Shape 22"/>
          <p:cNvSpPr/>
          <p:nvPr/>
        </p:nvSpPr>
        <p:spPr>
          <a:xfrm>
            <a:off x="4846320" y="1572768"/>
            <a:ext cx="4023360" cy="457200"/>
          </a:xfrm>
          <a:prstGeom prst="rect">
            <a:avLst/>
          </a:prstGeom>
          <a:solidFill>
            <a:srgbClr val="C0392B"/>
          </a:solidFill>
          <a:ln w="12700">
            <a:solidFill>
              <a:srgbClr val="C0392B"/>
            </a:solidFill>
            <a:prstDash val="solid"/>
          </a:ln>
        </p:spPr>
      </p:sp>
      <p:sp>
        <p:nvSpPr>
          <p:cNvPr id="25" name="Text 23"/>
          <p:cNvSpPr/>
          <p:nvPr/>
        </p:nvSpPr>
        <p:spPr>
          <a:xfrm>
            <a:off x="4846320" y="1572768"/>
            <a:ext cx="402336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  Bài báo KH KHÔNG phải...</a:t>
            </a:r>
            <a:endParaRPr lang="en-US" sz="1900" dirty="0"/>
          </a:p>
        </p:txBody>
      </p:sp>
      <p:sp>
        <p:nvSpPr>
          <p:cNvPr id="26" name="Shape 24"/>
          <p:cNvSpPr/>
          <p:nvPr/>
        </p:nvSpPr>
        <p:spPr>
          <a:xfrm>
            <a:off x="4846320" y="2103120"/>
            <a:ext cx="4023360" cy="566928"/>
          </a:xfrm>
          <a:prstGeom prst="rect">
            <a:avLst/>
          </a:prstGeom>
          <a:solidFill>
            <a:srgbClr val="FFF0EE"/>
          </a:solidFill>
          <a:ln w="6350">
            <a:solidFill>
              <a:srgbClr val="CCCCCC"/>
            </a:solidFill>
            <a:prstDash val="solid"/>
          </a:ln>
        </p:spPr>
      </p:sp>
      <p:sp>
        <p:nvSpPr>
          <p:cNvPr id="27" name="Shape 25"/>
          <p:cNvSpPr/>
          <p:nvPr/>
        </p:nvSpPr>
        <p:spPr>
          <a:xfrm>
            <a:off x="4846320" y="2103120"/>
            <a:ext cx="73152" cy="566928"/>
          </a:xfrm>
          <a:prstGeom prst="rect">
            <a:avLst/>
          </a:prstGeom>
          <a:solidFill>
            <a:srgbClr val="C0392B"/>
          </a:solidFill>
          <a:ln w="12700">
            <a:solidFill>
              <a:srgbClr val="C0392B"/>
            </a:solidFill>
            <a:prstDash val="solid"/>
          </a:ln>
        </p:spPr>
      </p:sp>
      <p:sp>
        <p:nvSpPr>
          <p:cNvPr id="28" name="Text 26"/>
          <p:cNvSpPr/>
          <p:nvPr/>
        </p:nvSpPr>
        <p:spPr>
          <a:xfrm>
            <a:off x="5010912" y="2212848"/>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Bản tóm tắt nội dung sách</a:t>
            </a:r>
            <a:endParaRPr lang="en-US" sz="1700" dirty="0"/>
          </a:p>
        </p:txBody>
      </p:sp>
      <p:sp>
        <p:nvSpPr>
          <p:cNvPr id="29" name="Shape 27"/>
          <p:cNvSpPr/>
          <p:nvPr/>
        </p:nvSpPr>
        <p:spPr>
          <a:xfrm>
            <a:off x="4846320" y="2734056"/>
            <a:ext cx="4023360" cy="566928"/>
          </a:xfrm>
          <a:prstGeom prst="rect">
            <a:avLst/>
          </a:prstGeom>
          <a:solidFill>
            <a:srgbClr val="FFFFFF"/>
          </a:solidFill>
          <a:ln w="6350">
            <a:solidFill>
              <a:srgbClr val="CCCCCC"/>
            </a:solidFill>
            <a:prstDash val="solid"/>
          </a:ln>
        </p:spPr>
      </p:sp>
      <p:sp>
        <p:nvSpPr>
          <p:cNvPr id="30" name="Shape 28"/>
          <p:cNvSpPr/>
          <p:nvPr/>
        </p:nvSpPr>
        <p:spPr>
          <a:xfrm>
            <a:off x="4846320" y="2734056"/>
            <a:ext cx="73152" cy="566928"/>
          </a:xfrm>
          <a:prstGeom prst="rect">
            <a:avLst/>
          </a:prstGeom>
          <a:solidFill>
            <a:srgbClr val="C0392B"/>
          </a:solidFill>
          <a:ln w="12700">
            <a:solidFill>
              <a:srgbClr val="C0392B"/>
            </a:solidFill>
            <a:prstDash val="solid"/>
          </a:ln>
        </p:spPr>
      </p:sp>
      <p:sp>
        <p:nvSpPr>
          <p:cNvPr id="31" name="Text 29"/>
          <p:cNvSpPr/>
          <p:nvPr/>
        </p:nvSpPr>
        <p:spPr>
          <a:xfrm>
            <a:off x="5010912" y="2843784"/>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Bài viết cảm nhận / báo chí</a:t>
            </a:r>
            <a:endParaRPr lang="en-US" sz="1700" dirty="0"/>
          </a:p>
        </p:txBody>
      </p:sp>
      <p:sp>
        <p:nvSpPr>
          <p:cNvPr id="32" name="Shape 30"/>
          <p:cNvSpPr/>
          <p:nvPr/>
        </p:nvSpPr>
        <p:spPr>
          <a:xfrm>
            <a:off x="4846320" y="3364992"/>
            <a:ext cx="4023360" cy="566928"/>
          </a:xfrm>
          <a:prstGeom prst="rect">
            <a:avLst/>
          </a:prstGeom>
          <a:solidFill>
            <a:srgbClr val="FFF0EE"/>
          </a:solidFill>
          <a:ln w="6350">
            <a:solidFill>
              <a:srgbClr val="CCCCCC"/>
            </a:solidFill>
            <a:prstDash val="solid"/>
          </a:ln>
        </p:spPr>
      </p:sp>
      <p:sp>
        <p:nvSpPr>
          <p:cNvPr id="33" name="Shape 31"/>
          <p:cNvSpPr/>
          <p:nvPr/>
        </p:nvSpPr>
        <p:spPr>
          <a:xfrm>
            <a:off x="4846320" y="3364992"/>
            <a:ext cx="73152" cy="566928"/>
          </a:xfrm>
          <a:prstGeom prst="rect">
            <a:avLst/>
          </a:prstGeom>
          <a:solidFill>
            <a:srgbClr val="C0392B"/>
          </a:solidFill>
          <a:ln w="12700">
            <a:solidFill>
              <a:srgbClr val="C0392B"/>
            </a:solidFill>
            <a:prstDash val="solid"/>
          </a:ln>
        </p:spPr>
      </p:sp>
      <p:sp>
        <p:nvSpPr>
          <p:cNvPr id="34" name="Text 32"/>
          <p:cNvSpPr/>
          <p:nvPr/>
        </p:nvSpPr>
        <p:spPr>
          <a:xfrm>
            <a:off x="5010912" y="3474720"/>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Báo cáo đề tài sinh viên</a:t>
            </a:r>
            <a:endParaRPr lang="en-US" sz="1700" dirty="0"/>
          </a:p>
        </p:txBody>
      </p:sp>
      <p:sp>
        <p:nvSpPr>
          <p:cNvPr id="35" name="Shape 33"/>
          <p:cNvSpPr/>
          <p:nvPr/>
        </p:nvSpPr>
        <p:spPr>
          <a:xfrm>
            <a:off x="4846320" y="3995928"/>
            <a:ext cx="4023360" cy="566928"/>
          </a:xfrm>
          <a:prstGeom prst="rect">
            <a:avLst/>
          </a:prstGeom>
          <a:solidFill>
            <a:srgbClr val="FFFFFF"/>
          </a:solidFill>
          <a:ln w="6350">
            <a:solidFill>
              <a:srgbClr val="CCCCCC"/>
            </a:solidFill>
            <a:prstDash val="solid"/>
          </a:ln>
        </p:spPr>
      </p:sp>
      <p:sp>
        <p:nvSpPr>
          <p:cNvPr id="36" name="Shape 34"/>
          <p:cNvSpPr/>
          <p:nvPr/>
        </p:nvSpPr>
        <p:spPr>
          <a:xfrm>
            <a:off x="4846320" y="3995928"/>
            <a:ext cx="73152" cy="566928"/>
          </a:xfrm>
          <a:prstGeom prst="rect">
            <a:avLst/>
          </a:prstGeom>
          <a:solidFill>
            <a:srgbClr val="C0392B"/>
          </a:solidFill>
          <a:ln w="12700">
            <a:solidFill>
              <a:srgbClr val="C0392B"/>
            </a:solidFill>
            <a:prstDash val="solid"/>
          </a:ln>
        </p:spPr>
      </p:sp>
      <p:sp>
        <p:nvSpPr>
          <p:cNvPr id="37" name="Text 35"/>
          <p:cNvSpPr/>
          <p:nvPr/>
        </p:nvSpPr>
        <p:spPr>
          <a:xfrm>
            <a:off x="5010912" y="4105656"/>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Tiểu luận học phần</a:t>
            </a:r>
            <a:endParaRPr lang="en-US" sz="1700" dirty="0"/>
          </a:p>
        </p:txBody>
      </p:sp>
      <p:sp>
        <p:nvSpPr>
          <p:cNvPr id="39" name="Shape 37"/>
          <p:cNvSpPr/>
          <p:nvPr/>
        </p:nvSpPr>
        <p:spPr>
          <a:xfrm>
            <a:off x="274320" y="4572000"/>
            <a:ext cx="109728" cy="320040"/>
          </a:xfrm>
          <a:prstGeom prst="rect">
            <a:avLst/>
          </a:prstGeom>
          <a:solidFill>
            <a:srgbClr val="F5A623"/>
          </a:solidFill>
          <a:ln w="12700">
            <a:solidFill>
              <a:srgbClr val="F5A623"/>
            </a:solidFill>
            <a:prstDash val="solid"/>
          </a:ln>
        </p:spPr>
      </p:sp>
      <p:sp>
        <p:nvSpPr>
          <p:cNvPr id="41" name="Shape 39"/>
          <p:cNvSpPr/>
          <p:nvPr/>
        </p:nvSpPr>
        <p:spPr>
          <a:xfrm>
            <a:off x="2011680" y="4846320"/>
            <a:ext cx="7040880" cy="36576"/>
          </a:xfrm>
          <a:prstGeom prst="rect">
            <a:avLst/>
          </a:prstGeom>
          <a:solidFill>
            <a:srgbClr val="F5A623"/>
          </a:solidFill>
          <a:ln w="12700">
            <a:solidFill>
              <a:srgbClr val="F5A623"/>
            </a:solidFill>
            <a:prstDash val="solid"/>
          </a:ln>
        </p:spPr>
      </p:sp>
      <p:pic>
        <p:nvPicPr>
          <p:cNvPr id="42"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43" name="Text 40"/>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44" name="Text 41"/>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Từ Đề tài NCKH đến </a:t>
            </a:r>
            <a:r>
              <a:rPr lang="en-US" sz="2600" b="1" dirty="0" err="1">
                <a:solidFill>
                  <a:srgbClr val="FFFFFF"/>
                </a:solidFill>
                <a:latin typeface="Calibri" pitchFamily="34" charset="0"/>
                <a:ea typeface="Calibri" pitchFamily="34" charset="-122"/>
                <a:cs typeface="Calibri" pitchFamily="34" charset="-120"/>
              </a:rPr>
              <a:t>Bài</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báo</a:t>
            </a:r>
            <a:endParaRPr lang="en-US" sz="2600" dirty="0"/>
          </a:p>
        </p:txBody>
      </p:sp>
      <p:sp>
        <p:nvSpPr>
          <p:cNvPr id="10" name="Shape 8"/>
          <p:cNvSpPr/>
          <p:nvPr/>
        </p:nvSpPr>
        <p:spPr>
          <a:xfrm>
            <a:off x="274320" y="1572768"/>
            <a:ext cx="1828800" cy="457200"/>
          </a:xfrm>
          <a:prstGeom prst="rect">
            <a:avLst/>
          </a:prstGeom>
          <a:solidFill>
            <a:srgbClr val="555555"/>
          </a:solidFill>
          <a:ln w="12700">
            <a:solidFill>
              <a:srgbClr val="555555"/>
            </a:solidFill>
            <a:prstDash val="solid"/>
          </a:ln>
        </p:spPr>
      </p:sp>
      <p:sp>
        <p:nvSpPr>
          <p:cNvPr id="11" name="Text 9"/>
          <p:cNvSpPr/>
          <p:nvPr/>
        </p:nvSpPr>
        <p:spPr>
          <a:xfrm>
            <a:off x="347472" y="1572768"/>
            <a:ext cx="1682496"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Tiêu chí</a:t>
            </a:r>
            <a:endParaRPr lang="en-US" sz="1800" dirty="0"/>
          </a:p>
        </p:txBody>
      </p:sp>
      <p:sp>
        <p:nvSpPr>
          <p:cNvPr id="12" name="Shape 10"/>
          <p:cNvSpPr/>
          <p:nvPr/>
        </p:nvSpPr>
        <p:spPr>
          <a:xfrm>
            <a:off x="2148840" y="1572768"/>
            <a:ext cx="3383280" cy="457200"/>
          </a:xfrm>
          <a:prstGeom prst="rect">
            <a:avLst/>
          </a:prstGeom>
          <a:solidFill>
            <a:srgbClr val="2B2F77"/>
          </a:solidFill>
          <a:ln w="12700">
            <a:solidFill>
              <a:srgbClr val="2B2F77"/>
            </a:solidFill>
            <a:prstDash val="solid"/>
          </a:ln>
        </p:spPr>
      </p:sp>
      <p:sp>
        <p:nvSpPr>
          <p:cNvPr id="13" name="Text 11"/>
          <p:cNvSpPr/>
          <p:nvPr/>
        </p:nvSpPr>
        <p:spPr>
          <a:xfrm>
            <a:off x="2221992" y="1572768"/>
            <a:ext cx="3236976"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Đề tài NCKH sinh viên</a:t>
            </a:r>
            <a:endParaRPr lang="en-US" sz="1800" dirty="0"/>
          </a:p>
        </p:txBody>
      </p:sp>
      <p:sp>
        <p:nvSpPr>
          <p:cNvPr id="14" name="Shape 12"/>
          <p:cNvSpPr/>
          <p:nvPr/>
        </p:nvSpPr>
        <p:spPr>
          <a:xfrm>
            <a:off x="5577840" y="1572768"/>
            <a:ext cx="3383280" cy="457200"/>
          </a:xfrm>
          <a:prstGeom prst="rect">
            <a:avLst/>
          </a:prstGeom>
          <a:solidFill>
            <a:srgbClr val="F5A623"/>
          </a:solidFill>
          <a:ln w="12700">
            <a:solidFill>
              <a:srgbClr val="F5A623"/>
            </a:solidFill>
            <a:prstDash val="solid"/>
          </a:ln>
        </p:spPr>
      </p:sp>
      <p:sp>
        <p:nvSpPr>
          <p:cNvPr id="15" name="Text 13"/>
          <p:cNvSpPr/>
          <p:nvPr/>
        </p:nvSpPr>
        <p:spPr>
          <a:xfrm>
            <a:off x="5650992" y="1572768"/>
            <a:ext cx="3236976"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Bài báo khoa học</a:t>
            </a:r>
            <a:endParaRPr lang="en-US" sz="1800" dirty="0"/>
          </a:p>
        </p:txBody>
      </p:sp>
      <p:sp>
        <p:nvSpPr>
          <p:cNvPr id="16" name="Shape 14"/>
          <p:cNvSpPr/>
          <p:nvPr/>
        </p:nvSpPr>
        <p:spPr>
          <a:xfrm>
            <a:off x="274320" y="2084832"/>
            <a:ext cx="1828800" cy="475488"/>
          </a:xfrm>
          <a:prstGeom prst="rect">
            <a:avLst/>
          </a:prstGeom>
          <a:solidFill>
            <a:srgbClr val="F8FBFF"/>
          </a:solidFill>
          <a:ln w="6350">
            <a:solidFill>
              <a:srgbClr val="CCCCCC"/>
            </a:solidFill>
            <a:prstDash val="solid"/>
          </a:ln>
        </p:spPr>
      </p:sp>
      <p:sp>
        <p:nvSpPr>
          <p:cNvPr id="17" name="Text 15"/>
          <p:cNvSpPr/>
          <p:nvPr/>
        </p:nvSpPr>
        <p:spPr>
          <a:xfrm>
            <a:off x="365760" y="2130552"/>
            <a:ext cx="1645920" cy="384048"/>
          </a:xfrm>
          <a:prstGeom prst="rect">
            <a:avLst/>
          </a:prstGeom>
          <a:noFill/>
          <a:ln/>
        </p:spPr>
        <p:txBody>
          <a:bodyPr wrap="square" lIns="0" tIns="0" rIns="0" bIns="0" rtlCol="0" anchor="ctr"/>
          <a:lstStyle/>
          <a:p>
            <a:pPr marL="0" indent="0">
              <a:buNone/>
            </a:pPr>
            <a:r>
              <a:rPr lang="en-US" sz="1700" b="1" dirty="0">
                <a:solidFill>
                  <a:srgbClr val="2B2F77"/>
                </a:solidFill>
                <a:latin typeface="Calibri" pitchFamily="34" charset="0"/>
                <a:ea typeface="Calibri" pitchFamily="34" charset="-122"/>
                <a:cs typeface="Calibri" pitchFamily="34" charset="-120"/>
              </a:rPr>
              <a:t>Mục đích</a:t>
            </a:r>
            <a:endParaRPr lang="en-US" sz="1700" dirty="0"/>
          </a:p>
        </p:txBody>
      </p:sp>
      <p:sp>
        <p:nvSpPr>
          <p:cNvPr id="18" name="Shape 16"/>
          <p:cNvSpPr/>
          <p:nvPr/>
        </p:nvSpPr>
        <p:spPr>
          <a:xfrm>
            <a:off x="2148840" y="2084832"/>
            <a:ext cx="3383280" cy="475488"/>
          </a:xfrm>
          <a:prstGeom prst="rect">
            <a:avLst/>
          </a:prstGeom>
          <a:solidFill>
            <a:srgbClr val="F8FBFF"/>
          </a:solidFill>
          <a:ln w="6350">
            <a:solidFill>
              <a:srgbClr val="CCCCCC"/>
            </a:solidFill>
            <a:prstDash val="solid"/>
          </a:ln>
        </p:spPr>
      </p:sp>
      <p:sp>
        <p:nvSpPr>
          <p:cNvPr id="19" name="Text 17"/>
          <p:cNvSpPr/>
          <p:nvPr/>
        </p:nvSpPr>
        <p:spPr>
          <a:xfrm>
            <a:off x="2240280" y="2130552"/>
            <a:ext cx="3200400" cy="384048"/>
          </a:xfrm>
          <a:prstGeom prst="rect">
            <a:avLst/>
          </a:prstGeom>
          <a:noFill/>
          <a:ln/>
        </p:spPr>
        <p:txBody>
          <a:bodyPr wrap="square" lIns="0" tIns="0" rIns="0" bIns="0" rtlCol="0" anchor="ctr"/>
          <a:lstStyle/>
          <a:p>
            <a:pPr marL="0" indent="0">
              <a:buNone/>
            </a:pPr>
            <a:r>
              <a:rPr lang="en-US" sz="1700" dirty="0">
                <a:solidFill>
                  <a:srgbClr val="555555"/>
                </a:solidFill>
                <a:latin typeface="Calibri" pitchFamily="34" charset="0"/>
                <a:ea typeface="Calibri" pitchFamily="34" charset="-122"/>
                <a:cs typeface="Calibri" pitchFamily="34" charset="-120"/>
              </a:rPr>
              <a:t>Học tập, rèn luyện NCKH</a:t>
            </a:r>
            <a:endParaRPr lang="en-US" sz="1700" dirty="0"/>
          </a:p>
        </p:txBody>
      </p:sp>
      <p:sp>
        <p:nvSpPr>
          <p:cNvPr id="20" name="Shape 18"/>
          <p:cNvSpPr/>
          <p:nvPr/>
        </p:nvSpPr>
        <p:spPr>
          <a:xfrm>
            <a:off x="5577840" y="2084832"/>
            <a:ext cx="3383280" cy="475488"/>
          </a:xfrm>
          <a:prstGeom prst="rect">
            <a:avLst/>
          </a:prstGeom>
          <a:solidFill>
            <a:srgbClr val="F8FBFF"/>
          </a:solidFill>
          <a:ln w="6350">
            <a:solidFill>
              <a:srgbClr val="CCCCCC"/>
            </a:solidFill>
            <a:prstDash val="solid"/>
          </a:ln>
        </p:spPr>
      </p:sp>
      <p:sp>
        <p:nvSpPr>
          <p:cNvPr id="21" name="Text 19"/>
          <p:cNvSpPr/>
          <p:nvPr/>
        </p:nvSpPr>
        <p:spPr>
          <a:xfrm>
            <a:off x="5669280" y="2130552"/>
            <a:ext cx="3200400" cy="384048"/>
          </a:xfrm>
          <a:prstGeom prst="rect">
            <a:avLst/>
          </a:prstGeom>
          <a:noFill/>
          <a:ln/>
        </p:spPr>
        <p:txBody>
          <a:bodyPr wrap="square" lIns="0" tIns="0" rIns="0" bIns="0" rtlCol="0" anchor="ctr"/>
          <a:lstStyle/>
          <a:p>
            <a:pPr marL="0" indent="0">
              <a:buNone/>
            </a:pPr>
            <a:r>
              <a:rPr lang="en-US" sz="1700" dirty="0">
                <a:solidFill>
                  <a:srgbClr val="555555"/>
                </a:solidFill>
                <a:latin typeface="Calibri" pitchFamily="34" charset="0"/>
                <a:ea typeface="Calibri" pitchFamily="34" charset="-122"/>
                <a:cs typeface="Calibri" pitchFamily="34" charset="-120"/>
              </a:rPr>
              <a:t>Đóng góp tri thức mới, công bố quốc tế</a:t>
            </a:r>
            <a:endParaRPr lang="en-US" sz="1700" dirty="0"/>
          </a:p>
        </p:txBody>
      </p:sp>
      <p:sp>
        <p:nvSpPr>
          <p:cNvPr id="22" name="Shape 20"/>
          <p:cNvSpPr/>
          <p:nvPr/>
        </p:nvSpPr>
        <p:spPr>
          <a:xfrm>
            <a:off x="274320" y="2615184"/>
            <a:ext cx="1828800" cy="475488"/>
          </a:xfrm>
          <a:prstGeom prst="rect">
            <a:avLst/>
          </a:prstGeom>
          <a:solidFill>
            <a:srgbClr val="FFFFFF"/>
          </a:solidFill>
          <a:ln w="6350">
            <a:solidFill>
              <a:srgbClr val="CCCCCC"/>
            </a:solidFill>
            <a:prstDash val="solid"/>
          </a:ln>
        </p:spPr>
      </p:sp>
      <p:sp>
        <p:nvSpPr>
          <p:cNvPr id="23" name="Text 21"/>
          <p:cNvSpPr/>
          <p:nvPr/>
        </p:nvSpPr>
        <p:spPr>
          <a:xfrm>
            <a:off x="365760" y="2660904"/>
            <a:ext cx="1645920" cy="384048"/>
          </a:xfrm>
          <a:prstGeom prst="rect">
            <a:avLst/>
          </a:prstGeom>
          <a:noFill/>
          <a:ln/>
        </p:spPr>
        <p:txBody>
          <a:bodyPr wrap="square" lIns="0" tIns="0" rIns="0" bIns="0" rtlCol="0" anchor="ctr"/>
          <a:lstStyle/>
          <a:p>
            <a:pPr marL="0" indent="0">
              <a:buNone/>
            </a:pPr>
            <a:r>
              <a:rPr lang="en-US" sz="1700" b="1" dirty="0">
                <a:solidFill>
                  <a:srgbClr val="2B2F77"/>
                </a:solidFill>
                <a:latin typeface="Calibri" pitchFamily="34" charset="0"/>
                <a:ea typeface="Calibri" pitchFamily="34" charset="-122"/>
                <a:cs typeface="Calibri" pitchFamily="34" charset="-120"/>
              </a:rPr>
              <a:t>Độ dài</a:t>
            </a:r>
            <a:endParaRPr lang="en-US" sz="1700" dirty="0"/>
          </a:p>
        </p:txBody>
      </p:sp>
      <p:sp>
        <p:nvSpPr>
          <p:cNvPr id="24" name="Shape 22"/>
          <p:cNvSpPr/>
          <p:nvPr/>
        </p:nvSpPr>
        <p:spPr>
          <a:xfrm>
            <a:off x="2148840" y="2615184"/>
            <a:ext cx="3383280" cy="475488"/>
          </a:xfrm>
          <a:prstGeom prst="rect">
            <a:avLst/>
          </a:prstGeom>
          <a:solidFill>
            <a:srgbClr val="FFFFFF"/>
          </a:solidFill>
          <a:ln w="6350">
            <a:solidFill>
              <a:srgbClr val="CCCCCC"/>
            </a:solidFill>
            <a:prstDash val="solid"/>
          </a:ln>
        </p:spPr>
      </p:sp>
      <p:sp>
        <p:nvSpPr>
          <p:cNvPr id="25" name="Text 23"/>
          <p:cNvSpPr/>
          <p:nvPr/>
        </p:nvSpPr>
        <p:spPr>
          <a:xfrm>
            <a:off x="2240280" y="2660904"/>
            <a:ext cx="3200400" cy="384048"/>
          </a:xfrm>
          <a:prstGeom prst="rect">
            <a:avLst/>
          </a:prstGeom>
          <a:noFill/>
          <a:ln/>
        </p:spPr>
        <p:txBody>
          <a:bodyPr wrap="square" lIns="0" tIns="0" rIns="0" bIns="0" rtlCol="0" anchor="ctr"/>
          <a:lstStyle/>
          <a:p>
            <a:pPr marL="0" indent="0">
              <a:buNone/>
            </a:pPr>
            <a:r>
              <a:rPr lang="en-US" sz="1700" dirty="0">
                <a:solidFill>
                  <a:srgbClr val="555555"/>
                </a:solidFill>
                <a:latin typeface="Calibri" pitchFamily="34" charset="0"/>
                <a:ea typeface="Calibri" pitchFamily="34" charset="-122"/>
                <a:cs typeface="Calibri" pitchFamily="34" charset="-120"/>
              </a:rPr>
              <a:t>30–80 trang</a:t>
            </a:r>
            <a:endParaRPr lang="en-US" sz="1700" dirty="0"/>
          </a:p>
        </p:txBody>
      </p:sp>
      <p:sp>
        <p:nvSpPr>
          <p:cNvPr id="26" name="Shape 24"/>
          <p:cNvSpPr/>
          <p:nvPr/>
        </p:nvSpPr>
        <p:spPr>
          <a:xfrm>
            <a:off x="5577840" y="2615184"/>
            <a:ext cx="3383280" cy="475488"/>
          </a:xfrm>
          <a:prstGeom prst="rect">
            <a:avLst/>
          </a:prstGeom>
          <a:solidFill>
            <a:srgbClr val="FFFFFF"/>
          </a:solidFill>
          <a:ln w="6350">
            <a:solidFill>
              <a:srgbClr val="CCCCCC"/>
            </a:solidFill>
            <a:prstDash val="solid"/>
          </a:ln>
        </p:spPr>
      </p:sp>
      <p:sp>
        <p:nvSpPr>
          <p:cNvPr id="27" name="Text 25"/>
          <p:cNvSpPr/>
          <p:nvPr/>
        </p:nvSpPr>
        <p:spPr>
          <a:xfrm>
            <a:off x="5669280" y="2660904"/>
            <a:ext cx="3200400" cy="384048"/>
          </a:xfrm>
          <a:prstGeom prst="rect">
            <a:avLst/>
          </a:prstGeom>
          <a:noFill/>
          <a:ln/>
        </p:spPr>
        <p:txBody>
          <a:bodyPr wrap="square" lIns="0" tIns="0" rIns="0" bIns="0" rtlCol="0" anchor="ctr"/>
          <a:lstStyle/>
          <a:p>
            <a:pPr marL="0" indent="0">
              <a:buNone/>
            </a:pPr>
            <a:r>
              <a:rPr lang="en-US" sz="1700" dirty="0">
                <a:solidFill>
                  <a:srgbClr val="555555"/>
                </a:solidFill>
                <a:latin typeface="Calibri" pitchFamily="34" charset="0"/>
                <a:ea typeface="Calibri" pitchFamily="34" charset="-122"/>
                <a:cs typeface="Calibri" pitchFamily="34" charset="-120"/>
              </a:rPr>
              <a:t>8–12 trang (tùy tạp chí)</a:t>
            </a:r>
            <a:endParaRPr lang="en-US" sz="1700" dirty="0"/>
          </a:p>
        </p:txBody>
      </p:sp>
      <p:sp>
        <p:nvSpPr>
          <p:cNvPr id="28" name="Shape 26"/>
          <p:cNvSpPr/>
          <p:nvPr/>
        </p:nvSpPr>
        <p:spPr>
          <a:xfrm>
            <a:off x="274320" y="3145536"/>
            <a:ext cx="1828800" cy="475488"/>
          </a:xfrm>
          <a:prstGeom prst="rect">
            <a:avLst/>
          </a:prstGeom>
          <a:solidFill>
            <a:srgbClr val="F8FBFF"/>
          </a:solidFill>
          <a:ln w="6350">
            <a:solidFill>
              <a:srgbClr val="CCCCCC"/>
            </a:solidFill>
            <a:prstDash val="solid"/>
          </a:ln>
        </p:spPr>
      </p:sp>
      <p:sp>
        <p:nvSpPr>
          <p:cNvPr id="29" name="Text 27"/>
          <p:cNvSpPr/>
          <p:nvPr/>
        </p:nvSpPr>
        <p:spPr>
          <a:xfrm>
            <a:off x="365760" y="3191256"/>
            <a:ext cx="1645920" cy="384048"/>
          </a:xfrm>
          <a:prstGeom prst="rect">
            <a:avLst/>
          </a:prstGeom>
          <a:noFill/>
          <a:ln/>
        </p:spPr>
        <p:txBody>
          <a:bodyPr wrap="square" lIns="0" tIns="0" rIns="0" bIns="0" rtlCol="0" anchor="ctr"/>
          <a:lstStyle/>
          <a:p>
            <a:pPr marL="0" indent="0">
              <a:buNone/>
            </a:pPr>
            <a:r>
              <a:rPr lang="en-US" sz="1700" b="1" dirty="0">
                <a:solidFill>
                  <a:srgbClr val="2B2F77"/>
                </a:solidFill>
                <a:latin typeface="Calibri" pitchFamily="34" charset="0"/>
                <a:ea typeface="Calibri" pitchFamily="34" charset="-122"/>
                <a:cs typeface="Calibri" pitchFamily="34" charset="-120"/>
              </a:rPr>
              <a:t>Cấu trúc</a:t>
            </a:r>
            <a:endParaRPr lang="en-US" sz="1700" dirty="0"/>
          </a:p>
        </p:txBody>
      </p:sp>
      <p:sp>
        <p:nvSpPr>
          <p:cNvPr id="30" name="Shape 28"/>
          <p:cNvSpPr/>
          <p:nvPr/>
        </p:nvSpPr>
        <p:spPr>
          <a:xfrm>
            <a:off x="2148840" y="3145536"/>
            <a:ext cx="3383280" cy="475488"/>
          </a:xfrm>
          <a:prstGeom prst="rect">
            <a:avLst/>
          </a:prstGeom>
          <a:solidFill>
            <a:srgbClr val="F8FBFF"/>
          </a:solidFill>
          <a:ln w="6350">
            <a:solidFill>
              <a:srgbClr val="CCCCCC"/>
            </a:solidFill>
            <a:prstDash val="solid"/>
          </a:ln>
        </p:spPr>
      </p:sp>
      <p:sp>
        <p:nvSpPr>
          <p:cNvPr id="31" name="Text 29"/>
          <p:cNvSpPr/>
          <p:nvPr/>
        </p:nvSpPr>
        <p:spPr>
          <a:xfrm>
            <a:off x="2240280" y="3191256"/>
            <a:ext cx="3200400" cy="384048"/>
          </a:xfrm>
          <a:prstGeom prst="rect">
            <a:avLst/>
          </a:prstGeom>
          <a:noFill/>
          <a:ln/>
        </p:spPr>
        <p:txBody>
          <a:bodyPr wrap="square" lIns="0" tIns="0" rIns="0" bIns="0" rtlCol="0" anchor="ctr"/>
          <a:lstStyle/>
          <a:p>
            <a:pPr marL="0" indent="0">
              <a:buNone/>
            </a:pPr>
            <a:r>
              <a:rPr lang="en-US" sz="1700" dirty="0">
                <a:solidFill>
                  <a:srgbClr val="555555"/>
                </a:solidFill>
                <a:latin typeface="Calibri" pitchFamily="34" charset="0"/>
                <a:ea typeface="Calibri" pitchFamily="34" charset="-122"/>
                <a:cs typeface="Calibri" pitchFamily="34" charset="-120"/>
              </a:rPr>
              <a:t>Theo mẫu của trường</a:t>
            </a:r>
            <a:endParaRPr lang="en-US" sz="1700" dirty="0"/>
          </a:p>
        </p:txBody>
      </p:sp>
      <p:sp>
        <p:nvSpPr>
          <p:cNvPr id="32" name="Shape 30"/>
          <p:cNvSpPr/>
          <p:nvPr/>
        </p:nvSpPr>
        <p:spPr>
          <a:xfrm>
            <a:off x="5577840" y="3145536"/>
            <a:ext cx="3383280" cy="475488"/>
          </a:xfrm>
          <a:prstGeom prst="rect">
            <a:avLst/>
          </a:prstGeom>
          <a:solidFill>
            <a:srgbClr val="F8FBFF"/>
          </a:solidFill>
          <a:ln w="6350">
            <a:solidFill>
              <a:srgbClr val="CCCCCC"/>
            </a:solidFill>
            <a:prstDash val="solid"/>
          </a:ln>
        </p:spPr>
      </p:sp>
      <p:sp>
        <p:nvSpPr>
          <p:cNvPr id="33" name="Text 31"/>
          <p:cNvSpPr/>
          <p:nvPr/>
        </p:nvSpPr>
        <p:spPr>
          <a:xfrm>
            <a:off x="5669280" y="3191256"/>
            <a:ext cx="3200400" cy="384048"/>
          </a:xfrm>
          <a:prstGeom prst="rect">
            <a:avLst/>
          </a:prstGeom>
          <a:noFill/>
          <a:ln/>
        </p:spPr>
        <p:txBody>
          <a:bodyPr wrap="square" lIns="0" tIns="0" rIns="0" bIns="0" rtlCol="0" anchor="ctr"/>
          <a:lstStyle/>
          <a:p>
            <a:pPr marL="0" indent="0">
              <a:buNone/>
            </a:pPr>
            <a:r>
              <a:rPr lang="en-US" sz="1700" dirty="0">
                <a:solidFill>
                  <a:srgbClr val="555555"/>
                </a:solidFill>
                <a:latin typeface="Calibri" pitchFamily="34" charset="0"/>
                <a:ea typeface="Calibri" pitchFamily="34" charset="-122"/>
                <a:cs typeface="Calibri" pitchFamily="34" charset="-120"/>
              </a:rPr>
              <a:t>IMRAD — chuẩn quốc tế</a:t>
            </a:r>
            <a:endParaRPr lang="en-US" sz="1700" dirty="0"/>
          </a:p>
        </p:txBody>
      </p:sp>
      <p:sp>
        <p:nvSpPr>
          <p:cNvPr id="34" name="Shape 32"/>
          <p:cNvSpPr/>
          <p:nvPr/>
        </p:nvSpPr>
        <p:spPr>
          <a:xfrm>
            <a:off x="274320" y="3675888"/>
            <a:ext cx="1828800" cy="475488"/>
          </a:xfrm>
          <a:prstGeom prst="rect">
            <a:avLst/>
          </a:prstGeom>
          <a:solidFill>
            <a:srgbClr val="FFFFFF"/>
          </a:solidFill>
          <a:ln w="6350">
            <a:solidFill>
              <a:srgbClr val="CCCCCC"/>
            </a:solidFill>
            <a:prstDash val="solid"/>
          </a:ln>
        </p:spPr>
      </p:sp>
      <p:sp>
        <p:nvSpPr>
          <p:cNvPr id="35" name="Text 33"/>
          <p:cNvSpPr/>
          <p:nvPr/>
        </p:nvSpPr>
        <p:spPr>
          <a:xfrm>
            <a:off x="365760" y="3721608"/>
            <a:ext cx="1645920" cy="384048"/>
          </a:xfrm>
          <a:prstGeom prst="rect">
            <a:avLst/>
          </a:prstGeom>
          <a:noFill/>
          <a:ln/>
        </p:spPr>
        <p:txBody>
          <a:bodyPr wrap="square" lIns="0" tIns="0" rIns="0" bIns="0" rtlCol="0" anchor="ctr"/>
          <a:lstStyle/>
          <a:p>
            <a:pPr marL="0" indent="0">
              <a:buNone/>
            </a:pPr>
            <a:r>
              <a:rPr lang="en-US" sz="1700" b="1" dirty="0">
                <a:solidFill>
                  <a:srgbClr val="2B2F77"/>
                </a:solidFill>
                <a:latin typeface="Calibri" pitchFamily="34" charset="0"/>
                <a:ea typeface="Calibri" pitchFamily="34" charset="-122"/>
                <a:cs typeface="Calibri" pitchFamily="34" charset="-120"/>
              </a:rPr>
              <a:t>Ngôn ngữ</a:t>
            </a:r>
            <a:endParaRPr lang="en-US" sz="1700" dirty="0"/>
          </a:p>
        </p:txBody>
      </p:sp>
      <p:sp>
        <p:nvSpPr>
          <p:cNvPr id="36" name="Shape 34"/>
          <p:cNvSpPr/>
          <p:nvPr/>
        </p:nvSpPr>
        <p:spPr>
          <a:xfrm>
            <a:off x="2148840" y="3675888"/>
            <a:ext cx="3383280" cy="475488"/>
          </a:xfrm>
          <a:prstGeom prst="rect">
            <a:avLst/>
          </a:prstGeom>
          <a:solidFill>
            <a:srgbClr val="FFFFFF"/>
          </a:solidFill>
          <a:ln w="6350">
            <a:solidFill>
              <a:srgbClr val="CCCCCC"/>
            </a:solidFill>
            <a:prstDash val="solid"/>
          </a:ln>
        </p:spPr>
      </p:sp>
      <p:sp>
        <p:nvSpPr>
          <p:cNvPr id="37" name="Text 35"/>
          <p:cNvSpPr/>
          <p:nvPr/>
        </p:nvSpPr>
        <p:spPr>
          <a:xfrm>
            <a:off x="2240280" y="3721608"/>
            <a:ext cx="3200400" cy="384048"/>
          </a:xfrm>
          <a:prstGeom prst="rect">
            <a:avLst/>
          </a:prstGeom>
          <a:noFill/>
          <a:ln/>
        </p:spPr>
        <p:txBody>
          <a:bodyPr wrap="square" lIns="0" tIns="0" rIns="0" bIns="0" rtlCol="0" anchor="ctr"/>
          <a:lstStyle/>
          <a:p>
            <a:pPr marL="0" indent="0">
              <a:buNone/>
            </a:pPr>
            <a:r>
              <a:rPr lang="en-US" sz="1700" dirty="0">
                <a:solidFill>
                  <a:srgbClr val="555555"/>
                </a:solidFill>
                <a:latin typeface="Calibri" pitchFamily="34" charset="0"/>
                <a:ea typeface="Calibri" pitchFamily="34" charset="-122"/>
                <a:cs typeface="Calibri" pitchFamily="34" charset="-120"/>
              </a:rPr>
              <a:t>Tiếng Việt, chi tiết</a:t>
            </a:r>
            <a:endParaRPr lang="en-US" sz="1700" dirty="0"/>
          </a:p>
        </p:txBody>
      </p:sp>
      <p:sp>
        <p:nvSpPr>
          <p:cNvPr id="38" name="Shape 36"/>
          <p:cNvSpPr/>
          <p:nvPr/>
        </p:nvSpPr>
        <p:spPr>
          <a:xfrm>
            <a:off x="5577840" y="3675888"/>
            <a:ext cx="3383280" cy="475488"/>
          </a:xfrm>
          <a:prstGeom prst="rect">
            <a:avLst/>
          </a:prstGeom>
          <a:solidFill>
            <a:srgbClr val="FFFFFF"/>
          </a:solidFill>
          <a:ln w="6350">
            <a:solidFill>
              <a:srgbClr val="CCCCCC"/>
            </a:solidFill>
            <a:prstDash val="solid"/>
          </a:ln>
        </p:spPr>
      </p:sp>
      <p:sp>
        <p:nvSpPr>
          <p:cNvPr id="39" name="Text 37"/>
          <p:cNvSpPr/>
          <p:nvPr/>
        </p:nvSpPr>
        <p:spPr>
          <a:xfrm>
            <a:off x="5669280" y="3721608"/>
            <a:ext cx="3200400" cy="384048"/>
          </a:xfrm>
          <a:prstGeom prst="rect">
            <a:avLst/>
          </a:prstGeom>
          <a:noFill/>
          <a:ln/>
        </p:spPr>
        <p:txBody>
          <a:bodyPr wrap="square" lIns="0" tIns="0" rIns="0" bIns="0" rtlCol="0" anchor="ctr"/>
          <a:lstStyle/>
          <a:p>
            <a:pPr marL="0" indent="0">
              <a:buNone/>
            </a:pPr>
            <a:r>
              <a:rPr lang="en-US" sz="1700" dirty="0">
                <a:solidFill>
                  <a:srgbClr val="555555"/>
                </a:solidFill>
                <a:latin typeface="Calibri" pitchFamily="34" charset="0"/>
                <a:ea typeface="Calibri" pitchFamily="34" charset="-122"/>
                <a:cs typeface="Calibri" pitchFamily="34" charset="-120"/>
              </a:rPr>
              <a:t>Ngắn gọn, </a:t>
            </a:r>
            <a:r>
              <a:rPr lang="en-US" sz="1700" dirty="0" err="1">
                <a:solidFill>
                  <a:srgbClr val="555555"/>
                </a:solidFill>
                <a:latin typeface="Calibri" pitchFamily="34" charset="0"/>
                <a:ea typeface="Calibri" pitchFamily="34" charset="-122"/>
                <a:cs typeface="Calibri" pitchFamily="34" charset="-120"/>
              </a:rPr>
              <a:t>học</a:t>
            </a:r>
            <a:r>
              <a:rPr lang="en-US" sz="1700" dirty="0">
                <a:solidFill>
                  <a:srgbClr val="555555"/>
                </a:solidFill>
                <a:latin typeface="Calibri" pitchFamily="34" charset="0"/>
                <a:ea typeface="Calibri" pitchFamily="34" charset="-122"/>
                <a:cs typeface="Calibri" pitchFamily="34" charset="-120"/>
              </a:rPr>
              <a:t> </a:t>
            </a:r>
            <a:r>
              <a:rPr lang="en-US" sz="1700" dirty="0" err="1">
                <a:solidFill>
                  <a:srgbClr val="555555"/>
                </a:solidFill>
                <a:latin typeface="Calibri" pitchFamily="34" charset="0"/>
                <a:ea typeface="Calibri" pitchFamily="34" charset="-122"/>
                <a:cs typeface="Calibri" pitchFamily="34" charset="-120"/>
              </a:rPr>
              <a:t>thuật</a:t>
            </a:r>
            <a:endParaRPr lang="en-US" sz="1700" dirty="0"/>
          </a:p>
        </p:txBody>
      </p:sp>
      <p:sp>
        <p:nvSpPr>
          <p:cNvPr id="40" name="Shape 38"/>
          <p:cNvSpPr/>
          <p:nvPr/>
        </p:nvSpPr>
        <p:spPr>
          <a:xfrm>
            <a:off x="274320" y="4206240"/>
            <a:ext cx="1828800" cy="475488"/>
          </a:xfrm>
          <a:prstGeom prst="rect">
            <a:avLst/>
          </a:prstGeom>
          <a:solidFill>
            <a:srgbClr val="F8FBFF"/>
          </a:solidFill>
          <a:ln w="6350">
            <a:solidFill>
              <a:srgbClr val="CCCCCC"/>
            </a:solidFill>
            <a:prstDash val="solid"/>
          </a:ln>
        </p:spPr>
      </p:sp>
      <p:sp>
        <p:nvSpPr>
          <p:cNvPr id="41" name="Text 39"/>
          <p:cNvSpPr/>
          <p:nvPr/>
        </p:nvSpPr>
        <p:spPr>
          <a:xfrm>
            <a:off x="365760" y="4251960"/>
            <a:ext cx="1645920" cy="384048"/>
          </a:xfrm>
          <a:prstGeom prst="rect">
            <a:avLst/>
          </a:prstGeom>
          <a:noFill/>
          <a:ln/>
        </p:spPr>
        <p:txBody>
          <a:bodyPr wrap="square" lIns="0" tIns="0" rIns="0" bIns="0" rtlCol="0" anchor="ctr"/>
          <a:lstStyle/>
          <a:p>
            <a:pPr marL="0" indent="0">
              <a:buNone/>
            </a:pPr>
            <a:r>
              <a:rPr lang="en-US" sz="1700" b="1" dirty="0">
                <a:solidFill>
                  <a:srgbClr val="2B2F77"/>
                </a:solidFill>
                <a:latin typeface="Calibri" pitchFamily="34" charset="0"/>
                <a:ea typeface="Calibri" pitchFamily="34" charset="-122"/>
                <a:cs typeface="Calibri" pitchFamily="34" charset="-120"/>
              </a:rPr>
              <a:t>Người đọc</a:t>
            </a:r>
            <a:endParaRPr lang="en-US" sz="1700" dirty="0"/>
          </a:p>
        </p:txBody>
      </p:sp>
      <p:sp>
        <p:nvSpPr>
          <p:cNvPr id="42" name="Shape 40"/>
          <p:cNvSpPr/>
          <p:nvPr/>
        </p:nvSpPr>
        <p:spPr>
          <a:xfrm>
            <a:off x="2148840" y="4206240"/>
            <a:ext cx="3383280" cy="475488"/>
          </a:xfrm>
          <a:prstGeom prst="rect">
            <a:avLst/>
          </a:prstGeom>
          <a:solidFill>
            <a:srgbClr val="F8FBFF"/>
          </a:solidFill>
          <a:ln w="6350">
            <a:solidFill>
              <a:srgbClr val="CCCCCC"/>
            </a:solidFill>
            <a:prstDash val="solid"/>
          </a:ln>
        </p:spPr>
      </p:sp>
      <p:sp>
        <p:nvSpPr>
          <p:cNvPr id="43" name="Text 41"/>
          <p:cNvSpPr/>
          <p:nvPr/>
        </p:nvSpPr>
        <p:spPr>
          <a:xfrm>
            <a:off x="2240280" y="4251960"/>
            <a:ext cx="3200400" cy="384048"/>
          </a:xfrm>
          <a:prstGeom prst="rect">
            <a:avLst/>
          </a:prstGeom>
          <a:noFill/>
          <a:ln/>
        </p:spPr>
        <p:txBody>
          <a:bodyPr wrap="square" lIns="0" tIns="0" rIns="0" bIns="0" rtlCol="0" anchor="ctr"/>
          <a:lstStyle/>
          <a:p>
            <a:pPr marL="0" indent="0">
              <a:buNone/>
            </a:pPr>
            <a:r>
              <a:rPr lang="en-US" sz="1700" dirty="0">
                <a:solidFill>
                  <a:srgbClr val="555555"/>
                </a:solidFill>
                <a:latin typeface="Calibri" pitchFamily="34" charset="0"/>
                <a:ea typeface="Calibri" pitchFamily="34" charset="-122"/>
                <a:cs typeface="Calibri" pitchFamily="34" charset="-120"/>
              </a:rPr>
              <a:t>Giảng viên </a:t>
            </a:r>
            <a:r>
              <a:rPr lang="en-US" sz="1700" dirty="0" err="1">
                <a:solidFill>
                  <a:srgbClr val="555555"/>
                </a:solidFill>
                <a:latin typeface="Calibri" pitchFamily="34" charset="0"/>
                <a:ea typeface="Calibri" pitchFamily="34" charset="-122"/>
                <a:cs typeface="Calibri" pitchFamily="34" charset="-120"/>
              </a:rPr>
              <a:t>hướng</a:t>
            </a:r>
            <a:r>
              <a:rPr lang="en-US" sz="1700" dirty="0">
                <a:solidFill>
                  <a:srgbClr val="555555"/>
                </a:solidFill>
                <a:latin typeface="Calibri" pitchFamily="34" charset="0"/>
                <a:ea typeface="Calibri" pitchFamily="34" charset="-122"/>
                <a:cs typeface="Calibri" pitchFamily="34" charset="-120"/>
              </a:rPr>
              <a:t> </a:t>
            </a:r>
            <a:r>
              <a:rPr lang="en-US" sz="1700" dirty="0" err="1">
                <a:solidFill>
                  <a:srgbClr val="555555"/>
                </a:solidFill>
                <a:latin typeface="Calibri" pitchFamily="34" charset="0"/>
                <a:ea typeface="Calibri" pitchFamily="34" charset="-122"/>
                <a:cs typeface="Calibri" pitchFamily="34" charset="-120"/>
              </a:rPr>
              <a:t>dẫn</a:t>
            </a:r>
            <a:r>
              <a:rPr lang="en-US" sz="1700" dirty="0">
                <a:solidFill>
                  <a:srgbClr val="555555"/>
                </a:solidFill>
                <a:latin typeface="Calibri" pitchFamily="34" charset="0"/>
                <a:ea typeface="Calibri" pitchFamily="34" charset="-122"/>
                <a:cs typeface="Calibri" pitchFamily="34" charset="-120"/>
              </a:rPr>
              <a:t>, </a:t>
            </a:r>
            <a:r>
              <a:rPr lang="en-US" sz="1700" dirty="0" err="1">
                <a:solidFill>
                  <a:srgbClr val="555555"/>
                </a:solidFill>
                <a:latin typeface="Calibri" pitchFamily="34" charset="0"/>
                <a:ea typeface="Calibri" pitchFamily="34" charset="-122"/>
                <a:cs typeface="Calibri" pitchFamily="34" charset="-120"/>
              </a:rPr>
              <a:t>sinh</a:t>
            </a:r>
            <a:r>
              <a:rPr lang="en-US" sz="1700" dirty="0">
                <a:solidFill>
                  <a:srgbClr val="555555"/>
                </a:solidFill>
                <a:latin typeface="Calibri" pitchFamily="34" charset="0"/>
                <a:ea typeface="Calibri" pitchFamily="34" charset="-122"/>
                <a:cs typeface="Calibri" pitchFamily="34" charset="-120"/>
              </a:rPr>
              <a:t> </a:t>
            </a:r>
            <a:r>
              <a:rPr lang="en-US" sz="1700" dirty="0" err="1">
                <a:solidFill>
                  <a:srgbClr val="555555"/>
                </a:solidFill>
                <a:latin typeface="Calibri" pitchFamily="34" charset="0"/>
                <a:ea typeface="Calibri" pitchFamily="34" charset="-122"/>
                <a:cs typeface="Calibri" pitchFamily="34" charset="-120"/>
              </a:rPr>
              <a:t>viên</a:t>
            </a:r>
            <a:endParaRPr lang="en-US" sz="1700" dirty="0"/>
          </a:p>
        </p:txBody>
      </p:sp>
      <p:sp>
        <p:nvSpPr>
          <p:cNvPr id="44" name="Shape 42"/>
          <p:cNvSpPr/>
          <p:nvPr/>
        </p:nvSpPr>
        <p:spPr>
          <a:xfrm>
            <a:off x="5577840" y="4206240"/>
            <a:ext cx="3383280" cy="475488"/>
          </a:xfrm>
          <a:prstGeom prst="rect">
            <a:avLst/>
          </a:prstGeom>
          <a:solidFill>
            <a:srgbClr val="F8FBFF"/>
          </a:solidFill>
          <a:ln w="6350">
            <a:solidFill>
              <a:srgbClr val="CCCCCC"/>
            </a:solidFill>
            <a:prstDash val="solid"/>
          </a:ln>
        </p:spPr>
      </p:sp>
      <p:sp>
        <p:nvSpPr>
          <p:cNvPr id="45" name="Text 43"/>
          <p:cNvSpPr/>
          <p:nvPr/>
        </p:nvSpPr>
        <p:spPr>
          <a:xfrm>
            <a:off x="5669280" y="4251960"/>
            <a:ext cx="3200400" cy="384048"/>
          </a:xfrm>
          <a:prstGeom prst="rect">
            <a:avLst/>
          </a:prstGeom>
          <a:noFill/>
          <a:ln/>
        </p:spPr>
        <p:txBody>
          <a:bodyPr wrap="square" lIns="0" tIns="0" rIns="0" bIns="0" rtlCol="0" anchor="ctr"/>
          <a:lstStyle/>
          <a:p>
            <a:pPr marL="0" indent="0">
              <a:buNone/>
            </a:pPr>
            <a:r>
              <a:rPr lang="en-US" sz="1700" dirty="0">
                <a:solidFill>
                  <a:srgbClr val="555555"/>
                </a:solidFill>
                <a:latin typeface="Calibri" pitchFamily="34" charset="0"/>
                <a:ea typeface="Calibri" pitchFamily="34" charset="-122"/>
                <a:cs typeface="Calibri" pitchFamily="34" charset="-120"/>
              </a:rPr>
              <a:t>Cộng đồng khoa học toàn cầu</a:t>
            </a:r>
            <a:endParaRPr lang="en-US" sz="1700" dirty="0"/>
          </a:p>
        </p:txBody>
      </p:sp>
      <p:sp>
        <p:nvSpPr>
          <p:cNvPr id="46" name="Shape 44"/>
          <p:cNvSpPr/>
          <p:nvPr/>
        </p:nvSpPr>
        <p:spPr>
          <a:xfrm>
            <a:off x="2011680" y="4846320"/>
            <a:ext cx="7040880" cy="36576"/>
          </a:xfrm>
          <a:prstGeom prst="rect">
            <a:avLst/>
          </a:prstGeom>
          <a:solidFill>
            <a:srgbClr val="F5A623"/>
          </a:solidFill>
          <a:ln w="12700">
            <a:solidFill>
              <a:srgbClr val="F5A623"/>
            </a:solidFill>
            <a:prstDash val="solid"/>
          </a:ln>
        </p:spPr>
      </p:sp>
      <p:pic>
        <p:nvPicPr>
          <p:cNvPr id="47"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48" name="Text 45"/>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49" name="Text 46"/>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2B2F77"/>
          </a:solidFill>
          <a:ln w="12700">
            <a:solidFill>
              <a:srgbClr val="2B2F77"/>
            </a:solidFill>
            <a:prstDash val="solid"/>
          </a:ln>
        </p:spPr>
      </p:sp>
      <p:sp>
        <p:nvSpPr>
          <p:cNvPr id="3" name="Shape 1"/>
          <p:cNvSpPr/>
          <p:nvPr/>
        </p:nvSpPr>
        <p:spPr>
          <a:xfrm>
            <a:off x="0" y="4846320"/>
            <a:ext cx="3200400" cy="297180"/>
          </a:xfrm>
          <a:prstGeom prst="rect">
            <a:avLst/>
          </a:prstGeom>
          <a:solidFill>
            <a:srgbClr val="F5A623"/>
          </a:solidFill>
          <a:ln w="12700">
            <a:solidFill>
              <a:srgbClr val="F5A623"/>
            </a:solidFill>
            <a:prstDash val="solid"/>
          </a:ln>
        </p:spPr>
      </p:sp>
      <p:sp>
        <p:nvSpPr>
          <p:cNvPr id="4" name="Text 2"/>
          <p:cNvSpPr/>
          <p:nvPr/>
        </p:nvSpPr>
        <p:spPr>
          <a:xfrm>
            <a:off x="182880" y="1371600"/>
            <a:ext cx="2743200" cy="914400"/>
          </a:xfrm>
          <a:prstGeom prst="rect">
            <a:avLst/>
          </a:prstGeom>
          <a:noFill/>
          <a:ln/>
        </p:spPr>
        <p:txBody>
          <a:bodyPr wrap="square" lIns="0" tIns="0" rIns="0" bIns="0" rtlCol="0" anchor="ctr"/>
          <a:lstStyle/>
          <a:p>
            <a:pPr marL="0" indent="0" algn="ctr">
              <a:buNone/>
            </a:pPr>
            <a:r>
              <a:rPr lang="en-US" sz="6400" b="1" dirty="0">
                <a:solidFill>
                  <a:srgbClr val="F5A623"/>
                </a:solidFill>
                <a:latin typeface="Calibri" pitchFamily="34" charset="0"/>
                <a:ea typeface="Calibri" pitchFamily="34" charset="-122"/>
                <a:cs typeface="Calibri" pitchFamily="34" charset="-120"/>
              </a:rPr>
              <a:t>02</a:t>
            </a:r>
            <a:endParaRPr lang="en-US" sz="6400" dirty="0"/>
          </a:p>
        </p:txBody>
      </p:sp>
      <p:sp>
        <p:nvSpPr>
          <p:cNvPr id="5" name="Text 3"/>
          <p:cNvSpPr/>
          <p:nvPr/>
        </p:nvSpPr>
        <p:spPr>
          <a:xfrm>
            <a:off x="137160" y="2468880"/>
            <a:ext cx="2926080" cy="1645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Cấu trúc</a:t>
            </a:r>
            <a:endParaRPr lang="en-US" sz="2400" dirty="0"/>
          </a:p>
          <a:p>
            <a:pPr marL="0" indent="0" algn="ctr">
              <a:buNone/>
            </a:pPr>
            <a:r>
              <a:rPr lang="en-US" sz="2400" b="1" dirty="0">
                <a:solidFill>
                  <a:srgbClr val="FFFFFF"/>
                </a:solidFill>
                <a:latin typeface="Calibri" pitchFamily="34" charset="0"/>
                <a:ea typeface="Calibri" pitchFamily="34" charset="-122"/>
                <a:cs typeface="Calibri" pitchFamily="34" charset="-120"/>
              </a:rPr>
              <a:t>IMRAD</a:t>
            </a:r>
            <a:endParaRPr lang="en-US" sz="2400" dirty="0"/>
          </a:p>
        </p:txBody>
      </p:sp>
      <p:sp>
        <p:nvSpPr>
          <p:cNvPr id="6" name="Text 4"/>
          <p:cNvSpPr/>
          <p:nvPr/>
        </p:nvSpPr>
        <p:spPr>
          <a:xfrm>
            <a:off x="3474720" y="2011680"/>
            <a:ext cx="5303520" cy="914400"/>
          </a:xfrm>
          <a:prstGeom prst="rect">
            <a:avLst/>
          </a:prstGeom>
          <a:noFill/>
          <a:ln/>
        </p:spPr>
        <p:txBody>
          <a:bodyPr wrap="square" lIns="0" tIns="0" rIns="0" bIns="0" rtlCol="0" anchor="ctr"/>
          <a:lstStyle/>
          <a:p>
            <a:pPr marL="0" indent="0" algn="l">
              <a:buNone/>
            </a:pPr>
            <a:r>
              <a:rPr lang="en-US" sz="2000" dirty="0"/>
              <a:t>CẤU TRÚC BÀI BÁO KHOA HỌC</a:t>
            </a:r>
          </a:p>
        </p:txBody>
      </p:sp>
      <p:sp>
        <p:nvSpPr>
          <p:cNvPr id="7" name="Text 5"/>
          <p:cNvSpPr/>
          <p:nvPr/>
        </p:nvSpPr>
        <p:spPr>
          <a:xfrm>
            <a:off x="3474720" y="4846320"/>
            <a:ext cx="5303520" cy="228600"/>
          </a:xfrm>
          <a:prstGeom prst="rect">
            <a:avLst/>
          </a:prstGeom>
          <a:noFill/>
          <a:ln/>
        </p:spPr>
        <p:txBody>
          <a:bodyPr wrap="square" lIns="0" tIns="0" rIns="0" bIns="0" rtlCol="0" anchor="ctr"/>
          <a:lstStyle/>
          <a:p>
            <a:pPr marL="0" indent="0" algn="r">
              <a:buNone/>
            </a:pPr>
            <a:r>
              <a:rPr lang="en-US" sz="1100" dirty="0">
                <a:solidFill>
                  <a:srgbClr val="CCCCCC"/>
                </a:solidFill>
                <a:latin typeface="Calibri" pitchFamily="34" charset="0"/>
                <a:ea typeface="Calibri" pitchFamily="34" charset="-122"/>
                <a:cs typeface="Calibri" pitchFamily="34" charset="-120"/>
              </a:rPr>
              <a:t>jstt.vn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IMRAD — Cấu trúc chuẩn quốc tế của bài báo khoa học</a:t>
            </a:r>
            <a:endParaRPr lang="en-US" sz="2600" dirty="0"/>
          </a:p>
        </p:txBody>
      </p:sp>
      <p:sp>
        <p:nvSpPr>
          <p:cNvPr id="10" name="Shape 8"/>
          <p:cNvSpPr/>
          <p:nvPr/>
        </p:nvSpPr>
        <p:spPr>
          <a:xfrm>
            <a:off x="228600" y="1572768"/>
            <a:ext cx="1572768" cy="658368"/>
          </a:xfrm>
          <a:prstGeom prst="rect">
            <a:avLst/>
          </a:prstGeom>
          <a:solidFill>
            <a:srgbClr val="2B2F77"/>
          </a:solidFill>
          <a:ln w="12700">
            <a:solidFill>
              <a:srgbClr val="2B2F77"/>
            </a:solidFill>
            <a:prstDash val="solid"/>
          </a:ln>
        </p:spPr>
      </p:sp>
      <p:sp>
        <p:nvSpPr>
          <p:cNvPr id="11" name="Text 9"/>
          <p:cNvSpPr/>
          <p:nvPr/>
        </p:nvSpPr>
        <p:spPr>
          <a:xfrm>
            <a:off x="228600" y="1572768"/>
            <a:ext cx="1572768" cy="65836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I</a:t>
            </a:r>
            <a:endParaRPr lang="en-US" sz="3200" dirty="0"/>
          </a:p>
        </p:txBody>
      </p:sp>
      <p:sp>
        <p:nvSpPr>
          <p:cNvPr id="12" name="Text 10"/>
          <p:cNvSpPr/>
          <p:nvPr/>
        </p:nvSpPr>
        <p:spPr>
          <a:xfrm>
            <a:off x="228600" y="2276856"/>
            <a:ext cx="1572768" cy="274320"/>
          </a:xfrm>
          <a:prstGeom prst="rect">
            <a:avLst/>
          </a:prstGeom>
          <a:noFill/>
          <a:ln/>
        </p:spPr>
        <p:txBody>
          <a:bodyPr wrap="square" lIns="0" tIns="0" rIns="0" bIns="0" rtlCol="0" anchor="ctr"/>
          <a:lstStyle/>
          <a:p>
            <a:pPr marL="0" indent="0" algn="ctr">
              <a:buNone/>
            </a:pPr>
            <a:r>
              <a:rPr lang="en-US" sz="1300" b="1" dirty="0">
                <a:solidFill>
                  <a:srgbClr val="2B2F77"/>
                </a:solidFill>
                <a:latin typeface="Calibri" pitchFamily="34" charset="0"/>
                <a:ea typeface="Calibri" pitchFamily="34" charset="-122"/>
                <a:cs typeface="Calibri" pitchFamily="34" charset="-120"/>
              </a:rPr>
              <a:t>Introduction</a:t>
            </a:r>
            <a:endParaRPr lang="en-US" sz="1300" dirty="0"/>
          </a:p>
        </p:txBody>
      </p:sp>
      <p:sp>
        <p:nvSpPr>
          <p:cNvPr id="13" name="Text 11"/>
          <p:cNvSpPr/>
          <p:nvPr/>
        </p:nvSpPr>
        <p:spPr>
          <a:xfrm>
            <a:off x="228600" y="2560320"/>
            <a:ext cx="1572768" cy="228600"/>
          </a:xfrm>
          <a:prstGeom prst="rect">
            <a:avLst/>
          </a:prstGeom>
          <a:noFill/>
          <a:ln/>
        </p:spPr>
        <p:txBody>
          <a:bodyPr wrap="square" lIns="0" tIns="0" rIns="0" bIns="0" rtlCol="0" anchor="ctr"/>
          <a:lstStyle/>
          <a:p>
            <a:pPr marL="0" indent="0" algn="ctr">
              <a:buNone/>
            </a:pPr>
            <a:r>
              <a:rPr lang="en-US" sz="1300" dirty="0">
                <a:solidFill>
                  <a:srgbClr val="555555"/>
                </a:solidFill>
                <a:latin typeface="Calibri" pitchFamily="34" charset="0"/>
                <a:ea typeface="Calibri" pitchFamily="34" charset="-122"/>
                <a:cs typeface="Calibri" pitchFamily="34" charset="-120"/>
              </a:rPr>
              <a:t>Giới thiệu</a:t>
            </a:r>
            <a:endParaRPr lang="en-US" sz="1300" dirty="0"/>
          </a:p>
        </p:txBody>
      </p:sp>
      <p:sp>
        <p:nvSpPr>
          <p:cNvPr id="14" name="Shape 12"/>
          <p:cNvSpPr/>
          <p:nvPr/>
        </p:nvSpPr>
        <p:spPr>
          <a:xfrm>
            <a:off x="283464" y="2816352"/>
            <a:ext cx="1463040" cy="502920"/>
          </a:xfrm>
          <a:prstGeom prst="rect">
            <a:avLst/>
          </a:prstGeom>
          <a:solidFill>
            <a:srgbClr val="F8F8F8"/>
          </a:solidFill>
          <a:ln w="6350">
            <a:solidFill>
              <a:srgbClr val="CCCCCC"/>
            </a:solidFill>
            <a:prstDash val="solid"/>
          </a:ln>
        </p:spPr>
      </p:sp>
      <p:sp>
        <p:nvSpPr>
          <p:cNvPr id="15" name="Text 13"/>
          <p:cNvSpPr/>
          <p:nvPr/>
        </p:nvSpPr>
        <p:spPr>
          <a:xfrm>
            <a:off x="301752" y="2834640"/>
            <a:ext cx="1426464" cy="466344"/>
          </a:xfrm>
          <a:prstGeom prst="rect">
            <a:avLst/>
          </a:prstGeom>
          <a:noFill/>
          <a:ln/>
        </p:spPr>
        <p:txBody>
          <a:bodyPr wrap="square" lIns="0" tIns="0" rIns="0" bIns="0" rtlCol="0" anchor="ctr"/>
          <a:lstStyle/>
          <a:p>
            <a:pPr marL="0" indent="0" algn="ctr">
              <a:buNone/>
            </a:pPr>
            <a:r>
              <a:rPr lang="en-US" sz="1300" dirty="0">
                <a:solidFill>
                  <a:srgbClr val="2B2F77"/>
                </a:solidFill>
                <a:latin typeface="Calibri" pitchFamily="34" charset="0"/>
                <a:ea typeface="Calibri" pitchFamily="34" charset="-122"/>
                <a:cs typeface="Calibri" pitchFamily="34" charset="-120"/>
              </a:rPr>
              <a:t>Vấn đề là gì?</a:t>
            </a:r>
            <a:endParaRPr lang="en-US" sz="1300" dirty="0"/>
          </a:p>
          <a:p>
            <a:pPr marL="0" indent="0" algn="ctr">
              <a:buNone/>
            </a:pPr>
            <a:r>
              <a:rPr lang="en-US" sz="1300" dirty="0">
                <a:solidFill>
                  <a:srgbClr val="2B2F77"/>
                </a:solidFill>
                <a:latin typeface="Calibri" pitchFamily="34" charset="0"/>
                <a:ea typeface="Calibri" pitchFamily="34" charset="-122"/>
                <a:cs typeface="Calibri" pitchFamily="34" charset="-120"/>
              </a:rPr>
              <a:t>Tại sao nghiên cứu?</a:t>
            </a:r>
            <a:endParaRPr lang="en-US" sz="1300" dirty="0"/>
          </a:p>
        </p:txBody>
      </p:sp>
      <p:sp>
        <p:nvSpPr>
          <p:cNvPr id="16" name="Shape 14"/>
          <p:cNvSpPr/>
          <p:nvPr/>
        </p:nvSpPr>
        <p:spPr>
          <a:xfrm>
            <a:off x="1828800" y="1892808"/>
            <a:ext cx="128016" cy="0"/>
          </a:xfrm>
          <a:prstGeom prst="line">
            <a:avLst/>
          </a:prstGeom>
          <a:noFill/>
          <a:ln w="19050">
            <a:solidFill>
              <a:srgbClr val="CCCCCC"/>
            </a:solidFill>
            <a:prstDash val="solid"/>
          </a:ln>
        </p:spPr>
      </p:sp>
      <p:sp>
        <p:nvSpPr>
          <p:cNvPr id="17" name="Shape 15"/>
          <p:cNvSpPr/>
          <p:nvPr/>
        </p:nvSpPr>
        <p:spPr>
          <a:xfrm>
            <a:off x="1975104" y="1572768"/>
            <a:ext cx="1572768" cy="658368"/>
          </a:xfrm>
          <a:prstGeom prst="rect">
            <a:avLst/>
          </a:prstGeom>
          <a:solidFill>
            <a:srgbClr val="1A7BC1"/>
          </a:solidFill>
          <a:ln w="12700">
            <a:solidFill>
              <a:srgbClr val="1A7BC1"/>
            </a:solidFill>
            <a:prstDash val="solid"/>
          </a:ln>
        </p:spPr>
      </p:sp>
      <p:sp>
        <p:nvSpPr>
          <p:cNvPr id="18" name="Text 16"/>
          <p:cNvSpPr/>
          <p:nvPr/>
        </p:nvSpPr>
        <p:spPr>
          <a:xfrm>
            <a:off x="1975104" y="1572768"/>
            <a:ext cx="1572768" cy="65836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M</a:t>
            </a:r>
            <a:endParaRPr lang="en-US" sz="3200" dirty="0"/>
          </a:p>
        </p:txBody>
      </p:sp>
      <p:sp>
        <p:nvSpPr>
          <p:cNvPr id="19" name="Text 17"/>
          <p:cNvSpPr/>
          <p:nvPr/>
        </p:nvSpPr>
        <p:spPr>
          <a:xfrm>
            <a:off x="1975104" y="2276856"/>
            <a:ext cx="1572768" cy="274320"/>
          </a:xfrm>
          <a:prstGeom prst="rect">
            <a:avLst/>
          </a:prstGeom>
          <a:noFill/>
          <a:ln/>
        </p:spPr>
        <p:txBody>
          <a:bodyPr wrap="square" lIns="0" tIns="0" rIns="0" bIns="0" rtlCol="0" anchor="ctr"/>
          <a:lstStyle/>
          <a:p>
            <a:pPr marL="0" indent="0" algn="ctr">
              <a:buNone/>
            </a:pPr>
            <a:r>
              <a:rPr lang="en-US" sz="1300" b="1" dirty="0">
                <a:solidFill>
                  <a:srgbClr val="1A7BC1"/>
                </a:solidFill>
                <a:latin typeface="Calibri" pitchFamily="34" charset="0"/>
                <a:ea typeface="Calibri" pitchFamily="34" charset="-122"/>
                <a:cs typeface="Calibri" pitchFamily="34" charset="-120"/>
              </a:rPr>
              <a:t>Methods</a:t>
            </a:r>
            <a:endParaRPr lang="en-US" sz="1300" dirty="0"/>
          </a:p>
        </p:txBody>
      </p:sp>
      <p:sp>
        <p:nvSpPr>
          <p:cNvPr id="20" name="Text 18"/>
          <p:cNvSpPr/>
          <p:nvPr/>
        </p:nvSpPr>
        <p:spPr>
          <a:xfrm>
            <a:off x="1975104" y="2560320"/>
            <a:ext cx="1572768" cy="228600"/>
          </a:xfrm>
          <a:prstGeom prst="rect">
            <a:avLst/>
          </a:prstGeom>
          <a:noFill/>
          <a:ln/>
        </p:spPr>
        <p:txBody>
          <a:bodyPr wrap="square" lIns="0" tIns="0" rIns="0" bIns="0" rtlCol="0" anchor="ctr"/>
          <a:lstStyle/>
          <a:p>
            <a:pPr marL="0" indent="0" algn="ctr">
              <a:buNone/>
            </a:pPr>
            <a:r>
              <a:rPr lang="en-US" sz="1300" dirty="0">
                <a:solidFill>
                  <a:srgbClr val="555555"/>
                </a:solidFill>
                <a:latin typeface="Calibri" pitchFamily="34" charset="0"/>
                <a:ea typeface="Calibri" pitchFamily="34" charset="-122"/>
                <a:cs typeface="Calibri" pitchFamily="34" charset="-120"/>
              </a:rPr>
              <a:t>Phương pháp</a:t>
            </a:r>
            <a:endParaRPr lang="en-US" sz="1300" dirty="0"/>
          </a:p>
        </p:txBody>
      </p:sp>
      <p:sp>
        <p:nvSpPr>
          <p:cNvPr id="21" name="Shape 19"/>
          <p:cNvSpPr/>
          <p:nvPr/>
        </p:nvSpPr>
        <p:spPr>
          <a:xfrm>
            <a:off x="2029968" y="2816352"/>
            <a:ext cx="1463040" cy="502920"/>
          </a:xfrm>
          <a:prstGeom prst="rect">
            <a:avLst/>
          </a:prstGeom>
          <a:solidFill>
            <a:srgbClr val="F8F8F8"/>
          </a:solidFill>
          <a:ln w="6350">
            <a:solidFill>
              <a:srgbClr val="CCCCCC"/>
            </a:solidFill>
            <a:prstDash val="solid"/>
          </a:ln>
        </p:spPr>
      </p:sp>
      <p:sp>
        <p:nvSpPr>
          <p:cNvPr id="22" name="Text 20"/>
          <p:cNvSpPr/>
          <p:nvPr/>
        </p:nvSpPr>
        <p:spPr>
          <a:xfrm>
            <a:off x="2048256" y="2834640"/>
            <a:ext cx="1426464" cy="466344"/>
          </a:xfrm>
          <a:prstGeom prst="rect">
            <a:avLst/>
          </a:prstGeom>
          <a:noFill/>
          <a:ln/>
        </p:spPr>
        <p:txBody>
          <a:bodyPr wrap="square" lIns="0" tIns="0" rIns="0" bIns="0" rtlCol="0" anchor="ctr"/>
          <a:lstStyle/>
          <a:p>
            <a:pPr marL="0" indent="0" algn="ctr">
              <a:buNone/>
            </a:pPr>
            <a:r>
              <a:rPr lang="en-US" sz="1300" dirty="0">
                <a:solidFill>
                  <a:srgbClr val="2B2F77"/>
                </a:solidFill>
                <a:latin typeface="Calibri" pitchFamily="34" charset="0"/>
                <a:ea typeface="Calibri" pitchFamily="34" charset="-122"/>
                <a:cs typeface="Calibri" pitchFamily="34" charset="-120"/>
              </a:rPr>
              <a:t>Làm gì?</a:t>
            </a:r>
            <a:endParaRPr lang="en-US" sz="1300" dirty="0"/>
          </a:p>
          <a:p>
            <a:pPr marL="0" indent="0" algn="ctr">
              <a:buNone/>
            </a:pPr>
            <a:r>
              <a:rPr lang="en-US" sz="1300" dirty="0">
                <a:solidFill>
                  <a:srgbClr val="2B2F77"/>
                </a:solidFill>
                <a:latin typeface="Calibri" pitchFamily="34" charset="0"/>
                <a:ea typeface="Calibri" pitchFamily="34" charset="-122"/>
                <a:cs typeface="Calibri" pitchFamily="34" charset="-120"/>
              </a:rPr>
              <a:t>Làm thế nào?</a:t>
            </a:r>
            <a:endParaRPr lang="en-US" sz="1300" dirty="0"/>
          </a:p>
        </p:txBody>
      </p:sp>
      <p:sp>
        <p:nvSpPr>
          <p:cNvPr id="23" name="Shape 21"/>
          <p:cNvSpPr/>
          <p:nvPr/>
        </p:nvSpPr>
        <p:spPr>
          <a:xfrm>
            <a:off x="3575304" y="1892808"/>
            <a:ext cx="128016" cy="0"/>
          </a:xfrm>
          <a:prstGeom prst="line">
            <a:avLst/>
          </a:prstGeom>
          <a:noFill/>
          <a:ln w="19050">
            <a:solidFill>
              <a:srgbClr val="CCCCCC"/>
            </a:solidFill>
            <a:prstDash val="solid"/>
          </a:ln>
        </p:spPr>
      </p:sp>
      <p:sp>
        <p:nvSpPr>
          <p:cNvPr id="24" name="Shape 22"/>
          <p:cNvSpPr/>
          <p:nvPr/>
        </p:nvSpPr>
        <p:spPr>
          <a:xfrm>
            <a:off x="3721608" y="1572768"/>
            <a:ext cx="1572768" cy="658368"/>
          </a:xfrm>
          <a:prstGeom prst="rect">
            <a:avLst/>
          </a:prstGeom>
          <a:solidFill>
            <a:srgbClr val="1A9B5F"/>
          </a:solidFill>
          <a:ln w="12700">
            <a:solidFill>
              <a:srgbClr val="1A9B5F"/>
            </a:solidFill>
            <a:prstDash val="solid"/>
          </a:ln>
        </p:spPr>
      </p:sp>
      <p:sp>
        <p:nvSpPr>
          <p:cNvPr id="25" name="Text 23"/>
          <p:cNvSpPr/>
          <p:nvPr/>
        </p:nvSpPr>
        <p:spPr>
          <a:xfrm>
            <a:off x="3721608" y="1572768"/>
            <a:ext cx="1572768" cy="65836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R</a:t>
            </a:r>
            <a:endParaRPr lang="en-US" sz="3200" dirty="0"/>
          </a:p>
        </p:txBody>
      </p:sp>
      <p:sp>
        <p:nvSpPr>
          <p:cNvPr id="26" name="Text 24"/>
          <p:cNvSpPr/>
          <p:nvPr/>
        </p:nvSpPr>
        <p:spPr>
          <a:xfrm>
            <a:off x="3721608" y="2276856"/>
            <a:ext cx="1572768" cy="274320"/>
          </a:xfrm>
          <a:prstGeom prst="rect">
            <a:avLst/>
          </a:prstGeom>
          <a:noFill/>
          <a:ln/>
        </p:spPr>
        <p:txBody>
          <a:bodyPr wrap="square" lIns="0" tIns="0" rIns="0" bIns="0" rtlCol="0" anchor="ctr"/>
          <a:lstStyle/>
          <a:p>
            <a:pPr marL="0" indent="0" algn="ctr">
              <a:buNone/>
            </a:pPr>
            <a:r>
              <a:rPr lang="en-US" sz="1300" b="1" dirty="0">
                <a:solidFill>
                  <a:srgbClr val="1A9B5F"/>
                </a:solidFill>
                <a:latin typeface="Calibri" pitchFamily="34" charset="0"/>
                <a:ea typeface="Calibri" pitchFamily="34" charset="-122"/>
                <a:cs typeface="Calibri" pitchFamily="34" charset="-120"/>
              </a:rPr>
              <a:t>Results</a:t>
            </a:r>
            <a:endParaRPr lang="en-US" sz="1300" dirty="0"/>
          </a:p>
        </p:txBody>
      </p:sp>
      <p:sp>
        <p:nvSpPr>
          <p:cNvPr id="27" name="Text 25"/>
          <p:cNvSpPr/>
          <p:nvPr/>
        </p:nvSpPr>
        <p:spPr>
          <a:xfrm>
            <a:off x="3721608" y="2560320"/>
            <a:ext cx="1572768" cy="228600"/>
          </a:xfrm>
          <a:prstGeom prst="rect">
            <a:avLst/>
          </a:prstGeom>
          <a:noFill/>
          <a:ln/>
        </p:spPr>
        <p:txBody>
          <a:bodyPr wrap="square" lIns="0" tIns="0" rIns="0" bIns="0" rtlCol="0" anchor="ctr"/>
          <a:lstStyle/>
          <a:p>
            <a:pPr marL="0" indent="0" algn="ctr">
              <a:buNone/>
            </a:pPr>
            <a:r>
              <a:rPr lang="en-US" sz="1300" dirty="0">
                <a:solidFill>
                  <a:srgbClr val="555555"/>
                </a:solidFill>
                <a:latin typeface="Calibri" pitchFamily="34" charset="0"/>
                <a:ea typeface="Calibri" pitchFamily="34" charset="-122"/>
                <a:cs typeface="Calibri" pitchFamily="34" charset="-120"/>
              </a:rPr>
              <a:t>Kết quả</a:t>
            </a:r>
            <a:endParaRPr lang="en-US" sz="1300" dirty="0"/>
          </a:p>
        </p:txBody>
      </p:sp>
      <p:sp>
        <p:nvSpPr>
          <p:cNvPr id="28" name="Shape 26"/>
          <p:cNvSpPr/>
          <p:nvPr/>
        </p:nvSpPr>
        <p:spPr>
          <a:xfrm>
            <a:off x="3776472" y="2816352"/>
            <a:ext cx="1463040" cy="502920"/>
          </a:xfrm>
          <a:prstGeom prst="rect">
            <a:avLst/>
          </a:prstGeom>
          <a:solidFill>
            <a:srgbClr val="F8F8F8"/>
          </a:solidFill>
          <a:ln w="6350">
            <a:solidFill>
              <a:srgbClr val="CCCCCC"/>
            </a:solidFill>
            <a:prstDash val="solid"/>
          </a:ln>
        </p:spPr>
      </p:sp>
      <p:sp>
        <p:nvSpPr>
          <p:cNvPr id="29" name="Text 27"/>
          <p:cNvSpPr/>
          <p:nvPr/>
        </p:nvSpPr>
        <p:spPr>
          <a:xfrm>
            <a:off x="3794760" y="2834640"/>
            <a:ext cx="1426464" cy="466344"/>
          </a:xfrm>
          <a:prstGeom prst="rect">
            <a:avLst/>
          </a:prstGeom>
          <a:noFill/>
          <a:ln/>
        </p:spPr>
        <p:txBody>
          <a:bodyPr wrap="square" lIns="0" tIns="0" rIns="0" bIns="0" rtlCol="0" anchor="ctr"/>
          <a:lstStyle/>
          <a:p>
            <a:pPr marL="0" indent="0" algn="ctr">
              <a:buNone/>
            </a:pPr>
            <a:r>
              <a:rPr lang="en-US" sz="1300" dirty="0">
                <a:solidFill>
                  <a:srgbClr val="2B2F77"/>
                </a:solidFill>
                <a:latin typeface="Calibri" pitchFamily="34" charset="0"/>
                <a:ea typeface="Calibri" pitchFamily="34" charset="-122"/>
                <a:cs typeface="Calibri" pitchFamily="34" charset="-120"/>
              </a:rPr>
              <a:t>Tìm ra điều gì?</a:t>
            </a:r>
            <a:endParaRPr lang="en-US" sz="1300" dirty="0"/>
          </a:p>
        </p:txBody>
      </p:sp>
      <p:sp>
        <p:nvSpPr>
          <p:cNvPr id="30" name="Shape 28"/>
          <p:cNvSpPr/>
          <p:nvPr/>
        </p:nvSpPr>
        <p:spPr>
          <a:xfrm>
            <a:off x="5321808" y="1892808"/>
            <a:ext cx="128016" cy="0"/>
          </a:xfrm>
          <a:prstGeom prst="line">
            <a:avLst/>
          </a:prstGeom>
          <a:noFill/>
          <a:ln w="19050">
            <a:solidFill>
              <a:srgbClr val="CCCCCC"/>
            </a:solidFill>
            <a:prstDash val="solid"/>
          </a:ln>
        </p:spPr>
      </p:sp>
      <p:sp>
        <p:nvSpPr>
          <p:cNvPr id="31" name="Shape 29"/>
          <p:cNvSpPr/>
          <p:nvPr/>
        </p:nvSpPr>
        <p:spPr>
          <a:xfrm>
            <a:off x="5468112" y="1572768"/>
            <a:ext cx="1572768" cy="658368"/>
          </a:xfrm>
          <a:prstGeom prst="rect">
            <a:avLst/>
          </a:prstGeom>
          <a:solidFill>
            <a:srgbClr val="F5A623"/>
          </a:solidFill>
          <a:ln w="12700">
            <a:solidFill>
              <a:srgbClr val="F5A623"/>
            </a:solidFill>
            <a:prstDash val="solid"/>
          </a:ln>
        </p:spPr>
      </p:sp>
      <p:sp>
        <p:nvSpPr>
          <p:cNvPr id="32" name="Text 30"/>
          <p:cNvSpPr/>
          <p:nvPr/>
        </p:nvSpPr>
        <p:spPr>
          <a:xfrm>
            <a:off x="5468112" y="1572768"/>
            <a:ext cx="1572768" cy="65836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A+D</a:t>
            </a:r>
            <a:endParaRPr lang="en-US" sz="3200" dirty="0"/>
          </a:p>
        </p:txBody>
      </p:sp>
      <p:sp>
        <p:nvSpPr>
          <p:cNvPr id="33" name="Text 31"/>
          <p:cNvSpPr/>
          <p:nvPr/>
        </p:nvSpPr>
        <p:spPr>
          <a:xfrm>
            <a:off x="5468112" y="2276856"/>
            <a:ext cx="1572768" cy="274320"/>
          </a:xfrm>
          <a:prstGeom prst="rect">
            <a:avLst/>
          </a:prstGeom>
          <a:noFill/>
          <a:ln/>
        </p:spPr>
        <p:txBody>
          <a:bodyPr wrap="square" lIns="0" tIns="0" rIns="0" bIns="0"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Discussion</a:t>
            </a:r>
            <a:endParaRPr lang="en-US" sz="1300" dirty="0"/>
          </a:p>
        </p:txBody>
      </p:sp>
      <p:sp>
        <p:nvSpPr>
          <p:cNvPr id="34" name="Text 32"/>
          <p:cNvSpPr/>
          <p:nvPr/>
        </p:nvSpPr>
        <p:spPr>
          <a:xfrm>
            <a:off x="5468112" y="2560320"/>
            <a:ext cx="1572768" cy="228600"/>
          </a:xfrm>
          <a:prstGeom prst="rect">
            <a:avLst/>
          </a:prstGeom>
          <a:noFill/>
          <a:ln/>
        </p:spPr>
        <p:txBody>
          <a:bodyPr wrap="square" lIns="0" tIns="0" rIns="0" bIns="0" rtlCol="0" anchor="ctr"/>
          <a:lstStyle/>
          <a:p>
            <a:pPr marL="0" indent="0" algn="ctr">
              <a:buNone/>
            </a:pPr>
            <a:r>
              <a:rPr lang="en-US" sz="1300" dirty="0">
                <a:solidFill>
                  <a:srgbClr val="555555"/>
                </a:solidFill>
                <a:latin typeface="Calibri" pitchFamily="34" charset="0"/>
                <a:ea typeface="Calibri" pitchFamily="34" charset="-122"/>
                <a:cs typeface="Calibri" pitchFamily="34" charset="-120"/>
              </a:rPr>
              <a:t>Thảo luận</a:t>
            </a:r>
            <a:endParaRPr lang="en-US" sz="1300" dirty="0"/>
          </a:p>
        </p:txBody>
      </p:sp>
      <p:sp>
        <p:nvSpPr>
          <p:cNvPr id="35" name="Shape 33"/>
          <p:cNvSpPr/>
          <p:nvPr/>
        </p:nvSpPr>
        <p:spPr>
          <a:xfrm>
            <a:off x="5522976" y="2816352"/>
            <a:ext cx="1463040" cy="502920"/>
          </a:xfrm>
          <a:prstGeom prst="rect">
            <a:avLst/>
          </a:prstGeom>
          <a:solidFill>
            <a:srgbClr val="F8F8F8"/>
          </a:solidFill>
          <a:ln w="6350">
            <a:solidFill>
              <a:srgbClr val="CCCCCC"/>
            </a:solidFill>
            <a:prstDash val="solid"/>
          </a:ln>
        </p:spPr>
      </p:sp>
      <p:sp>
        <p:nvSpPr>
          <p:cNvPr id="36" name="Text 34"/>
          <p:cNvSpPr/>
          <p:nvPr/>
        </p:nvSpPr>
        <p:spPr>
          <a:xfrm>
            <a:off x="5541264" y="2834640"/>
            <a:ext cx="1426464" cy="466344"/>
          </a:xfrm>
          <a:prstGeom prst="rect">
            <a:avLst/>
          </a:prstGeom>
          <a:noFill/>
          <a:ln/>
        </p:spPr>
        <p:txBody>
          <a:bodyPr wrap="square" lIns="0" tIns="0" rIns="0" bIns="0" rtlCol="0" anchor="ctr"/>
          <a:lstStyle/>
          <a:p>
            <a:pPr marL="0" indent="0" algn="ctr">
              <a:buNone/>
            </a:pPr>
            <a:r>
              <a:rPr lang="en-US" sz="1300" dirty="0">
                <a:solidFill>
                  <a:srgbClr val="2B2F77"/>
                </a:solidFill>
                <a:latin typeface="Calibri" pitchFamily="34" charset="0"/>
                <a:ea typeface="Calibri" pitchFamily="34" charset="-122"/>
                <a:cs typeface="Calibri" pitchFamily="34" charset="-120"/>
              </a:rPr>
              <a:t>Ý nghĩa là gì?</a:t>
            </a:r>
            <a:endParaRPr lang="en-US" sz="1300" dirty="0"/>
          </a:p>
          <a:p>
            <a:pPr marL="0" indent="0" algn="ctr">
              <a:buNone/>
            </a:pPr>
            <a:r>
              <a:rPr lang="en-US" sz="1300" dirty="0">
                <a:solidFill>
                  <a:srgbClr val="2B2F77"/>
                </a:solidFill>
                <a:latin typeface="Calibri" pitchFamily="34" charset="0"/>
                <a:ea typeface="Calibri" pitchFamily="34" charset="-122"/>
                <a:cs typeface="Calibri" pitchFamily="34" charset="-120"/>
              </a:rPr>
              <a:t>So sánh với ai?</a:t>
            </a:r>
            <a:endParaRPr lang="en-US" sz="1300" dirty="0"/>
          </a:p>
        </p:txBody>
      </p:sp>
      <p:sp>
        <p:nvSpPr>
          <p:cNvPr id="37" name="Shape 35"/>
          <p:cNvSpPr/>
          <p:nvPr/>
        </p:nvSpPr>
        <p:spPr>
          <a:xfrm>
            <a:off x="7068312" y="1892808"/>
            <a:ext cx="128016" cy="0"/>
          </a:xfrm>
          <a:prstGeom prst="line">
            <a:avLst/>
          </a:prstGeom>
          <a:noFill/>
          <a:ln w="19050">
            <a:solidFill>
              <a:srgbClr val="CCCCCC"/>
            </a:solidFill>
            <a:prstDash val="solid"/>
          </a:ln>
        </p:spPr>
      </p:sp>
      <p:sp>
        <p:nvSpPr>
          <p:cNvPr id="38" name="Shape 36"/>
          <p:cNvSpPr/>
          <p:nvPr/>
        </p:nvSpPr>
        <p:spPr>
          <a:xfrm>
            <a:off x="7214616" y="1572768"/>
            <a:ext cx="1572768" cy="658368"/>
          </a:xfrm>
          <a:prstGeom prst="rect">
            <a:avLst/>
          </a:prstGeom>
          <a:solidFill>
            <a:srgbClr val="8B1A1A"/>
          </a:solidFill>
          <a:ln w="12700">
            <a:solidFill>
              <a:srgbClr val="8B1A1A"/>
            </a:solidFill>
            <a:prstDash val="solid"/>
          </a:ln>
        </p:spPr>
      </p:sp>
      <p:sp>
        <p:nvSpPr>
          <p:cNvPr id="39" name="Text 37"/>
          <p:cNvSpPr/>
          <p:nvPr/>
        </p:nvSpPr>
        <p:spPr>
          <a:xfrm>
            <a:off x="7214616" y="1572768"/>
            <a:ext cx="1572768" cy="65836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C</a:t>
            </a:r>
            <a:endParaRPr lang="en-US" sz="3200" dirty="0"/>
          </a:p>
        </p:txBody>
      </p:sp>
      <p:sp>
        <p:nvSpPr>
          <p:cNvPr id="40" name="Text 38"/>
          <p:cNvSpPr/>
          <p:nvPr/>
        </p:nvSpPr>
        <p:spPr>
          <a:xfrm>
            <a:off x="7214616" y="2276856"/>
            <a:ext cx="1572768" cy="274320"/>
          </a:xfrm>
          <a:prstGeom prst="rect">
            <a:avLst/>
          </a:prstGeom>
          <a:noFill/>
          <a:ln/>
        </p:spPr>
        <p:txBody>
          <a:bodyPr wrap="square" lIns="0" tIns="0" rIns="0" bIns="0" rtlCol="0" anchor="ctr"/>
          <a:lstStyle/>
          <a:p>
            <a:pPr marL="0" indent="0" algn="ctr">
              <a:buNone/>
            </a:pPr>
            <a:r>
              <a:rPr lang="en-US" sz="1300" b="1" dirty="0">
                <a:solidFill>
                  <a:srgbClr val="8B1A1A"/>
                </a:solidFill>
                <a:latin typeface="Calibri" pitchFamily="34" charset="0"/>
                <a:ea typeface="Calibri" pitchFamily="34" charset="-122"/>
                <a:cs typeface="Calibri" pitchFamily="34" charset="-120"/>
              </a:rPr>
              <a:t>Conclusion</a:t>
            </a:r>
            <a:endParaRPr lang="en-US" sz="1300" dirty="0"/>
          </a:p>
        </p:txBody>
      </p:sp>
      <p:sp>
        <p:nvSpPr>
          <p:cNvPr id="41" name="Text 39"/>
          <p:cNvSpPr/>
          <p:nvPr/>
        </p:nvSpPr>
        <p:spPr>
          <a:xfrm>
            <a:off x="7214616" y="2560320"/>
            <a:ext cx="1572768" cy="228600"/>
          </a:xfrm>
          <a:prstGeom prst="rect">
            <a:avLst/>
          </a:prstGeom>
          <a:noFill/>
          <a:ln/>
        </p:spPr>
        <p:txBody>
          <a:bodyPr wrap="square" lIns="0" tIns="0" rIns="0" bIns="0" rtlCol="0" anchor="ctr"/>
          <a:lstStyle/>
          <a:p>
            <a:pPr marL="0" indent="0" algn="ctr">
              <a:buNone/>
            </a:pPr>
            <a:r>
              <a:rPr lang="en-US" sz="1300" dirty="0">
                <a:solidFill>
                  <a:srgbClr val="555555"/>
                </a:solidFill>
                <a:latin typeface="Calibri" pitchFamily="34" charset="0"/>
                <a:ea typeface="Calibri" pitchFamily="34" charset="-122"/>
                <a:cs typeface="Calibri" pitchFamily="34" charset="-120"/>
              </a:rPr>
              <a:t>Kết luận</a:t>
            </a:r>
            <a:endParaRPr lang="en-US" sz="1300" dirty="0"/>
          </a:p>
        </p:txBody>
      </p:sp>
      <p:sp>
        <p:nvSpPr>
          <p:cNvPr id="42" name="Shape 40"/>
          <p:cNvSpPr/>
          <p:nvPr/>
        </p:nvSpPr>
        <p:spPr>
          <a:xfrm>
            <a:off x="7269480" y="2816352"/>
            <a:ext cx="1463040" cy="502920"/>
          </a:xfrm>
          <a:prstGeom prst="rect">
            <a:avLst/>
          </a:prstGeom>
          <a:solidFill>
            <a:srgbClr val="F8F8F8"/>
          </a:solidFill>
          <a:ln w="6350">
            <a:solidFill>
              <a:srgbClr val="CCCCCC"/>
            </a:solidFill>
            <a:prstDash val="solid"/>
          </a:ln>
        </p:spPr>
      </p:sp>
      <p:sp>
        <p:nvSpPr>
          <p:cNvPr id="43" name="Text 41"/>
          <p:cNvSpPr/>
          <p:nvPr/>
        </p:nvSpPr>
        <p:spPr>
          <a:xfrm>
            <a:off x="7287768" y="2834640"/>
            <a:ext cx="1426464" cy="466344"/>
          </a:xfrm>
          <a:prstGeom prst="rect">
            <a:avLst/>
          </a:prstGeom>
          <a:noFill/>
          <a:ln/>
        </p:spPr>
        <p:txBody>
          <a:bodyPr wrap="square" lIns="0" tIns="0" rIns="0" bIns="0" rtlCol="0" anchor="ctr"/>
          <a:lstStyle/>
          <a:p>
            <a:pPr marL="0" indent="0" algn="ctr">
              <a:buNone/>
            </a:pPr>
            <a:r>
              <a:rPr lang="en-US" sz="1300" dirty="0">
                <a:solidFill>
                  <a:srgbClr val="2B2F77"/>
                </a:solidFill>
                <a:latin typeface="Calibri" pitchFamily="34" charset="0"/>
                <a:ea typeface="Calibri" pitchFamily="34" charset="-122"/>
                <a:cs typeface="Calibri" pitchFamily="34" charset="-120"/>
              </a:rPr>
              <a:t>Đóng góp là gì?</a:t>
            </a:r>
            <a:endParaRPr lang="en-US" sz="1300" dirty="0"/>
          </a:p>
          <a:p>
            <a:pPr marL="0" indent="0" algn="ctr">
              <a:buNone/>
            </a:pPr>
            <a:r>
              <a:rPr lang="en-US" sz="1300" dirty="0">
                <a:solidFill>
                  <a:srgbClr val="2B2F77"/>
                </a:solidFill>
                <a:latin typeface="Calibri" pitchFamily="34" charset="0"/>
                <a:ea typeface="Calibri" pitchFamily="34" charset="-122"/>
                <a:cs typeface="Calibri" pitchFamily="34" charset="-120"/>
              </a:rPr>
              <a:t>Hướng tiếp theo?</a:t>
            </a:r>
            <a:endParaRPr lang="en-US" sz="1300" dirty="0"/>
          </a:p>
        </p:txBody>
      </p:sp>
      <p:sp>
        <p:nvSpPr>
          <p:cNvPr id="44" name="Shape 42"/>
          <p:cNvSpPr/>
          <p:nvPr/>
        </p:nvSpPr>
        <p:spPr>
          <a:xfrm>
            <a:off x="228600" y="3547872"/>
            <a:ext cx="2011680" cy="347472"/>
          </a:xfrm>
          <a:prstGeom prst="rect">
            <a:avLst/>
          </a:prstGeom>
          <a:solidFill>
            <a:srgbClr val="F5A623"/>
          </a:solidFill>
          <a:ln w="12700">
            <a:solidFill>
              <a:srgbClr val="F5A623"/>
            </a:solidFill>
            <a:prstDash val="solid"/>
          </a:ln>
        </p:spPr>
      </p:sp>
      <p:sp>
        <p:nvSpPr>
          <p:cNvPr id="45" name="Text 43"/>
          <p:cNvSpPr/>
          <p:nvPr/>
        </p:nvSpPr>
        <p:spPr>
          <a:xfrm>
            <a:off x="228600" y="3547872"/>
            <a:ext cx="201168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Abstract</a:t>
            </a:r>
            <a:endParaRPr lang="en-US" sz="1600" dirty="0"/>
          </a:p>
        </p:txBody>
      </p:sp>
      <p:sp>
        <p:nvSpPr>
          <p:cNvPr id="46" name="Text 44"/>
          <p:cNvSpPr/>
          <p:nvPr/>
        </p:nvSpPr>
        <p:spPr>
          <a:xfrm>
            <a:off x="228600" y="3931920"/>
            <a:ext cx="2011680" cy="292608"/>
          </a:xfrm>
          <a:prstGeom prst="rect">
            <a:avLst/>
          </a:prstGeom>
          <a:noFill/>
          <a:ln/>
        </p:spPr>
        <p:txBody>
          <a:bodyPr wrap="square" lIns="0" tIns="0" rIns="0" bIns="0" rtlCol="0" anchor="ctr"/>
          <a:lstStyle/>
          <a:p>
            <a:pPr marL="0" indent="0" algn="ctr">
              <a:buNone/>
            </a:pPr>
            <a:r>
              <a:rPr lang="en-US" sz="1300" dirty="0">
                <a:solidFill>
                  <a:srgbClr val="555555"/>
                </a:solidFill>
                <a:latin typeface="Calibri" pitchFamily="34" charset="0"/>
                <a:ea typeface="Calibri" pitchFamily="34" charset="-122"/>
                <a:cs typeface="Calibri" pitchFamily="34" charset="-120"/>
              </a:rPr>
              <a:t>150–250 từ, tóm lược toàn bài</a:t>
            </a:r>
            <a:endParaRPr lang="en-US" sz="1300" dirty="0"/>
          </a:p>
        </p:txBody>
      </p:sp>
      <p:sp>
        <p:nvSpPr>
          <p:cNvPr id="47" name="Shape 45"/>
          <p:cNvSpPr/>
          <p:nvPr/>
        </p:nvSpPr>
        <p:spPr>
          <a:xfrm>
            <a:off x="2459736" y="3547872"/>
            <a:ext cx="2011680" cy="347472"/>
          </a:xfrm>
          <a:prstGeom prst="rect">
            <a:avLst/>
          </a:prstGeom>
          <a:solidFill>
            <a:srgbClr val="2B2F77"/>
          </a:solidFill>
          <a:ln w="12700">
            <a:solidFill>
              <a:srgbClr val="2B2F77"/>
            </a:solidFill>
            <a:prstDash val="solid"/>
          </a:ln>
        </p:spPr>
      </p:sp>
      <p:sp>
        <p:nvSpPr>
          <p:cNvPr id="48" name="Text 46"/>
          <p:cNvSpPr/>
          <p:nvPr/>
        </p:nvSpPr>
        <p:spPr>
          <a:xfrm>
            <a:off x="2459736" y="3547872"/>
            <a:ext cx="201168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Title</a:t>
            </a:r>
            <a:endParaRPr lang="en-US" sz="1600" dirty="0"/>
          </a:p>
        </p:txBody>
      </p:sp>
      <p:sp>
        <p:nvSpPr>
          <p:cNvPr id="49" name="Text 47"/>
          <p:cNvSpPr/>
          <p:nvPr/>
        </p:nvSpPr>
        <p:spPr>
          <a:xfrm>
            <a:off x="2459736" y="3931920"/>
            <a:ext cx="2011680" cy="292608"/>
          </a:xfrm>
          <a:prstGeom prst="rect">
            <a:avLst/>
          </a:prstGeom>
          <a:noFill/>
          <a:ln/>
        </p:spPr>
        <p:txBody>
          <a:bodyPr wrap="square" lIns="0" tIns="0" rIns="0" bIns="0" rtlCol="0" anchor="ctr"/>
          <a:lstStyle/>
          <a:p>
            <a:pPr marL="0" indent="0" algn="ctr">
              <a:buNone/>
            </a:pPr>
            <a:r>
              <a:rPr lang="en-US" sz="1300" dirty="0">
                <a:solidFill>
                  <a:srgbClr val="555555"/>
                </a:solidFill>
                <a:latin typeface="Calibri" pitchFamily="34" charset="0"/>
                <a:ea typeface="Calibri" pitchFamily="34" charset="-122"/>
                <a:cs typeface="Calibri" pitchFamily="34" charset="-120"/>
              </a:rPr>
              <a:t>10–15 từ, chứa từ khóa</a:t>
            </a:r>
            <a:endParaRPr lang="en-US" sz="1300" dirty="0"/>
          </a:p>
        </p:txBody>
      </p:sp>
      <p:sp>
        <p:nvSpPr>
          <p:cNvPr id="50" name="Shape 48"/>
          <p:cNvSpPr/>
          <p:nvPr/>
        </p:nvSpPr>
        <p:spPr>
          <a:xfrm>
            <a:off x="4690872" y="3547872"/>
            <a:ext cx="2011680" cy="347472"/>
          </a:xfrm>
          <a:prstGeom prst="rect">
            <a:avLst/>
          </a:prstGeom>
          <a:solidFill>
            <a:srgbClr val="1A7BC1"/>
          </a:solidFill>
          <a:ln w="12700">
            <a:solidFill>
              <a:srgbClr val="1A7BC1"/>
            </a:solidFill>
            <a:prstDash val="solid"/>
          </a:ln>
        </p:spPr>
      </p:sp>
      <p:sp>
        <p:nvSpPr>
          <p:cNvPr id="51" name="Text 49"/>
          <p:cNvSpPr/>
          <p:nvPr/>
        </p:nvSpPr>
        <p:spPr>
          <a:xfrm>
            <a:off x="4690872" y="3547872"/>
            <a:ext cx="201168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Keywords</a:t>
            </a:r>
            <a:endParaRPr lang="en-US" sz="1600" dirty="0"/>
          </a:p>
        </p:txBody>
      </p:sp>
      <p:sp>
        <p:nvSpPr>
          <p:cNvPr id="52" name="Text 50"/>
          <p:cNvSpPr/>
          <p:nvPr/>
        </p:nvSpPr>
        <p:spPr>
          <a:xfrm>
            <a:off x="4690872" y="3931920"/>
            <a:ext cx="2011680" cy="292608"/>
          </a:xfrm>
          <a:prstGeom prst="rect">
            <a:avLst/>
          </a:prstGeom>
          <a:noFill/>
          <a:ln/>
        </p:spPr>
        <p:txBody>
          <a:bodyPr wrap="square" lIns="0" tIns="0" rIns="0" bIns="0" rtlCol="0" anchor="ctr"/>
          <a:lstStyle/>
          <a:p>
            <a:pPr marL="0" indent="0" algn="ctr">
              <a:buNone/>
            </a:pPr>
            <a:r>
              <a:rPr lang="en-US" sz="1300" dirty="0">
                <a:solidFill>
                  <a:srgbClr val="555555"/>
                </a:solidFill>
                <a:latin typeface="Calibri" pitchFamily="34" charset="0"/>
                <a:ea typeface="Calibri" pitchFamily="34" charset="-122"/>
                <a:cs typeface="Calibri" pitchFamily="34" charset="-120"/>
              </a:rPr>
              <a:t>5–7 từ khóa, dễ tìm kiếm</a:t>
            </a:r>
            <a:endParaRPr lang="en-US" sz="1300" dirty="0"/>
          </a:p>
        </p:txBody>
      </p:sp>
      <p:sp>
        <p:nvSpPr>
          <p:cNvPr id="53" name="Shape 51"/>
          <p:cNvSpPr/>
          <p:nvPr/>
        </p:nvSpPr>
        <p:spPr>
          <a:xfrm>
            <a:off x="6922008" y="3547872"/>
            <a:ext cx="2011680" cy="347472"/>
          </a:xfrm>
          <a:prstGeom prst="rect">
            <a:avLst/>
          </a:prstGeom>
          <a:solidFill>
            <a:srgbClr val="555555"/>
          </a:solidFill>
          <a:ln w="12700">
            <a:solidFill>
              <a:srgbClr val="555555"/>
            </a:solidFill>
            <a:prstDash val="solid"/>
          </a:ln>
        </p:spPr>
      </p:sp>
      <p:sp>
        <p:nvSpPr>
          <p:cNvPr id="54" name="Text 52"/>
          <p:cNvSpPr/>
          <p:nvPr/>
        </p:nvSpPr>
        <p:spPr>
          <a:xfrm>
            <a:off x="6922008" y="3547872"/>
            <a:ext cx="201168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References</a:t>
            </a:r>
            <a:endParaRPr lang="en-US" sz="1600" dirty="0"/>
          </a:p>
        </p:txBody>
      </p:sp>
      <p:sp>
        <p:nvSpPr>
          <p:cNvPr id="55" name="Text 53"/>
          <p:cNvSpPr/>
          <p:nvPr/>
        </p:nvSpPr>
        <p:spPr>
          <a:xfrm>
            <a:off x="6922008" y="3931920"/>
            <a:ext cx="2011680" cy="292608"/>
          </a:xfrm>
          <a:prstGeom prst="rect">
            <a:avLst/>
          </a:prstGeom>
          <a:noFill/>
          <a:ln/>
        </p:spPr>
        <p:txBody>
          <a:bodyPr wrap="square" lIns="0" tIns="0" rIns="0" bIns="0" rtlCol="0" anchor="ctr"/>
          <a:lstStyle/>
          <a:p>
            <a:pPr marL="0" indent="0" algn="ctr">
              <a:buNone/>
            </a:pPr>
            <a:r>
              <a:rPr lang="en-US" sz="1300" dirty="0">
                <a:solidFill>
                  <a:srgbClr val="555555"/>
                </a:solidFill>
                <a:latin typeface="Calibri" pitchFamily="34" charset="0"/>
                <a:ea typeface="Calibri" pitchFamily="34" charset="-122"/>
                <a:cs typeface="Calibri" pitchFamily="34" charset="-120"/>
              </a:rPr>
              <a:t>Tất cả tài liệu được trích dẫn</a:t>
            </a:r>
            <a:endParaRPr lang="en-US" sz="1300" dirty="0"/>
          </a:p>
        </p:txBody>
      </p:sp>
      <p:sp>
        <p:nvSpPr>
          <p:cNvPr id="56" name="Shape 54"/>
          <p:cNvSpPr/>
          <p:nvPr/>
        </p:nvSpPr>
        <p:spPr>
          <a:xfrm>
            <a:off x="228600" y="4370832"/>
            <a:ext cx="8686800" cy="329184"/>
          </a:xfrm>
          <a:prstGeom prst="rect">
            <a:avLst/>
          </a:prstGeom>
          <a:solidFill>
            <a:srgbClr val="FFF8EE"/>
          </a:solidFill>
          <a:ln w="19050">
            <a:solidFill>
              <a:srgbClr val="F5A623"/>
            </a:solidFill>
            <a:prstDash val="solid"/>
          </a:ln>
        </p:spPr>
      </p:sp>
      <p:sp>
        <p:nvSpPr>
          <p:cNvPr id="57" name="Shape 55"/>
          <p:cNvSpPr/>
          <p:nvPr/>
        </p:nvSpPr>
        <p:spPr>
          <a:xfrm>
            <a:off x="228600" y="4370832"/>
            <a:ext cx="109728" cy="329184"/>
          </a:xfrm>
          <a:prstGeom prst="rect">
            <a:avLst/>
          </a:prstGeom>
          <a:solidFill>
            <a:srgbClr val="F5A623"/>
          </a:solidFill>
          <a:ln w="12700">
            <a:solidFill>
              <a:srgbClr val="F5A623"/>
            </a:solidFill>
            <a:prstDash val="solid"/>
          </a:ln>
        </p:spPr>
      </p:sp>
      <p:sp>
        <p:nvSpPr>
          <p:cNvPr id="58" name="Text 56"/>
          <p:cNvSpPr/>
          <p:nvPr/>
        </p:nvSpPr>
        <p:spPr>
          <a:xfrm>
            <a:off x="411480" y="4389120"/>
            <a:ext cx="8412480" cy="292608"/>
          </a:xfrm>
          <a:prstGeom prst="rect">
            <a:avLst/>
          </a:prstGeom>
          <a:noFill/>
          <a:ln/>
        </p:spPr>
        <p:txBody>
          <a:bodyPr wrap="non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  KT/XH/GD: Giới thiệu → Tổng quan NC → Phương pháp → Kết quả &amp; Thảo luận → Kết luận &amp; Khuyến nghị</a:t>
            </a:r>
            <a:endParaRPr lang="en-US" sz="1500" dirty="0"/>
          </a:p>
        </p:txBody>
      </p:sp>
      <p:sp>
        <p:nvSpPr>
          <p:cNvPr id="59" name="Shape 57"/>
          <p:cNvSpPr/>
          <p:nvPr/>
        </p:nvSpPr>
        <p:spPr>
          <a:xfrm>
            <a:off x="2011680" y="4846320"/>
            <a:ext cx="7040880" cy="36576"/>
          </a:xfrm>
          <a:prstGeom prst="rect">
            <a:avLst/>
          </a:prstGeom>
          <a:solidFill>
            <a:srgbClr val="F5A623"/>
          </a:solidFill>
          <a:ln w="12700">
            <a:solidFill>
              <a:srgbClr val="F5A623"/>
            </a:solidFill>
            <a:prstDash val="solid"/>
          </a:ln>
        </p:spPr>
      </p:sp>
      <p:pic>
        <p:nvPicPr>
          <p:cNvPr id="60"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61" name="Text 58"/>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62" name="Text 59"/>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Bí quyết: Thứ tự VIẾT khác thứ tự ĐỌC</a:t>
            </a:r>
            <a:endParaRPr lang="en-US" sz="2600" dirty="0"/>
          </a:p>
        </p:txBody>
      </p:sp>
      <p:sp>
        <p:nvSpPr>
          <p:cNvPr id="10" name="Shape 8"/>
          <p:cNvSpPr/>
          <p:nvPr/>
        </p:nvSpPr>
        <p:spPr>
          <a:xfrm>
            <a:off x="274320" y="1572768"/>
            <a:ext cx="4023360" cy="438912"/>
          </a:xfrm>
          <a:prstGeom prst="rect">
            <a:avLst/>
          </a:prstGeom>
          <a:solidFill>
            <a:srgbClr val="2B2F77"/>
          </a:solidFill>
          <a:ln w="12700">
            <a:solidFill>
              <a:srgbClr val="2B2F77"/>
            </a:solidFill>
            <a:prstDash val="solid"/>
          </a:ln>
        </p:spPr>
      </p:sp>
      <p:sp>
        <p:nvSpPr>
          <p:cNvPr id="11" name="Text 9"/>
          <p:cNvSpPr/>
          <p:nvPr/>
        </p:nvSpPr>
        <p:spPr>
          <a:xfrm>
            <a:off x="274320" y="1572768"/>
            <a:ext cx="4023360"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Thứ tự ĐỌC (trình bày)</a:t>
            </a:r>
            <a:endParaRPr lang="en-US" sz="1800" dirty="0"/>
          </a:p>
        </p:txBody>
      </p:sp>
      <p:sp>
        <p:nvSpPr>
          <p:cNvPr id="12" name="Shape 10"/>
          <p:cNvSpPr/>
          <p:nvPr/>
        </p:nvSpPr>
        <p:spPr>
          <a:xfrm>
            <a:off x="4846320" y="1572768"/>
            <a:ext cx="4023360" cy="438912"/>
          </a:xfrm>
          <a:prstGeom prst="rect">
            <a:avLst/>
          </a:prstGeom>
          <a:solidFill>
            <a:srgbClr val="F5A623"/>
          </a:solidFill>
          <a:ln w="12700">
            <a:solidFill>
              <a:srgbClr val="F5A623"/>
            </a:solidFill>
            <a:prstDash val="solid"/>
          </a:ln>
        </p:spPr>
      </p:sp>
      <p:sp>
        <p:nvSpPr>
          <p:cNvPr id="13" name="Text 11"/>
          <p:cNvSpPr/>
          <p:nvPr/>
        </p:nvSpPr>
        <p:spPr>
          <a:xfrm>
            <a:off x="4846320" y="1572768"/>
            <a:ext cx="4023360"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Thứ tự VIẾT (khuyến nghị)</a:t>
            </a:r>
            <a:endParaRPr lang="en-US" sz="1800" dirty="0"/>
          </a:p>
        </p:txBody>
      </p:sp>
      <p:sp>
        <p:nvSpPr>
          <p:cNvPr id="14" name="Shape 12"/>
          <p:cNvSpPr/>
          <p:nvPr/>
        </p:nvSpPr>
        <p:spPr>
          <a:xfrm>
            <a:off x="274320" y="2066544"/>
            <a:ext cx="4023360" cy="256032"/>
          </a:xfrm>
          <a:prstGeom prst="rect">
            <a:avLst/>
          </a:prstGeom>
          <a:solidFill>
            <a:srgbClr val="F0F4FF"/>
          </a:solidFill>
          <a:ln w="6350">
            <a:solidFill>
              <a:srgbClr val="CCCCCC"/>
            </a:solidFill>
            <a:prstDash val="solid"/>
          </a:ln>
        </p:spPr>
      </p:sp>
      <p:sp>
        <p:nvSpPr>
          <p:cNvPr id="15" name="Text 13"/>
          <p:cNvSpPr/>
          <p:nvPr/>
        </p:nvSpPr>
        <p:spPr>
          <a:xfrm>
            <a:off x="411480" y="2103120"/>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1. Title</a:t>
            </a:r>
            <a:endParaRPr lang="en-US" sz="1600" dirty="0"/>
          </a:p>
        </p:txBody>
      </p:sp>
      <p:sp>
        <p:nvSpPr>
          <p:cNvPr id="16" name="Shape 14"/>
          <p:cNvSpPr/>
          <p:nvPr/>
        </p:nvSpPr>
        <p:spPr>
          <a:xfrm>
            <a:off x="274320" y="2359152"/>
            <a:ext cx="4023360" cy="256032"/>
          </a:xfrm>
          <a:prstGeom prst="rect">
            <a:avLst/>
          </a:prstGeom>
          <a:solidFill>
            <a:srgbClr val="FFFFFF"/>
          </a:solidFill>
          <a:ln w="6350">
            <a:solidFill>
              <a:srgbClr val="CCCCCC"/>
            </a:solidFill>
            <a:prstDash val="solid"/>
          </a:ln>
        </p:spPr>
      </p:sp>
      <p:sp>
        <p:nvSpPr>
          <p:cNvPr id="17" name="Text 15"/>
          <p:cNvSpPr/>
          <p:nvPr/>
        </p:nvSpPr>
        <p:spPr>
          <a:xfrm>
            <a:off x="411480" y="2395728"/>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2. Abstract</a:t>
            </a:r>
            <a:endParaRPr lang="en-US" sz="1600" dirty="0"/>
          </a:p>
        </p:txBody>
      </p:sp>
      <p:sp>
        <p:nvSpPr>
          <p:cNvPr id="18" name="Shape 16"/>
          <p:cNvSpPr/>
          <p:nvPr/>
        </p:nvSpPr>
        <p:spPr>
          <a:xfrm>
            <a:off x="274320" y="2651760"/>
            <a:ext cx="4023360" cy="256032"/>
          </a:xfrm>
          <a:prstGeom prst="rect">
            <a:avLst/>
          </a:prstGeom>
          <a:solidFill>
            <a:srgbClr val="F0F4FF"/>
          </a:solidFill>
          <a:ln w="6350">
            <a:solidFill>
              <a:srgbClr val="CCCCCC"/>
            </a:solidFill>
            <a:prstDash val="solid"/>
          </a:ln>
        </p:spPr>
      </p:sp>
      <p:sp>
        <p:nvSpPr>
          <p:cNvPr id="19" name="Text 17"/>
          <p:cNvSpPr/>
          <p:nvPr/>
        </p:nvSpPr>
        <p:spPr>
          <a:xfrm>
            <a:off x="411480" y="2688336"/>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3. Keywords</a:t>
            </a:r>
            <a:endParaRPr lang="en-US" sz="1600" dirty="0"/>
          </a:p>
        </p:txBody>
      </p:sp>
      <p:sp>
        <p:nvSpPr>
          <p:cNvPr id="20" name="Shape 18"/>
          <p:cNvSpPr/>
          <p:nvPr/>
        </p:nvSpPr>
        <p:spPr>
          <a:xfrm>
            <a:off x="274320" y="2944368"/>
            <a:ext cx="4023360" cy="256032"/>
          </a:xfrm>
          <a:prstGeom prst="rect">
            <a:avLst/>
          </a:prstGeom>
          <a:solidFill>
            <a:srgbClr val="FFFFFF"/>
          </a:solidFill>
          <a:ln w="6350">
            <a:solidFill>
              <a:srgbClr val="CCCCCC"/>
            </a:solidFill>
            <a:prstDash val="solid"/>
          </a:ln>
        </p:spPr>
      </p:sp>
      <p:sp>
        <p:nvSpPr>
          <p:cNvPr id="21" name="Text 19"/>
          <p:cNvSpPr/>
          <p:nvPr/>
        </p:nvSpPr>
        <p:spPr>
          <a:xfrm>
            <a:off x="411480" y="2980944"/>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4. Introduction</a:t>
            </a:r>
            <a:endParaRPr lang="en-US" sz="1600" dirty="0"/>
          </a:p>
        </p:txBody>
      </p:sp>
      <p:sp>
        <p:nvSpPr>
          <p:cNvPr id="22" name="Shape 20"/>
          <p:cNvSpPr/>
          <p:nvPr/>
        </p:nvSpPr>
        <p:spPr>
          <a:xfrm>
            <a:off x="274320" y="3236976"/>
            <a:ext cx="4023360" cy="256032"/>
          </a:xfrm>
          <a:prstGeom prst="rect">
            <a:avLst/>
          </a:prstGeom>
          <a:solidFill>
            <a:srgbClr val="F0F4FF"/>
          </a:solidFill>
          <a:ln w="6350">
            <a:solidFill>
              <a:srgbClr val="CCCCCC"/>
            </a:solidFill>
            <a:prstDash val="solid"/>
          </a:ln>
        </p:spPr>
      </p:sp>
      <p:sp>
        <p:nvSpPr>
          <p:cNvPr id="23" name="Text 21"/>
          <p:cNvSpPr/>
          <p:nvPr/>
        </p:nvSpPr>
        <p:spPr>
          <a:xfrm>
            <a:off x="411480" y="3273552"/>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5. Methods</a:t>
            </a:r>
            <a:endParaRPr lang="en-US" sz="1600" dirty="0"/>
          </a:p>
        </p:txBody>
      </p:sp>
      <p:sp>
        <p:nvSpPr>
          <p:cNvPr id="24" name="Shape 22"/>
          <p:cNvSpPr/>
          <p:nvPr/>
        </p:nvSpPr>
        <p:spPr>
          <a:xfrm>
            <a:off x="274320" y="3529584"/>
            <a:ext cx="4023360" cy="256032"/>
          </a:xfrm>
          <a:prstGeom prst="rect">
            <a:avLst/>
          </a:prstGeom>
          <a:solidFill>
            <a:srgbClr val="FFFFFF"/>
          </a:solidFill>
          <a:ln w="6350">
            <a:solidFill>
              <a:srgbClr val="CCCCCC"/>
            </a:solidFill>
            <a:prstDash val="solid"/>
          </a:ln>
        </p:spPr>
      </p:sp>
      <p:sp>
        <p:nvSpPr>
          <p:cNvPr id="25" name="Text 23"/>
          <p:cNvSpPr/>
          <p:nvPr/>
        </p:nvSpPr>
        <p:spPr>
          <a:xfrm>
            <a:off x="411480" y="3566160"/>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6. Results</a:t>
            </a:r>
            <a:endParaRPr lang="en-US" sz="1600" dirty="0"/>
          </a:p>
        </p:txBody>
      </p:sp>
      <p:sp>
        <p:nvSpPr>
          <p:cNvPr id="26" name="Shape 24"/>
          <p:cNvSpPr/>
          <p:nvPr/>
        </p:nvSpPr>
        <p:spPr>
          <a:xfrm>
            <a:off x="274320" y="3822192"/>
            <a:ext cx="4023360" cy="256032"/>
          </a:xfrm>
          <a:prstGeom prst="rect">
            <a:avLst/>
          </a:prstGeom>
          <a:solidFill>
            <a:srgbClr val="F0F4FF"/>
          </a:solidFill>
          <a:ln w="6350">
            <a:solidFill>
              <a:srgbClr val="CCCCCC"/>
            </a:solidFill>
            <a:prstDash val="solid"/>
          </a:ln>
        </p:spPr>
      </p:sp>
      <p:sp>
        <p:nvSpPr>
          <p:cNvPr id="27" name="Text 25"/>
          <p:cNvSpPr/>
          <p:nvPr/>
        </p:nvSpPr>
        <p:spPr>
          <a:xfrm>
            <a:off x="411480" y="3858768"/>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7. Discussion</a:t>
            </a:r>
            <a:endParaRPr lang="en-US" sz="1600" dirty="0"/>
          </a:p>
        </p:txBody>
      </p:sp>
      <p:sp>
        <p:nvSpPr>
          <p:cNvPr id="28" name="Shape 26"/>
          <p:cNvSpPr/>
          <p:nvPr/>
        </p:nvSpPr>
        <p:spPr>
          <a:xfrm>
            <a:off x="274320" y="4114800"/>
            <a:ext cx="4023360" cy="256032"/>
          </a:xfrm>
          <a:prstGeom prst="rect">
            <a:avLst/>
          </a:prstGeom>
          <a:solidFill>
            <a:srgbClr val="FFFFFF"/>
          </a:solidFill>
          <a:ln w="6350">
            <a:solidFill>
              <a:srgbClr val="CCCCCC"/>
            </a:solidFill>
            <a:prstDash val="solid"/>
          </a:ln>
        </p:spPr>
      </p:sp>
      <p:sp>
        <p:nvSpPr>
          <p:cNvPr id="29" name="Text 27"/>
          <p:cNvSpPr/>
          <p:nvPr/>
        </p:nvSpPr>
        <p:spPr>
          <a:xfrm>
            <a:off x="411480" y="4151376"/>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8. Conclusion</a:t>
            </a:r>
            <a:endParaRPr lang="en-US" sz="1600" dirty="0"/>
          </a:p>
        </p:txBody>
      </p:sp>
      <p:sp>
        <p:nvSpPr>
          <p:cNvPr id="30" name="Shape 28"/>
          <p:cNvSpPr/>
          <p:nvPr/>
        </p:nvSpPr>
        <p:spPr>
          <a:xfrm>
            <a:off x="274320" y="4407408"/>
            <a:ext cx="4023360" cy="256032"/>
          </a:xfrm>
          <a:prstGeom prst="rect">
            <a:avLst/>
          </a:prstGeom>
          <a:solidFill>
            <a:srgbClr val="F0F4FF"/>
          </a:solidFill>
          <a:ln w="6350">
            <a:solidFill>
              <a:srgbClr val="CCCCCC"/>
            </a:solidFill>
            <a:prstDash val="solid"/>
          </a:ln>
        </p:spPr>
      </p:sp>
      <p:sp>
        <p:nvSpPr>
          <p:cNvPr id="31" name="Text 29"/>
          <p:cNvSpPr/>
          <p:nvPr/>
        </p:nvSpPr>
        <p:spPr>
          <a:xfrm>
            <a:off x="411480" y="4443984"/>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9. References</a:t>
            </a:r>
            <a:endParaRPr lang="en-US" sz="1600" dirty="0"/>
          </a:p>
        </p:txBody>
      </p:sp>
      <p:sp>
        <p:nvSpPr>
          <p:cNvPr id="32" name="Shape 30"/>
          <p:cNvSpPr/>
          <p:nvPr/>
        </p:nvSpPr>
        <p:spPr>
          <a:xfrm>
            <a:off x="4846320" y="2066544"/>
            <a:ext cx="4023360" cy="256032"/>
          </a:xfrm>
          <a:prstGeom prst="rect">
            <a:avLst/>
          </a:prstGeom>
          <a:solidFill>
            <a:srgbClr val="FFF8EE"/>
          </a:solidFill>
          <a:ln w="6350">
            <a:solidFill>
              <a:srgbClr val="CCCCCC"/>
            </a:solidFill>
            <a:prstDash val="solid"/>
          </a:ln>
        </p:spPr>
      </p:sp>
      <p:sp>
        <p:nvSpPr>
          <p:cNvPr id="33" name="Shape 31"/>
          <p:cNvSpPr/>
          <p:nvPr/>
        </p:nvSpPr>
        <p:spPr>
          <a:xfrm>
            <a:off x="4846320" y="2066544"/>
            <a:ext cx="73152" cy="256032"/>
          </a:xfrm>
          <a:prstGeom prst="rect">
            <a:avLst/>
          </a:prstGeom>
          <a:solidFill>
            <a:srgbClr val="F5A623"/>
          </a:solidFill>
          <a:ln w="12700">
            <a:solidFill>
              <a:srgbClr val="F5A623"/>
            </a:solidFill>
            <a:prstDash val="solid"/>
          </a:ln>
        </p:spPr>
      </p:sp>
      <p:sp>
        <p:nvSpPr>
          <p:cNvPr id="34" name="Text 32"/>
          <p:cNvSpPr/>
          <p:nvPr/>
        </p:nvSpPr>
        <p:spPr>
          <a:xfrm>
            <a:off x="4983480" y="2103120"/>
            <a:ext cx="3749040" cy="182880"/>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1. Methods ← Viết ĐẦU TIÊN!</a:t>
            </a:r>
            <a:endParaRPr lang="en-US" sz="1600" dirty="0"/>
          </a:p>
        </p:txBody>
      </p:sp>
      <p:sp>
        <p:nvSpPr>
          <p:cNvPr id="35" name="Shape 33"/>
          <p:cNvSpPr/>
          <p:nvPr/>
        </p:nvSpPr>
        <p:spPr>
          <a:xfrm>
            <a:off x="4846320" y="2359152"/>
            <a:ext cx="4023360" cy="256032"/>
          </a:xfrm>
          <a:prstGeom prst="rect">
            <a:avLst/>
          </a:prstGeom>
          <a:solidFill>
            <a:srgbClr val="FFFFFF"/>
          </a:solidFill>
          <a:ln w="6350">
            <a:solidFill>
              <a:srgbClr val="CCCCCC"/>
            </a:solidFill>
            <a:prstDash val="solid"/>
          </a:ln>
        </p:spPr>
      </p:sp>
      <p:sp>
        <p:nvSpPr>
          <p:cNvPr id="36" name="Shape 34"/>
          <p:cNvSpPr/>
          <p:nvPr/>
        </p:nvSpPr>
        <p:spPr>
          <a:xfrm>
            <a:off x="4846320" y="2359152"/>
            <a:ext cx="73152" cy="256032"/>
          </a:xfrm>
          <a:prstGeom prst="rect">
            <a:avLst/>
          </a:prstGeom>
          <a:solidFill>
            <a:srgbClr val="2B2F77"/>
          </a:solidFill>
          <a:ln w="12700">
            <a:solidFill>
              <a:srgbClr val="2B2F77"/>
            </a:solidFill>
            <a:prstDash val="solid"/>
          </a:ln>
        </p:spPr>
      </p:sp>
      <p:sp>
        <p:nvSpPr>
          <p:cNvPr id="37" name="Text 35"/>
          <p:cNvSpPr/>
          <p:nvPr/>
        </p:nvSpPr>
        <p:spPr>
          <a:xfrm>
            <a:off x="4983480" y="2395728"/>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2. Results</a:t>
            </a:r>
            <a:endParaRPr lang="en-US" sz="1600" dirty="0"/>
          </a:p>
        </p:txBody>
      </p:sp>
      <p:sp>
        <p:nvSpPr>
          <p:cNvPr id="38" name="Shape 36"/>
          <p:cNvSpPr/>
          <p:nvPr/>
        </p:nvSpPr>
        <p:spPr>
          <a:xfrm>
            <a:off x="4846320" y="2651760"/>
            <a:ext cx="4023360" cy="256032"/>
          </a:xfrm>
          <a:prstGeom prst="rect">
            <a:avLst/>
          </a:prstGeom>
          <a:solidFill>
            <a:srgbClr val="FFF8EE"/>
          </a:solidFill>
          <a:ln w="6350">
            <a:solidFill>
              <a:srgbClr val="CCCCCC"/>
            </a:solidFill>
            <a:prstDash val="solid"/>
          </a:ln>
        </p:spPr>
      </p:sp>
      <p:sp>
        <p:nvSpPr>
          <p:cNvPr id="39" name="Shape 37"/>
          <p:cNvSpPr/>
          <p:nvPr/>
        </p:nvSpPr>
        <p:spPr>
          <a:xfrm>
            <a:off x="4846320" y="2651760"/>
            <a:ext cx="73152" cy="256032"/>
          </a:xfrm>
          <a:prstGeom prst="rect">
            <a:avLst/>
          </a:prstGeom>
          <a:solidFill>
            <a:srgbClr val="2B2F77"/>
          </a:solidFill>
          <a:ln w="12700">
            <a:solidFill>
              <a:srgbClr val="2B2F77"/>
            </a:solidFill>
            <a:prstDash val="solid"/>
          </a:ln>
        </p:spPr>
      </p:sp>
      <p:sp>
        <p:nvSpPr>
          <p:cNvPr id="40" name="Text 38"/>
          <p:cNvSpPr/>
          <p:nvPr/>
        </p:nvSpPr>
        <p:spPr>
          <a:xfrm>
            <a:off x="4983480" y="2688336"/>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3. Discussion</a:t>
            </a:r>
            <a:endParaRPr lang="en-US" sz="1600" dirty="0"/>
          </a:p>
        </p:txBody>
      </p:sp>
      <p:sp>
        <p:nvSpPr>
          <p:cNvPr id="41" name="Shape 39"/>
          <p:cNvSpPr/>
          <p:nvPr/>
        </p:nvSpPr>
        <p:spPr>
          <a:xfrm>
            <a:off x="4846320" y="2944368"/>
            <a:ext cx="4023360" cy="256032"/>
          </a:xfrm>
          <a:prstGeom prst="rect">
            <a:avLst/>
          </a:prstGeom>
          <a:solidFill>
            <a:srgbClr val="FFFFFF"/>
          </a:solidFill>
          <a:ln w="6350">
            <a:solidFill>
              <a:srgbClr val="CCCCCC"/>
            </a:solidFill>
            <a:prstDash val="solid"/>
          </a:ln>
        </p:spPr>
      </p:sp>
      <p:sp>
        <p:nvSpPr>
          <p:cNvPr id="42" name="Shape 40"/>
          <p:cNvSpPr/>
          <p:nvPr/>
        </p:nvSpPr>
        <p:spPr>
          <a:xfrm>
            <a:off x="4846320" y="2944368"/>
            <a:ext cx="73152" cy="256032"/>
          </a:xfrm>
          <a:prstGeom prst="rect">
            <a:avLst/>
          </a:prstGeom>
          <a:solidFill>
            <a:srgbClr val="2B2F77"/>
          </a:solidFill>
          <a:ln w="12700">
            <a:solidFill>
              <a:srgbClr val="2B2F77"/>
            </a:solidFill>
            <a:prstDash val="solid"/>
          </a:ln>
        </p:spPr>
      </p:sp>
      <p:sp>
        <p:nvSpPr>
          <p:cNvPr id="43" name="Text 41"/>
          <p:cNvSpPr/>
          <p:nvPr/>
        </p:nvSpPr>
        <p:spPr>
          <a:xfrm>
            <a:off x="4983480" y="2980944"/>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4. Introduction</a:t>
            </a:r>
            <a:endParaRPr lang="en-US" sz="1600" dirty="0"/>
          </a:p>
        </p:txBody>
      </p:sp>
      <p:sp>
        <p:nvSpPr>
          <p:cNvPr id="44" name="Shape 42"/>
          <p:cNvSpPr/>
          <p:nvPr/>
        </p:nvSpPr>
        <p:spPr>
          <a:xfrm>
            <a:off x="4846320" y="3236976"/>
            <a:ext cx="4023360" cy="256032"/>
          </a:xfrm>
          <a:prstGeom prst="rect">
            <a:avLst/>
          </a:prstGeom>
          <a:solidFill>
            <a:srgbClr val="FFF8EE"/>
          </a:solidFill>
          <a:ln w="6350">
            <a:solidFill>
              <a:srgbClr val="CCCCCC"/>
            </a:solidFill>
            <a:prstDash val="solid"/>
          </a:ln>
        </p:spPr>
      </p:sp>
      <p:sp>
        <p:nvSpPr>
          <p:cNvPr id="45" name="Shape 43"/>
          <p:cNvSpPr/>
          <p:nvPr/>
        </p:nvSpPr>
        <p:spPr>
          <a:xfrm>
            <a:off x="4846320" y="3236976"/>
            <a:ext cx="73152" cy="256032"/>
          </a:xfrm>
          <a:prstGeom prst="rect">
            <a:avLst/>
          </a:prstGeom>
          <a:solidFill>
            <a:srgbClr val="2B2F77"/>
          </a:solidFill>
          <a:ln w="12700">
            <a:solidFill>
              <a:srgbClr val="2B2F77"/>
            </a:solidFill>
            <a:prstDash val="solid"/>
          </a:ln>
        </p:spPr>
      </p:sp>
      <p:sp>
        <p:nvSpPr>
          <p:cNvPr id="46" name="Text 44"/>
          <p:cNvSpPr/>
          <p:nvPr/>
        </p:nvSpPr>
        <p:spPr>
          <a:xfrm>
            <a:off x="4983480" y="3273552"/>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5. Conclusion</a:t>
            </a:r>
            <a:endParaRPr lang="en-US" sz="1600" dirty="0"/>
          </a:p>
        </p:txBody>
      </p:sp>
      <p:sp>
        <p:nvSpPr>
          <p:cNvPr id="47" name="Shape 45"/>
          <p:cNvSpPr/>
          <p:nvPr/>
        </p:nvSpPr>
        <p:spPr>
          <a:xfrm>
            <a:off x="4846320" y="3529584"/>
            <a:ext cx="4023360" cy="256032"/>
          </a:xfrm>
          <a:prstGeom prst="rect">
            <a:avLst/>
          </a:prstGeom>
          <a:solidFill>
            <a:srgbClr val="FFFFFF"/>
          </a:solidFill>
          <a:ln w="6350">
            <a:solidFill>
              <a:srgbClr val="CCCCCC"/>
            </a:solidFill>
            <a:prstDash val="solid"/>
          </a:ln>
        </p:spPr>
      </p:sp>
      <p:sp>
        <p:nvSpPr>
          <p:cNvPr id="48" name="Shape 46"/>
          <p:cNvSpPr/>
          <p:nvPr/>
        </p:nvSpPr>
        <p:spPr>
          <a:xfrm>
            <a:off x="4846320" y="3529584"/>
            <a:ext cx="73152" cy="256032"/>
          </a:xfrm>
          <a:prstGeom prst="rect">
            <a:avLst/>
          </a:prstGeom>
          <a:solidFill>
            <a:srgbClr val="F5A623"/>
          </a:solidFill>
          <a:ln w="12700">
            <a:solidFill>
              <a:srgbClr val="F5A623"/>
            </a:solidFill>
            <a:prstDash val="solid"/>
          </a:ln>
        </p:spPr>
      </p:sp>
      <p:sp>
        <p:nvSpPr>
          <p:cNvPr id="49" name="Text 47"/>
          <p:cNvSpPr/>
          <p:nvPr/>
        </p:nvSpPr>
        <p:spPr>
          <a:xfrm>
            <a:off x="4983480" y="3566160"/>
            <a:ext cx="3749040" cy="182880"/>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6. Abstract ← Gần cuối</a:t>
            </a:r>
            <a:endParaRPr lang="en-US" sz="1600" dirty="0"/>
          </a:p>
        </p:txBody>
      </p:sp>
      <p:sp>
        <p:nvSpPr>
          <p:cNvPr id="50" name="Shape 48"/>
          <p:cNvSpPr/>
          <p:nvPr/>
        </p:nvSpPr>
        <p:spPr>
          <a:xfrm>
            <a:off x="4846320" y="3822192"/>
            <a:ext cx="4023360" cy="256032"/>
          </a:xfrm>
          <a:prstGeom prst="rect">
            <a:avLst/>
          </a:prstGeom>
          <a:solidFill>
            <a:srgbClr val="FFF8EE"/>
          </a:solidFill>
          <a:ln w="6350">
            <a:solidFill>
              <a:srgbClr val="CCCCCC"/>
            </a:solidFill>
            <a:prstDash val="solid"/>
          </a:ln>
        </p:spPr>
      </p:sp>
      <p:sp>
        <p:nvSpPr>
          <p:cNvPr id="51" name="Shape 49"/>
          <p:cNvSpPr/>
          <p:nvPr/>
        </p:nvSpPr>
        <p:spPr>
          <a:xfrm>
            <a:off x="4846320" y="3822192"/>
            <a:ext cx="73152" cy="256032"/>
          </a:xfrm>
          <a:prstGeom prst="rect">
            <a:avLst/>
          </a:prstGeom>
          <a:solidFill>
            <a:srgbClr val="F5A623"/>
          </a:solidFill>
          <a:ln w="12700">
            <a:solidFill>
              <a:srgbClr val="F5A623"/>
            </a:solidFill>
            <a:prstDash val="solid"/>
          </a:ln>
        </p:spPr>
      </p:sp>
      <p:sp>
        <p:nvSpPr>
          <p:cNvPr id="52" name="Text 50"/>
          <p:cNvSpPr/>
          <p:nvPr/>
        </p:nvSpPr>
        <p:spPr>
          <a:xfrm>
            <a:off x="4983480" y="3858768"/>
            <a:ext cx="3749040" cy="182880"/>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7. Title ← Tinh chỉnh cuối</a:t>
            </a:r>
            <a:endParaRPr lang="en-US" sz="1600" dirty="0"/>
          </a:p>
        </p:txBody>
      </p:sp>
      <p:sp>
        <p:nvSpPr>
          <p:cNvPr id="53" name="Shape 51"/>
          <p:cNvSpPr/>
          <p:nvPr/>
        </p:nvSpPr>
        <p:spPr>
          <a:xfrm>
            <a:off x="4846320" y="4114800"/>
            <a:ext cx="4023360" cy="256032"/>
          </a:xfrm>
          <a:prstGeom prst="rect">
            <a:avLst/>
          </a:prstGeom>
          <a:solidFill>
            <a:srgbClr val="FFFFFF"/>
          </a:solidFill>
          <a:ln w="6350">
            <a:solidFill>
              <a:srgbClr val="CCCCCC"/>
            </a:solidFill>
            <a:prstDash val="solid"/>
          </a:ln>
        </p:spPr>
      </p:sp>
      <p:sp>
        <p:nvSpPr>
          <p:cNvPr id="54" name="Shape 52"/>
          <p:cNvSpPr/>
          <p:nvPr/>
        </p:nvSpPr>
        <p:spPr>
          <a:xfrm>
            <a:off x="4846320" y="4114800"/>
            <a:ext cx="73152" cy="256032"/>
          </a:xfrm>
          <a:prstGeom prst="rect">
            <a:avLst/>
          </a:prstGeom>
          <a:solidFill>
            <a:srgbClr val="2B2F77"/>
          </a:solidFill>
          <a:ln w="12700">
            <a:solidFill>
              <a:srgbClr val="2B2F77"/>
            </a:solidFill>
            <a:prstDash val="solid"/>
          </a:ln>
        </p:spPr>
      </p:sp>
      <p:sp>
        <p:nvSpPr>
          <p:cNvPr id="55" name="Text 53"/>
          <p:cNvSpPr/>
          <p:nvPr/>
        </p:nvSpPr>
        <p:spPr>
          <a:xfrm>
            <a:off x="4983480" y="4151376"/>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8. Keywords</a:t>
            </a:r>
            <a:endParaRPr lang="en-US" sz="1600" dirty="0"/>
          </a:p>
        </p:txBody>
      </p:sp>
      <p:sp>
        <p:nvSpPr>
          <p:cNvPr id="56" name="Shape 54"/>
          <p:cNvSpPr/>
          <p:nvPr/>
        </p:nvSpPr>
        <p:spPr>
          <a:xfrm>
            <a:off x="4846320" y="4407408"/>
            <a:ext cx="4023360" cy="256032"/>
          </a:xfrm>
          <a:prstGeom prst="rect">
            <a:avLst/>
          </a:prstGeom>
          <a:solidFill>
            <a:srgbClr val="FFF8EE"/>
          </a:solidFill>
          <a:ln w="6350">
            <a:solidFill>
              <a:srgbClr val="CCCCCC"/>
            </a:solidFill>
            <a:prstDash val="solid"/>
          </a:ln>
        </p:spPr>
      </p:sp>
      <p:sp>
        <p:nvSpPr>
          <p:cNvPr id="57" name="Shape 55"/>
          <p:cNvSpPr/>
          <p:nvPr/>
        </p:nvSpPr>
        <p:spPr>
          <a:xfrm>
            <a:off x="4846320" y="4407408"/>
            <a:ext cx="73152" cy="256032"/>
          </a:xfrm>
          <a:prstGeom prst="rect">
            <a:avLst/>
          </a:prstGeom>
          <a:solidFill>
            <a:srgbClr val="2B2F77"/>
          </a:solidFill>
          <a:ln w="12700">
            <a:solidFill>
              <a:srgbClr val="2B2F77"/>
            </a:solidFill>
            <a:prstDash val="solid"/>
          </a:ln>
        </p:spPr>
      </p:sp>
      <p:sp>
        <p:nvSpPr>
          <p:cNvPr id="58" name="Text 56"/>
          <p:cNvSpPr/>
          <p:nvPr/>
        </p:nvSpPr>
        <p:spPr>
          <a:xfrm>
            <a:off x="4983480" y="4443984"/>
            <a:ext cx="3749040" cy="182880"/>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9. References (song song)</a:t>
            </a:r>
            <a:endParaRPr lang="en-US" sz="1600" dirty="0"/>
          </a:p>
        </p:txBody>
      </p:sp>
      <p:sp>
        <p:nvSpPr>
          <p:cNvPr id="59" name="Shape 57"/>
          <p:cNvSpPr/>
          <p:nvPr/>
        </p:nvSpPr>
        <p:spPr>
          <a:xfrm>
            <a:off x="2011680" y="4846320"/>
            <a:ext cx="7040880" cy="36576"/>
          </a:xfrm>
          <a:prstGeom prst="rect">
            <a:avLst/>
          </a:prstGeom>
          <a:solidFill>
            <a:srgbClr val="F5A623"/>
          </a:solidFill>
          <a:ln w="12700">
            <a:solidFill>
              <a:srgbClr val="F5A623"/>
            </a:solidFill>
            <a:prstDash val="solid"/>
          </a:ln>
        </p:spPr>
      </p:sp>
      <p:pic>
        <p:nvPicPr>
          <p:cNvPr id="60"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61" name="Text 58"/>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62" name="Text 59"/>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2B2F77"/>
          </a:solidFill>
          <a:ln w="12700">
            <a:solidFill>
              <a:srgbClr val="2B2F77"/>
            </a:solidFill>
            <a:prstDash val="solid"/>
          </a:ln>
        </p:spPr>
      </p:sp>
      <p:sp>
        <p:nvSpPr>
          <p:cNvPr id="3" name="Shape 1"/>
          <p:cNvSpPr/>
          <p:nvPr/>
        </p:nvSpPr>
        <p:spPr>
          <a:xfrm>
            <a:off x="0" y="4846320"/>
            <a:ext cx="3200400" cy="297180"/>
          </a:xfrm>
          <a:prstGeom prst="rect">
            <a:avLst/>
          </a:prstGeom>
          <a:solidFill>
            <a:srgbClr val="F5A623"/>
          </a:solidFill>
          <a:ln w="12700">
            <a:solidFill>
              <a:srgbClr val="F5A623"/>
            </a:solidFill>
            <a:prstDash val="solid"/>
          </a:ln>
        </p:spPr>
      </p:sp>
      <p:sp>
        <p:nvSpPr>
          <p:cNvPr id="4" name="Text 2"/>
          <p:cNvSpPr/>
          <p:nvPr/>
        </p:nvSpPr>
        <p:spPr>
          <a:xfrm>
            <a:off x="182880" y="1371600"/>
            <a:ext cx="2743200" cy="914400"/>
          </a:xfrm>
          <a:prstGeom prst="rect">
            <a:avLst/>
          </a:prstGeom>
          <a:noFill/>
          <a:ln/>
        </p:spPr>
        <p:txBody>
          <a:bodyPr wrap="square" lIns="0" tIns="0" rIns="0" bIns="0" rtlCol="0" anchor="ctr"/>
          <a:lstStyle/>
          <a:p>
            <a:pPr marL="0" indent="0" algn="ctr">
              <a:buNone/>
            </a:pPr>
            <a:r>
              <a:rPr lang="en-US" sz="6400" b="1" dirty="0">
                <a:solidFill>
                  <a:srgbClr val="F5A623"/>
                </a:solidFill>
                <a:latin typeface="Calibri" pitchFamily="34" charset="0"/>
                <a:ea typeface="Calibri" pitchFamily="34" charset="-122"/>
                <a:cs typeface="Calibri" pitchFamily="34" charset="-120"/>
              </a:rPr>
              <a:t>03</a:t>
            </a:r>
            <a:endParaRPr lang="en-US" sz="6400" dirty="0"/>
          </a:p>
        </p:txBody>
      </p:sp>
      <p:sp>
        <p:nvSpPr>
          <p:cNvPr id="5" name="Text 3"/>
          <p:cNvSpPr/>
          <p:nvPr/>
        </p:nvSpPr>
        <p:spPr>
          <a:xfrm>
            <a:off x="137160" y="2468880"/>
            <a:ext cx="2926080" cy="1645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Hướng dẫn</a:t>
            </a:r>
            <a:endParaRPr lang="en-US" sz="2400" dirty="0"/>
          </a:p>
          <a:p>
            <a:pPr marL="0" indent="0" algn="ctr">
              <a:buNone/>
            </a:pPr>
            <a:r>
              <a:rPr lang="en-US" sz="2400" b="1" dirty="0">
                <a:solidFill>
                  <a:srgbClr val="FFFFFF"/>
                </a:solidFill>
                <a:latin typeface="Calibri" pitchFamily="34" charset="0"/>
                <a:ea typeface="Calibri" pitchFamily="34" charset="-122"/>
                <a:cs typeface="Calibri" pitchFamily="34" charset="-120"/>
              </a:rPr>
              <a:t>viết từng</a:t>
            </a:r>
            <a:endParaRPr lang="en-US" sz="2400" dirty="0"/>
          </a:p>
          <a:p>
            <a:pPr marL="0" indent="0" algn="ctr">
              <a:buNone/>
            </a:pPr>
            <a:r>
              <a:rPr lang="en-US" sz="2400" b="1" dirty="0">
                <a:solidFill>
                  <a:srgbClr val="FFFFFF"/>
                </a:solidFill>
                <a:latin typeface="Calibri" pitchFamily="34" charset="0"/>
                <a:ea typeface="Calibri" pitchFamily="34" charset="-122"/>
                <a:cs typeface="Calibri" pitchFamily="34" charset="-120"/>
              </a:rPr>
              <a:t>phần</a:t>
            </a:r>
            <a:endParaRPr lang="en-US" sz="2400" dirty="0"/>
          </a:p>
        </p:txBody>
      </p:sp>
      <p:sp>
        <p:nvSpPr>
          <p:cNvPr id="6" name="Text 4"/>
          <p:cNvSpPr/>
          <p:nvPr/>
        </p:nvSpPr>
        <p:spPr>
          <a:xfrm>
            <a:off x="3474720" y="2011680"/>
            <a:ext cx="5303520" cy="914400"/>
          </a:xfrm>
          <a:prstGeom prst="rect">
            <a:avLst/>
          </a:prstGeom>
          <a:noFill/>
          <a:ln/>
        </p:spPr>
        <p:txBody>
          <a:bodyPr wrap="square" lIns="0" tIns="0" rIns="0" bIns="0" rtlCol="0" anchor="ctr"/>
          <a:lstStyle/>
          <a:p>
            <a:pPr marL="0" indent="0" algn="l">
              <a:buNone/>
            </a:pPr>
            <a:r>
              <a:rPr lang="en-US" sz="2000" dirty="0">
                <a:solidFill>
                  <a:srgbClr val="2B2F77"/>
                </a:solidFill>
                <a:latin typeface="Calibri" pitchFamily="34" charset="0"/>
                <a:cs typeface="Calibri" pitchFamily="34" charset="-120"/>
              </a:rPr>
              <a:t>HƯỚNG DẪN VIẾT BÀI BÁO KHOA HỌC</a:t>
            </a:r>
            <a:endParaRPr lang="en-US" sz="2000" dirty="0"/>
          </a:p>
        </p:txBody>
      </p:sp>
      <p:sp>
        <p:nvSpPr>
          <p:cNvPr id="7" name="Text 5"/>
          <p:cNvSpPr/>
          <p:nvPr/>
        </p:nvSpPr>
        <p:spPr>
          <a:xfrm>
            <a:off x="3474720" y="4846320"/>
            <a:ext cx="5303520" cy="228600"/>
          </a:xfrm>
          <a:prstGeom prst="rect">
            <a:avLst/>
          </a:prstGeom>
          <a:noFill/>
          <a:ln/>
        </p:spPr>
        <p:txBody>
          <a:bodyPr wrap="square" lIns="0" tIns="0" rIns="0" bIns="0" rtlCol="0" anchor="ctr"/>
          <a:lstStyle/>
          <a:p>
            <a:pPr marL="0" indent="0" algn="r">
              <a:buNone/>
            </a:pPr>
            <a:r>
              <a:rPr lang="en-US" sz="1100" dirty="0">
                <a:solidFill>
                  <a:srgbClr val="CCCCCC"/>
                </a:solidFill>
                <a:latin typeface="Calibri" pitchFamily="34" charset="0"/>
                <a:ea typeface="Calibri" pitchFamily="34" charset="-122"/>
                <a:cs typeface="Calibri" pitchFamily="34" charset="-120"/>
              </a:rPr>
              <a:t>jstt.vn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Tiêu đề &amp; Tóm tắt (Abstract)</a:t>
            </a:r>
            <a:endParaRPr lang="en-US" sz="2600" dirty="0"/>
          </a:p>
        </p:txBody>
      </p:sp>
      <p:sp>
        <p:nvSpPr>
          <p:cNvPr id="10" name="Shape 8"/>
          <p:cNvSpPr/>
          <p:nvPr/>
        </p:nvSpPr>
        <p:spPr>
          <a:xfrm>
            <a:off x="274320" y="1572768"/>
            <a:ext cx="4160520" cy="411480"/>
          </a:xfrm>
          <a:prstGeom prst="rect">
            <a:avLst/>
          </a:prstGeom>
          <a:solidFill>
            <a:srgbClr val="2B2F77"/>
          </a:solidFill>
          <a:ln w="12700">
            <a:solidFill>
              <a:srgbClr val="2B2F77"/>
            </a:solidFill>
            <a:prstDash val="solid"/>
          </a:ln>
        </p:spPr>
      </p:sp>
      <p:sp>
        <p:nvSpPr>
          <p:cNvPr id="11" name="Text 9"/>
          <p:cNvSpPr/>
          <p:nvPr/>
        </p:nvSpPr>
        <p:spPr>
          <a:xfrm>
            <a:off x="274320" y="1572768"/>
            <a:ext cx="416052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TIÊU ĐỀ (Title)</a:t>
            </a:r>
            <a:endParaRPr lang="en-US" sz="1800" dirty="0"/>
          </a:p>
        </p:txBody>
      </p:sp>
      <p:sp>
        <p:nvSpPr>
          <p:cNvPr id="12" name="Shape 10"/>
          <p:cNvSpPr/>
          <p:nvPr/>
        </p:nvSpPr>
        <p:spPr>
          <a:xfrm>
            <a:off x="365760" y="2148840"/>
            <a:ext cx="109728" cy="109728"/>
          </a:xfrm>
          <a:prstGeom prst="ellipse">
            <a:avLst/>
          </a:prstGeom>
          <a:solidFill>
            <a:srgbClr val="F5A623"/>
          </a:solidFill>
          <a:ln w="12700">
            <a:solidFill>
              <a:srgbClr val="F5A623"/>
            </a:solidFill>
            <a:prstDash val="solid"/>
          </a:ln>
        </p:spPr>
      </p:sp>
      <p:sp>
        <p:nvSpPr>
          <p:cNvPr id="13" name="Text 11"/>
          <p:cNvSpPr/>
          <p:nvPr/>
        </p:nvSpPr>
        <p:spPr>
          <a:xfrm>
            <a:off x="548640" y="2039112"/>
            <a:ext cx="3794760" cy="36576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10-15 từ — ngắn gọn, chứa từ khóa</a:t>
            </a:r>
            <a:endParaRPr lang="en-US" sz="1700" dirty="0"/>
          </a:p>
        </p:txBody>
      </p:sp>
      <p:sp>
        <p:nvSpPr>
          <p:cNvPr id="14" name="Shape 12"/>
          <p:cNvSpPr/>
          <p:nvPr/>
        </p:nvSpPr>
        <p:spPr>
          <a:xfrm>
            <a:off x="365760" y="2606040"/>
            <a:ext cx="109728" cy="109728"/>
          </a:xfrm>
          <a:prstGeom prst="ellipse">
            <a:avLst/>
          </a:prstGeom>
          <a:solidFill>
            <a:srgbClr val="F5A623"/>
          </a:solidFill>
          <a:ln w="12700">
            <a:solidFill>
              <a:srgbClr val="F5A623"/>
            </a:solidFill>
            <a:prstDash val="solid"/>
          </a:ln>
        </p:spPr>
      </p:sp>
      <p:sp>
        <p:nvSpPr>
          <p:cNvPr id="15" name="Text 13"/>
          <p:cNvSpPr/>
          <p:nvPr/>
        </p:nvSpPr>
        <p:spPr>
          <a:xfrm>
            <a:off x="548640" y="2496312"/>
            <a:ext cx="3794760" cy="36576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Phản ánh đúng nội dung nghiên cứu</a:t>
            </a:r>
            <a:endParaRPr lang="en-US" sz="1700" dirty="0"/>
          </a:p>
        </p:txBody>
      </p:sp>
      <p:sp>
        <p:nvSpPr>
          <p:cNvPr id="16" name="Shape 14"/>
          <p:cNvSpPr/>
          <p:nvPr/>
        </p:nvSpPr>
        <p:spPr>
          <a:xfrm>
            <a:off x="365760" y="3063240"/>
            <a:ext cx="109728" cy="109728"/>
          </a:xfrm>
          <a:prstGeom prst="ellipse">
            <a:avLst/>
          </a:prstGeom>
          <a:solidFill>
            <a:srgbClr val="F5A623"/>
          </a:solidFill>
          <a:ln w="12700">
            <a:solidFill>
              <a:srgbClr val="F5A623"/>
            </a:solidFill>
            <a:prstDash val="solid"/>
          </a:ln>
        </p:spPr>
      </p:sp>
      <p:sp>
        <p:nvSpPr>
          <p:cNvPr id="17" name="Text 15"/>
          <p:cNvSpPr/>
          <p:nvPr/>
        </p:nvSpPr>
        <p:spPr>
          <a:xfrm>
            <a:off x="548640" y="2953512"/>
            <a:ext cx="3794760" cy="36576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Tránh: 'Nghiên cứu về...' / 'Tìm hiểu...'</a:t>
            </a:r>
            <a:endParaRPr lang="en-US" sz="1700" dirty="0"/>
          </a:p>
        </p:txBody>
      </p:sp>
      <p:sp>
        <p:nvSpPr>
          <p:cNvPr id="18" name="Shape 16"/>
          <p:cNvSpPr/>
          <p:nvPr/>
        </p:nvSpPr>
        <p:spPr>
          <a:xfrm>
            <a:off x="365760" y="3520440"/>
            <a:ext cx="109728" cy="109728"/>
          </a:xfrm>
          <a:prstGeom prst="ellipse">
            <a:avLst/>
          </a:prstGeom>
          <a:solidFill>
            <a:srgbClr val="F5A623"/>
          </a:solidFill>
          <a:ln w="12700">
            <a:solidFill>
              <a:srgbClr val="F5A623"/>
            </a:solidFill>
            <a:prstDash val="solid"/>
          </a:ln>
        </p:spPr>
      </p:sp>
      <p:sp>
        <p:nvSpPr>
          <p:cNvPr id="19" name="Text 17"/>
          <p:cNvSpPr/>
          <p:nvPr/>
        </p:nvSpPr>
        <p:spPr>
          <a:xfrm>
            <a:off x="548640" y="3410712"/>
            <a:ext cx="3794760" cy="36576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Bắt đầu bằng từ khóa chủ đề cụ thể</a:t>
            </a:r>
            <a:endParaRPr lang="en-US" sz="1700" dirty="0"/>
          </a:p>
        </p:txBody>
      </p:sp>
      <p:sp>
        <p:nvSpPr>
          <p:cNvPr id="25" name="Text 23"/>
          <p:cNvSpPr/>
          <p:nvPr/>
        </p:nvSpPr>
        <p:spPr>
          <a:xfrm>
            <a:off x="274320" y="4892040"/>
            <a:ext cx="4114800" cy="0"/>
          </a:xfrm>
          <a:prstGeom prst="rect">
            <a:avLst/>
          </a:prstGeom>
          <a:noFill/>
          <a:ln/>
        </p:spPr>
        <p:txBody>
          <a:bodyPr wrap="square" lIns="0" tIns="0" rIns="0" bIns="0" rtlCol="0" anchor="ctr"/>
          <a:lstStyle/>
          <a:p>
            <a:pPr marL="0" indent="0">
              <a:buNone/>
            </a:pPr>
            <a:endParaRPr lang="en-US" dirty="0"/>
          </a:p>
        </p:txBody>
      </p:sp>
      <p:sp>
        <p:nvSpPr>
          <p:cNvPr id="27" name="Shape 25"/>
          <p:cNvSpPr/>
          <p:nvPr/>
        </p:nvSpPr>
        <p:spPr>
          <a:xfrm>
            <a:off x="4709160" y="1572768"/>
            <a:ext cx="4160520" cy="411480"/>
          </a:xfrm>
          <a:prstGeom prst="rect">
            <a:avLst/>
          </a:prstGeom>
          <a:solidFill>
            <a:srgbClr val="F5A623"/>
          </a:solidFill>
          <a:ln w="12700">
            <a:solidFill>
              <a:srgbClr val="F5A623"/>
            </a:solidFill>
            <a:prstDash val="solid"/>
          </a:ln>
        </p:spPr>
      </p:sp>
      <p:sp>
        <p:nvSpPr>
          <p:cNvPr id="28" name="Text 26"/>
          <p:cNvSpPr/>
          <p:nvPr/>
        </p:nvSpPr>
        <p:spPr>
          <a:xfrm>
            <a:off x="4709160" y="1572768"/>
            <a:ext cx="416052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TÓM TẮT — Công thức 5 câu</a:t>
            </a:r>
            <a:endParaRPr lang="en-US" sz="1800" dirty="0"/>
          </a:p>
        </p:txBody>
      </p:sp>
      <p:sp>
        <p:nvSpPr>
          <p:cNvPr id="29" name="Shape 27"/>
          <p:cNvSpPr/>
          <p:nvPr/>
        </p:nvSpPr>
        <p:spPr>
          <a:xfrm>
            <a:off x="4709160" y="2048256"/>
            <a:ext cx="411480" cy="457200"/>
          </a:xfrm>
          <a:prstGeom prst="rect">
            <a:avLst/>
          </a:prstGeom>
          <a:solidFill>
            <a:srgbClr val="2B2F77"/>
          </a:solidFill>
          <a:ln w="12700">
            <a:solidFill>
              <a:srgbClr val="2B2F77"/>
            </a:solidFill>
            <a:prstDash val="solid"/>
          </a:ln>
        </p:spPr>
      </p:sp>
      <p:sp>
        <p:nvSpPr>
          <p:cNvPr id="30" name="Text 28"/>
          <p:cNvSpPr/>
          <p:nvPr/>
        </p:nvSpPr>
        <p:spPr>
          <a:xfrm>
            <a:off x="4709160" y="2048256"/>
            <a:ext cx="4114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31" name="Shape 29"/>
          <p:cNvSpPr/>
          <p:nvPr/>
        </p:nvSpPr>
        <p:spPr>
          <a:xfrm>
            <a:off x="5166360" y="2048256"/>
            <a:ext cx="3703320" cy="457200"/>
          </a:xfrm>
          <a:prstGeom prst="rect">
            <a:avLst/>
          </a:prstGeom>
          <a:solidFill>
            <a:srgbClr val="FFF8EE"/>
          </a:solidFill>
          <a:ln w="6350">
            <a:solidFill>
              <a:srgbClr val="CCCCCC"/>
            </a:solidFill>
            <a:prstDash val="solid"/>
          </a:ln>
        </p:spPr>
      </p:sp>
      <p:sp>
        <p:nvSpPr>
          <p:cNvPr id="32" name="Text 30"/>
          <p:cNvSpPr/>
          <p:nvPr/>
        </p:nvSpPr>
        <p:spPr>
          <a:xfrm>
            <a:off x="5230368" y="2103120"/>
            <a:ext cx="1005840" cy="347472"/>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Bối cảnh — </a:t>
            </a:r>
            <a:endParaRPr lang="en-US" sz="1600" dirty="0"/>
          </a:p>
        </p:txBody>
      </p:sp>
      <p:sp>
        <p:nvSpPr>
          <p:cNvPr id="33" name="Text 31"/>
          <p:cNvSpPr/>
          <p:nvPr/>
        </p:nvSpPr>
        <p:spPr>
          <a:xfrm>
            <a:off x="6263640" y="2103120"/>
            <a:ext cx="2514600" cy="347472"/>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Vấn đề xuất phát từ đâu?</a:t>
            </a:r>
            <a:endParaRPr lang="en-US" sz="1600" dirty="0"/>
          </a:p>
        </p:txBody>
      </p:sp>
      <p:sp>
        <p:nvSpPr>
          <p:cNvPr id="34" name="Shape 32"/>
          <p:cNvSpPr/>
          <p:nvPr/>
        </p:nvSpPr>
        <p:spPr>
          <a:xfrm>
            <a:off x="4709160" y="2596896"/>
            <a:ext cx="411480" cy="457200"/>
          </a:xfrm>
          <a:prstGeom prst="rect">
            <a:avLst/>
          </a:prstGeom>
          <a:solidFill>
            <a:srgbClr val="2B2F77"/>
          </a:solidFill>
          <a:ln w="12700">
            <a:solidFill>
              <a:srgbClr val="2B2F77"/>
            </a:solidFill>
            <a:prstDash val="solid"/>
          </a:ln>
        </p:spPr>
      </p:sp>
      <p:sp>
        <p:nvSpPr>
          <p:cNvPr id="35" name="Text 33"/>
          <p:cNvSpPr/>
          <p:nvPr/>
        </p:nvSpPr>
        <p:spPr>
          <a:xfrm>
            <a:off x="4709160" y="2596896"/>
            <a:ext cx="4114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36" name="Shape 34"/>
          <p:cNvSpPr/>
          <p:nvPr/>
        </p:nvSpPr>
        <p:spPr>
          <a:xfrm>
            <a:off x="5166360" y="2596896"/>
            <a:ext cx="3703320" cy="457200"/>
          </a:xfrm>
          <a:prstGeom prst="rect">
            <a:avLst/>
          </a:prstGeom>
          <a:solidFill>
            <a:srgbClr val="FFFFFF"/>
          </a:solidFill>
          <a:ln w="6350">
            <a:solidFill>
              <a:srgbClr val="CCCCCC"/>
            </a:solidFill>
            <a:prstDash val="solid"/>
          </a:ln>
        </p:spPr>
      </p:sp>
      <p:sp>
        <p:nvSpPr>
          <p:cNvPr id="37" name="Text 35"/>
          <p:cNvSpPr/>
          <p:nvPr/>
        </p:nvSpPr>
        <p:spPr>
          <a:xfrm>
            <a:off x="5230368" y="2651760"/>
            <a:ext cx="1005840" cy="347472"/>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Khoảng trống — </a:t>
            </a:r>
            <a:endParaRPr lang="en-US" sz="1600" dirty="0"/>
          </a:p>
        </p:txBody>
      </p:sp>
      <p:sp>
        <p:nvSpPr>
          <p:cNvPr id="38" name="Text 36"/>
          <p:cNvSpPr/>
          <p:nvPr/>
        </p:nvSpPr>
        <p:spPr>
          <a:xfrm>
            <a:off x="6263640" y="2651760"/>
            <a:ext cx="2514600" cy="347472"/>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Nghiên cứu trước còn thiếu gì?</a:t>
            </a:r>
            <a:endParaRPr lang="en-US" sz="1600" dirty="0"/>
          </a:p>
        </p:txBody>
      </p:sp>
      <p:sp>
        <p:nvSpPr>
          <p:cNvPr id="39" name="Shape 37"/>
          <p:cNvSpPr/>
          <p:nvPr/>
        </p:nvSpPr>
        <p:spPr>
          <a:xfrm>
            <a:off x="4709160" y="3145536"/>
            <a:ext cx="411480" cy="457200"/>
          </a:xfrm>
          <a:prstGeom prst="rect">
            <a:avLst/>
          </a:prstGeom>
          <a:solidFill>
            <a:srgbClr val="2B2F77"/>
          </a:solidFill>
          <a:ln w="12700">
            <a:solidFill>
              <a:srgbClr val="2B2F77"/>
            </a:solidFill>
            <a:prstDash val="solid"/>
          </a:ln>
        </p:spPr>
      </p:sp>
      <p:sp>
        <p:nvSpPr>
          <p:cNvPr id="40" name="Text 38"/>
          <p:cNvSpPr/>
          <p:nvPr/>
        </p:nvSpPr>
        <p:spPr>
          <a:xfrm>
            <a:off x="4709160" y="3145536"/>
            <a:ext cx="4114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41" name="Shape 39"/>
          <p:cNvSpPr/>
          <p:nvPr/>
        </p:nvSpPr>
        <p:spPr>
          <a:xfrm>
            <a:off x="5166360" y="3145536"/>
            <a:ext cx="3703320" cy="457200"/>
          </a:xfrm>
          <a:prstGeom prst="rect">
            <a:avLst/>
          </a:prstGeom>
          <a:solidFill>
            <a:srgbClr val="FFF8EE"/>
          </a:solidFill>
          <a:ln w="6350">
            <a:solidFill>
              <a:srgbClr val="CCCCCC"/>
            </a:solidFill>
            <a:prstDash val="solid"/>
          </a:ln>
        </p:spPr>
      </p:sp>
      <p:sp>
        <p:nvSpPr>
          <p:cNvPr id="42" name="Text 40"/>
          <p:cNvSpPr/>
          <p:nvPr/>
        </p:nvSpPr>
        <p:spPr>
          <a:xfrm>
            <a:off x="5230368" y="3200400"/>
            <a:ext cx="1005840" cy="347472"/>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Mục tiêu — </a:t>
            </a:r>
            <a:endParaRPr lang="en-US" sz="1600" dirty="0"/>
          </a:p>
        </p:txBody>
      </p:sp>
      <p:sp>
        <p:nvSpPr>
          <p:cNvPr id="43" name="Text 41"/>
          <p:cNvSpPr/>
          <p:nvPr/>
        </p:nvSpPr>
        <p:spPr>
          <a:xfrm>
            <a:off x="6263640" y="3200400"/>
            <a:ext cx="2514600" cy="347472"/>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Bài báo này làm gì?</a:t>
            </a:r>
            <a:endParaRPr lang="en-US" sz="1600" dirty="0"/>
          </a:p>
        </p:txBody>
      </p:sp>
      <p:sp>
        <p:nvSpPr>
          <p:cNvPr id="44" name="Shape 42"/>
          <p:cNvSpPr/>
          <p:nvPr/>
        </p:nvSpPr>
        <p:spPr>
          <a:xfrm>
            <a:off x="4709160" y="3694176"/>
            <a:ext cx="411480" cy="457200"/>
          </a:xfrm>
          <a:prstGeom prst="rect">
            <a:avLst/>
          </a:prstGeom>
          <a:solidFill>
            <a:srgbClr val="2B2F77"/>
          </a:solidFill>
          <a:ln w="12700">
            <a:solidFill>
              <a:srgbClr val="2B2F77"/>
            </a:solidFill>
            <a:prstDash val="solid"/>
          </a:ln>
        </p:spPr>
      </p:sp>
      <p:sp>
        <p:nvSpPr>
          <p:cNvPr id="45" name="Text 43"/>
          <p:cNvSpPr/>
          <p:nvPr/>
        </p:nvSpPr>
        <p:spPr>
          <a:xfrm>
            <a:off x="4709160" y="3694176"/>
            <a:ext cx="4114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46" name="Shape 44"/>
          <p:cNvSpPr/>
          <p:nvPr/>
        </p:nvSpPr>
        <p:spPr>
          <a:xfrm>
            <a:off x="5166360" y="3694176"/>
            <a:ext cx="3703320" cy="457200"/>
          </a:xfrm>
          <a:prstGeom prst="rect">
            <a:avLst/>
          </a:prstGeom>
          <a:solidFill>
            <a:srgbClr val="FFFFFF"/>
          </a:solidFill>
          <a:ln w="6350">
            <a:solidFill>
              <a:srgbClr val="CCCCCC"/>
            </a:solidFill>
            <a:prstDash val="solid"/>
          </a:ln>
        </p:spPr>
      </p:sp>
      <p:sp>
        <p:nvSpPr>
          <p:cNvPr id="47" name="Text 45"/>
          <p:cNvSpPr/>
          <p:nvPr/>
        </p:nvSpPr>
        <p:spPr>
          <a:xfrm>
            <a:off x="5230368" y="3749040"/>
            <a:ext cx="1005840" cy="347472"/>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PP + Kết quả — </a:t>
            </a:r>
            <a:endParaRPr lang="en-US" sz="1600" dirty="0"/>
          </a:p>
        </p:txBody>
      </p:sp>
      <p:sp>
        <p:nvSpPr>
          <p:cNvPr id="48" name="Text 46"/>
          <p:cNvSpPr/>
          <p:nvPr/>
        </p:nvSpPr>
        <p:spPr>
          <a:xfrm>
            <a:off x="6263640" y="3749040"/>
            <a:ext cx="2514600" cy="347472"/>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Phương pháp &amp; số liệu kết quả</a:t>
            </a:r>
            <a:endParaRPr lang="en-US" sz="1600" dirty="0"/>
          </a:p>
        </p:txBody>
      </p:sp>
      <p:sp>
        <p:nvSpPr>
          <p:cNvPr id="49" name="Shape 47"/>
          <p:cNvSpPr/>
          <p:nvPr/>
        </p:nvSpPr>
        <p:spPr>
          <a:xfrm>
            <a:off x="4709160" y="4242816"/>
            <a:ext cx="411480" cy="457200"/>
          </a:xfrm>
          <a:prstGeom prst="rect">
            <a:avLst/>
          </a:prstGeom>
          <a:solidFill>
            <a:srgbClr val="2B2F77"/>
          </a:solidFill>
          <a:ln w="12700">
            <a:solidFill>
              <a:srgbClr val="2B2F77"/>
            </a:solidFill>
            <a:prstDash val="solid"/>
          </a:ln>
        </p:spPr>
      </p:sp>
      <p:sp>
        <p:nvSpPr>
          <p:cNvPr id="50" name="Text 48"/>
          <p:cNvSpPr/>
          <p:nvPr/>
        </p:nvSpPr>
        <p:spPr>
          <a:xfrm>
            <a:off x="4709160" y="4242816"/>
            <a:ext cx="4114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51" name="Shape 49"/>
          <p:cNvSpPr/>
          <p:nvPr/>
        </p:nvSpPr>
        <p:spPr>
          <a:xfrm>
            <a:off x="5166360" y="4242816"/>
            <a:ext cx="3703320" cy="457200"/>
          </a:xfrm>
          <a:prstGeom prst="rect">
            <a:avLst/>
          </a:prstGeom>
          <a:solidFill>
            <a:srgbClr val="FFF8EE"/>
          </a:solidFill>
          <a:ln w="6350">
            <a:solidFill>
              <a:srgbClr val="CCCCCC"/>
            </a:solidFill>
            <a:prstDash val="solid"/>
          </a:ln>
        </p:spPr>
      </p:sp>
      <p:sp>
        <p:nvSpPr>
          <p:cNvPr id="52" name="Text 50"/>
          <p:cNvSpPr/>
          <p:nvPr/>
        </p:nvSpPr>
        <p:spPr>
          <a:xfrm>
            <a:off x="5230368" y="4297680"/>
            <a:ext cx="1005840" cy="347472"/>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Ý nghĩa — </a:t>
            </a:r>
            <a:endParaRPr lang="en-US" sz="1600" dirty="0"/>
          </a:p>
        </p:txBody>
      </p:sp>
      <p:sp>
        <p:nvSpPr>
          <p:cNvPr id="53" name="Text 51"/>
          <p:cNvSpPr/>
          <p:nvPr/>
        </p:nvSpPr>
        <p:spPr>
          <a:xfrm>
            <a:off x="6263640" y="4297680"/>
            <a:ext cx="2514600" cy="347472"/>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Đóng góp thực tiễn là gì?</a:t>
            </a:r>
            <a:endParaRPr lang="en-US" sz="1600" dirty="0"/>
          </a:p>
        </p:txBody>
      </p:sp>
      <p:sp>
        <p:nvSpPr>
          <p:cNvPr id="54" name="Shape 52"/>
          <p:cNvSpPr/>
          <p:nvPr/>
        </p:nvSpPr>
        <p:spPr>
          <a:xfrm>
            <a:off x="2011680" y="4846320"/>
            <a:ext cx="7040880" cy="36576"/>
          </a:xfrm>
          <a:prstGeom prst="rect">
            <a:avLst/>
          </a:prstGeom>
          <a:solidFill>
            <a:srgbClr val="F5A623"/>
          </a:solidFill>
          <a:ln w="12700">
            <a:solidFill>
              <a:srgbClr val="F5A623"/>
            </a:solidFill>
            <a:prstDash val="solid"/>
          </a:ln>
        </p:spPr>
      </p:sp>
      <p:pic>
        <p:nvPicPr>
          <p:cNvPr id="55"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56" name="Text 53"/>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57" name="Text 54"/>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Abstract: Ví dụ Trước &amp; Sau — Nhìn để hiểu</a:t>
            </a:r>
            <a:endParaRPr lang="en-US" sz="2600" dirty="0"/>
          </a:p>
        </p:txBody>
      </p:sp>
      <p:sp>
        <p:nvSpPr>
          <p:cNvPr id="10" name="Shape 8"/>
          <p:cNvSpPr/>
          <p:nvPr/>
        </p:nvSpPr>
        <p:spPr>
          <a:xfrm>
            <a:off x="274320" y="1572768"/>
            <a:ext cx="4023360" cy="438912"/>
          </a:xfrm>
          <a:prstGeom prst="rect">
            <a:avLst/>
          </a:prstGeom>
          <a:solidFill>
            <a:srgbClr val="C0392B"/>
          </a:solidFill>
          <a:ln w="12700">
            <a:solidFill>
              <a:srgbClr val="C0392B"/>
            </a:solidFill>
            <a:prstDash val="solid"/>
          </a:ln>
        </p:spPr>
      </p:sp>
      <p:sp>
        <p:nvSpPr>
          <p:cNvPr id="11" name="Text 9"/>
          <p:cNvSpPr/>
          <p:nvPr/>
        </p:nvSpPr>
        <p:spPr>
          <a:xfrm>
            <a:off x="274320" y="1572768"/>
            <a:ext cx="4023360" cy="438912"/>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  Abstract YẾU</a:t>
            </a:r>
            <a:endParaRPr lang="en-US" sz="1900" dirty="0"/>
          </a:p>
        </p:txBody>
      </p:sp>
      <p:sp>
        <p:nvSpPr>
          <p:cNvPr id="12" name="Shape 10"/>
          <p:cNvSpPr/>
          <p:nvPr/>
        </p:nvSpPr>
        <p:spPr>
          <a:xfrm>
            <a:off x="274320" y="2048256"/>
            <a:ext cx="4023360" cy="2651760"/>
          </a:xfrm>
          <a:prstGeom prst="rect">
            <a:avLst/>
          </a:prstGeom>
          <a:solidFill>
            <a:srgbClr val="FFF5F5"/>
          </a:solidFill>
          <a:ln w="12700">
            <a:solidFill>
              <a:srgbClr val="C0392B"/>
            </a:solidFill>
            <a:prstDash val="solid"/>
          </a:ln>
        </p:spPr>
      </p:sp>
      <p:sp>
        <p:nvSpPr>
          <p:cNvPr id="13" name="Text 11"/>
          <p:cNvSpPr/>
          <p:nvPr/>
        </p:nvSpPr>
        <p:spPr>
          <a:xfrm>
            <a:off x="411480" y="2121408"/>
            <a:ext cx="3749040" cy="2487168"/>
          </a:xfrm>
          <a:prstGeom prst="rect">
            <a:avLst/>
          </a:prstGeom>
          <a:noFill/>
          <a:ln/>
        </p:spPr>
        <p:txBody>
          <a:bodyPr wrap="square" lIns="0" tIns="0" rIns="0" bIns="0" rtlCol="0" anchor="ctr"/>
          <a:lstStyle/>
          <a:p>
            <a:pPr marL="0" indent="0">
              <a:buNone/>
            </a:pPr>
            <a:r>
              <a:rPr lang="en-US" sz="1700" dirty="0">
                <a:solidFill>
                  <a:srgbClr val="666666"/>
                </a:solidFill>
                <a:latin typeface="Calibri" pitchFamily="34" charset="0"/>
                <a:ea typeface="Calibri" pitchFamily="34" charset="-122"/>
                <a:cs typeface="Calibri" pitchFamily="34" charset="-120"/>
              </a:rPr>
              <a:t>Bài báo này nghiên cứu về giao thông tại Hà Nội. Chúng tôi đã thu thập dữ liệu và phân tích. Kết quả cho thấy có nhiều vấn đề. Chúng tôi đề xuất một số giải pháp. Hy vọng bài báo có ích.</a:t>
            </a:r>
            <a:endParaRPr lang="en-US" sz="1700" dirty="0"/>
          </a:p>
        </p:txBody>
      </p:sp>
      <p:sp>
        <p:nvSpPr>
          <p:cNvPr id="14" name="Shape 12"/>
          <p:cNvSpPr/>
          <p:nvPr/>
        </p:nvSpPr>
        <p:spPr>
          <a:xfrm>
            <a:off x="274320" y="4800600"/>
            <a:ext cx="4023360" cy="0"/>
          </a:xfrm>
          <a:prstGeom prst="rect">
            <a:avLst/>
          </a:prstGeom>
          <a:solidFill>
            <a:srgbClr val="FFFFFF"/>
          </a:solidFill>
          <a:ln w="12700">
            <a:solidFill>
              <a:srgbClr val="FFFFFF"/>
            </a:solidFill>
            <a:prstDash val="solid"/>
          </a:ln>
        </p:spPr>
      </p:sp>
      <p:sp>
        <p:nvSpPr>
          <p:cNvPr id="15" name="Shape 13"/>
          <p:cNvSpPr/>
          <p:nvPr/>
        </p:nvSpPr>
        <p:spPr>
          <a:xfrm>
            <a:off x="274320" y="4800600"/>
            <a:ext cx="4023360" cy="0"/>
          </a:xfrm>
          <a:prstGeom prst="rect">
            <a:avLst/>
          </a:prstGeom>
          <a:solidFill>
            <a:srgbClr val="FFFFFF"/>
          </a:solidFill>
          <a:ln w="12700">
            <a:solidFill>
              <a:srgbClr val="FFFFFF"/>
            </a:solidFill>
            <a:prstDash val="solid"/>
          </a:ln>
        </p:spPr>
      </p:sp>
      <p:sp>
        <p:nvSpPr>
          <p:cNvPr id="16" name="Shape 14"/>
          <p:cNvSpPr/>
          <p:nvPr/>
        </p:nvSpPr>
        <p:spPr>
          <a:xfrm>
            <a:off x="274320" y="4800600"/>
            <a:ext cx="4023360" cy="0"/>
          </a:xfrm>
          <a:prstGeom prst="rect">
            <a:avLst/>
          </a:prstGeom>
          <a:solidFill>
            <a:srgbClr val="FFFFFF"/>
          </a:solidFill>
          <a:ln w="12700">
            <a:solidFill>
              <a:srgbClr val="FFFFFF"/>
            </a:solidFill>
            <a:prstDash val="solid"/>
          </a:ln>
        </p:spPr>
      </p:sp>
      <p:sp>
        <p:nvSpPr>
          <p:cNvPr id="18" name="Shape 16"/>
          <p:cNvSpPr/>
          <p:nvPr/>
        </p:nvSpPr>
        <p:spPr>
          <a:xfrm>
            <a:off x="4846320" y="1572768"/>
            <a:ext cx="4023360" cy="438912"/>
          </a:xfrm>
          <a:prstGeom prst="rect">
            <a:avLst/>
          </a:prstGeom>
          <a:solidFill>
            <a:srgbClr val="2B2F77"/>
          </a:solidFill>
          <a:ln w="12700">
            <a:solidFill>
              <a:srgbClr val="2B2F77"/>
            </a:solidFill>
            <a:prstDash val="solid"/>
          </a:ln>
        </p:spPr>
      </p:sp>
      <p:sp>
        <p:nvSpPr>
          <p:cNvPr id="19" name="Text 17"/>
          <p:cNvSpPr/>
          <p:nvPr/>
        </p:nvSpPr>
        <p:spPr>
          <a:xfrm>
            <a:off x="4846320" y="1572768"/>
            <a:ext cx="4023360" cy="438912"/>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  Abstract MẠNH</a:t>
            </a:r>
            <a:endParaRPr lang="en-US" sz="1900" dirty="0"/>
          </a:p>
        </p:txBody>
      </p:sp>
      <p:sp>
        <p:nvSpPr>
          <p:cNvPr id="20" name="Shape 18"/>
          <p:cNvSpPr/>
          <p:nvPr/>
        </p:nvSpPr>
        <p:spPr>
          <a:xfrm>
            <a:off x="4846320" y="2048256"/>
            <a:ext cx="4023360" cy="2651760"/>
          </a:xfrm>
          <a:prstGeom prst="rect">
            <a:avLst/>
          </a:prstGeom>
          <a:solidFill>
            <a:srgbClr val="F0FFF8"/>
          </a:solidFill>
          <a:ln w="12700">
            <a:solidFill>
              <a:srgbClr val="1A9B5F"/>
            </a:solidFill>
            <a:prstDash val="solid"/>
          </a:ln>
        </p:spPr>
      </p:sp>
      <p:sp>
        <p:nvSpPr>
          <p:cNvPr id="21" name="Text 19"/>
          <p:cNvSpPr/>
          <p:nvPr/>
        </p:nvSpPr>
        <p:spPr>
          <a:xfrm>
            <a:off x="4983480" y="2121408"/>
            <a:ext cx="3749040" cy="2487168"/>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Ùn tắc tại Hà Nội gây thiệt hại ước tính 1,2 tỷ USD/năm; nghiên cứu hiện tại chưa định lượng tác động làn BRT. Bằng hồi quy đa biến trên dữ liệu GPS của 500 xe buýt (6 tháng), kết quả cho thấy làn buýt riêng giảm thời gian đi lại 23% trong giờ cao điểm (p&lt;0,05), cung cấp bằng chứng định lượng hỗ trợ chính sách mở rộng BRT tại Việt Nam.</a:t>
            </a:r>
            <a:endParaRPr lang="en-US" sz="1700" dirty="0"/>
          </a:p>
        </p:txBody>
      </p:sp>
      <p:sp>
        <p:nvSpPr>
          <p:cNvPr id="22" name="Text 20"/>
          <p:cNvSpPr/>
          <p:nvPr/>
        </p:nvSpPr>
        <p:spPr>
          <a:xfrm>
            <a:off x="4846320" y="4736592"/>
            <a:ext cx="4023360" cy="347472"/>
          </a:xfrm>
          <a:prstGeom prst="rect">
            <a:avLst/>
          </a:prstGeom>
          <a:noFill/>
          <a:ln/>
        </p:spPr>
        <p:txBody>
          <a:bodyPr wrap="square" lIns="0" tIns="0" rIns="0" bIns="0" rtlCol="0" anchor="ctr"/>
          <a:lstStyle/>
          <a:p>
            <a:pPr marL="0" indent="0">
              <a:buNone/>
            </a:pPr>
            <a:endParaRPr lang="en-US" sz="1500" dirty="0"/>
          </a:p>
        </p:txBody>
      </p:sp>
      <p:sp>
        <p:nvSpPr>
          <p:cNvPr id="23" name="Shape 21"/>
          <p:cNvSpPr/>
          <p:nvPr/>
        </p:nvSpPr>
        <p:spPr>
          <a:xfrm>
            <a:off x="2011680" y="4846320"/>
            <a:ext cx="7040880" cy="36576"/>
          </a:xfrm>
          <a:prstGeom prst="rect">
            <a:avLst/>
          </a:prstGeom>
          <a:solidFill>
            <a:srgbClr val="F5A623"/>
          </a:solidFill>
          <a:ln w="12700">
            <a:solidFill>
              <a:srgbClr val="F5A623"/>
            </a:solidFill>
            <a:prstDash val="solid"/>
          </a:ln>
        </p:spPr>
      </p:sp>
      <p:pic>
        <p:nvPicPr>
          <p:cNvPr id="24"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25" name="Text 22"/>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dirty="0">
                <a:solidFill>
                  <a:srgbClr val="2B2F77"/>
                </a:solidFill>
                <a:latin typeface="Calibri" pitchFamily="34" charset="0"/>
                <a:ea typeface="Calibri" pitchFamily="34" charset="-122"/>
                <a:cs typeface="Calibri" pitchFamily="34" charset="-120"/>
              </a:rPr>
              <a:t>Transport Technology</a:t>
            </a:r>
            <a:endParaRPr lang="en-US" sz="1100" dirty="0"/>
          </a:p>
        </p:txBody>
      </p:sp>
      <p:sp>
        <p:nvSpPr>
          <p:cNvPr id="26" name="Text 23"/>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Giới thiệu &amp; Phương </a:t>
            </a:r>
            <a:r>
              <a:rPr lang="en-US" sz="2600" b="1" dirty="0" err="1">
                <a:solidFill>
                  <a:srgbClr val="FFFFFF"/>
                </a:solidFill>
                <a:latin typeface="Calibri" pitchFamily="34" charset="0"/>
                <a:ea typeface="Calibri" pitchFamily="34" charset="-122"/>
                <a:cs typeface="Calibri" pitchFamily="34" charset="-120"/>
              </a:rPr>
              <a:t>pháp</a:t>
            </a:r>
            <a:endParaRPr lang="en-US" sz="2600" dirty="0"/>
          </a:p>
        </p:txBody>
      </p:sp>
      <p:sp>
        <p:nvSpPr>
          <p:cNvPr id="10" name="Shape 8"/>
          <p:cNvSpPr/>
          <p:nvPr/>
        </p:nvSpPr>
        <p:spPr>
          <a:xfrm>
            <a:off x="274320" y="1572768"/>
            <a:ext cx="4160520" cy="411480"/>
          </a:xfrm>
          <a:prstGeom prst="rect">
            <a:avLst/>
          </a:prstGeom>
          <a:solidFill>
            <a:srgbClr val="2B2F77"/>
          </a:solidFill>
          <a:ln w="12700">
            <a:solidFill>
              <a:srgbClr val="2B2F77"/>
            </a:solidFill>
            <a:prstDash val="solid"/>
          </a:ln>
        </p:spPr>
      </p:sp>
      <p:sp>
        <p:nvSpPr>
          <p:cNvPr id="11" name="Text 9"/>
          <p:cNvSpPr/>
          <p:nvPr/>
        </p:nvSpPr>
        <p:spPr>
          <a:xfrm>
            <a:off x="274320" y="1572768"/>
            <a:ext cx="416052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Mô hình CARS — Viết Giới thiệu</a:t>
            </a:r>
            <a:endParaRPr lang="en-US" sz="1800" dirty="0"/>
          </a:p>
        </p:txBody>
      </p:sp>
      <p:sp>
        <p:nvSpPr>
          <p:cNvPr id="12" name="Shape 10"/>
          <p:cNvSpPr/>
          <p:nvPr/>
        </p:nvSpPr>
        <p:spPr>
          <a:xfrm>
            <a:off x="274320" y="2039112"/>
            <a:ext cx="1005840" cy="804672"/>
          </a:xfrm>
          <a:prstGeom prst="rect">
            <a:avLst/>
          </a:prstGeom>
          <a:solidFill>
            <a:srgbClr val="2B2F77"/>
          </a:solidFill>
          <a:ln w="12700">
            <a:solidFill>
              <a:srgbClr val="2B2F77"/>
            </a:solidFill>
            <a:prstDash val="solid"/>
          </a:ln>
        </p:spPr>
      </p:sp>
      <p:sp>
        <p:nvSpPr>
          <p:cNvPr id="13" name="Text 11"/>
          <p:cNvSpPr/>
          <p:nvPr/>
        </p:nvSpPr>
        <p:spPr>
          <a:xfrm>
            <a:off x="274320" y="2039112"/>
            <a:ext cx="1005840" cy="8046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Bước 1</a:t>
            </a:r>
            <a:endParaRPr lang="en-US" sz="1400" dirty="0"/>
          </a:p>
        </p:txBody>
      </p:sp>
      <p:sp>
        <p:nvSpPr>
          <p:cNvPr id="14" name="Shape 12"/>
          <p:cNvSpPr/>
          <p:nvPr/>
        </p:nvSpPr>
        <p:spPr>
          <a:xfrm>
            <a:off x="1325880" y="2039112"/>
            <a:ext cx="3108960" cy="804672"/>
          </a:xfrm>
          <a:prstGeom prst="rect">
            <a:avLst/>
          </a:prstGeom>
          <a:solidFill>
            <a:srgbClr val="F4F6FA"/>
          </a:solidFill>
          <a:ln w="6350">
            <a:solidFill>
              <a:srgbClr val="CCCCCC"/>
            </a:solidFill>
            <a:prstDash val="solid"/>
          </a:ln>
        </p:spPr>
      </p:sp>
      <p:sp>
        <p:nvSpPr>
          <p:cNvPr id="15" name="Text 13"/>
          <p:cNvSpPr/>
          <p:nvPr/>
        </p:nvSpPr>
        <p:spPr>
          <a:xfrm>
            <a:off x="1417320" y="2112264"/>
            <a:ext cx="2926080" cy="658368"/>
          </a:xfrm>
          <a:prstGeom prst="rect">
            <a:avLst/>
          </a:prstGeom>
          <a:noFill/>
          <a:ln/>
        </p:spPr>
        <p:txBody>
          <a:bodyPr wrap="square" lIns="0" tIns="0" rIns="0" bIns="0" rtlCol="0" anchor="ctr"/>
          <a:lstStyle/>
          <a:p>
            <a:pPr marL="0" indent="0">
              <a:buNone/>
            </a:pPr>
            <a:r>
              <a:rPr lang="en-US" sz="1600" dirty="0" err="1">
                <a:solidFill>
                  <a:srgbClr val="2B2F77"/>
                </a:solidFill>
                <a:latin typeface="Calibri" pitchFamily="34" charset="0"/>
                <a:ea typeface="Calibri" pitchFamily="34" charset="-122"/>
                <a:cs typeface="Calibri" pitchFamily="34" charset="-120"/>
              </a:rPr>
              <a:t>Tầm</a:t>
            </a:r>
            <a:r>
              <a:rPr lang="en-US" sz="1600" dirty="0">
                <a:solidFill>
                  <a:srgbClr val="2B2F77"/>
                </a:solidFill>
                <a:latin typeface="Calibri" pitchFamily="34" charset="0"/>
                <a:ea typeface="Calibri" pitchFamily="34" charset="-122"/>
                <a:cs typeface="Calibri" pitchFamily="34" charset="-120"/>
              </a:rPr>
              <a:t> quan trọng chủ đề</a:t>
            </a:r>
            <a:endParaRPr lang="en-US" sz="1600" dirty="0"/>
          </a:p>
          <a:p>
            <a:pPr marL="0" indent="0">
              <a:buNone/>
            </a:pPr>
            <a:r>
              <a:rPr lang="en-US" sz="1600" dirty="0">
                <a:solidFill>
                  <a:srgbClr val="2B2F77"/>
                </a:solidFill>
                <a:latin typeface="Calibri" pitchFamily="34" charset="0"/>
                <a:ea typeface="Calibri" pitchFamily="34" charset="-122"/>
                <a:cs typeface="Calibri" pitchFamily="34" charset="-120"/>
              </a:rPr>
              <a:t>Tổng quan nghiên cứu đã có</a:t>
            </a:r>
            <a:endParaRPr lang="en-US" sz="1600" dirty="0"/>
          </a:p>
        </p:txBody>
      </p:sp>
      <p:sp>
        <p:nvSpPr>
          <p:cNvPr id="16" name="Shape 14"/>
          <p:cNvSpPr/>
          <p:nvPr/>
        </p:nvSpPr>
        <p:spPr>
          <a:xfrm>
            <a:off x="274320" y="2971800"/>
            <a:ext cx="1005840" cy="804672"/>
          </a:xfrm>
          <a:prstGeom prst="rect">
            <a:avLst/>
          </a:prstGeom>
          <a:solidFill>
            <a:srgbClr val="1A7BC1"/>
          </a:solidFill>
          <a:ln w="12700">
            <a:solidFill>
              <a:srgbClr val="1A7BC1"/>
            </a:solidFill>
            <a:prstDash val="solid"/>
          </a:ln>
        </p:spPr>
      </p:sp>
      <p:sp>
        <p:nvSpPr>
          <p:cNvPr id="17" name="Text 15"/>
          <p:cNvSpPr/>
          <p:nvPr/>
        </p:nvSpPr>
        <p:spPr>
          <a:xfrm>
            <a:off x="274320" y="2971800"/>
            <a:ext cx="1005840" cy="8046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Bước 2</a:t>
            </a:r>
            <a:endParaRPr lang="en-US" sz="1400" dirty="0"/>
          </a:p>
        </p:txBody>
      </p:sp>
      <p:sp>
        <p:nvSpPr>
          <p:cNvPr id="18" name="Shape 16"/>
          <p:cNvSpPr/>
          <p:nvPr/>
        </p:nvSpPr>
        <p:spPr>
          <a:xfrm>
            <a:off x="1325880" y="2971800"/>
            <a:ext cx="3108960" cy="804672"/>
          </a:xfrm>
          <a:prstGeom prst="rect">
            <a:avLst/>
          </a:prstGeom>
          <a:solidFill>
            <a:srgbClr val="F4F6FA"/>
          </a:solidFill>
          <a:ln w="6350">
            <a:solidFill>
              <a:srgbClr val="CCCCCC"/>
            </a:solidFill>
            <a:prstDash val="solid"/>
          </a:ln>
        </p:spPr>
      </p:sp>
      <p:sp>
        <p:nvSpPr>
          <p:cNvPr id="19" name="Text 17"/>
          <p:cNvSpPr/>
          <p:nvPr/>
        </p:nvSpPr>
        <p:spPr>
          <a:xfrm>
            <a:off x="1417320" y="3044952"/>
            <a:ext cx="2926080" cy="658368"/>
          </a:xfrm>
          <a:prstGeom prst="rect">
            <a:avLst/>
          </a:prstGeom>
          <a:noFill/>
          <a:ln/>
        </p:spPr>
        <p:txBody>
          <a:bodyPr wrap="square" lIns="0" tIns="0" rIns="0" bIns="0" rtlCol="0" anchor="ctr"/>
          <a:lstStyle/>
          <a:p>
            <a:pPr marL="0" indent="0">
              <a:buNone/>
            </a:pPr>
            <a:r>
              <a:rPr lang="en-US" sz="1600" dirty="0" err="1">
                <a:solidFill>
                  <a:srgbClr val="2B2F77"/>
                </a:solidFill>
                <a:latin typeface="Calibri" pitchFamily="34" charset="0"/>
                <a:ea typeface="Calibri" pitchFamily="34" charset="-122"/>
                <a:cs typeface="Calibri" pitchFamily="34" charset="-120"/>
              </a:rPr>
              <a:t>Nghiên</a:t>
            </a:r>
            <a:r>
              <a:rPr lang="en-US" sz="1600" dirty="0">
                <a:solidFill>
                  <a:srgbClr val="2B2F77"/>
                </a:solidFill>
                <a:latin typeface="Calibri" pitchFamily="34" charset="0"/>
                <a:ea typeface="Calibri" pitchFamily="34" charset="-122"/>
                <a:cs typeface="Calibri" pitchFamily="34" charset="-120"/>
              </a:rPr>
              <a:t> cứu trước còn thiếu gì?</a:t>
            </a:r>
            <a:endParaRPr lang="en-US" sz="1600" dirty="0"/>
          </a:p>
          <a:p>
            <a:pPr marL="0" indent="0">
              <a:buNone/>
            </a:pPr>
            <a:r>
              <a:rPr lang="en-US" sz="1600" dirty="0">
                <a:solidFill>
                  <a:srgbClr val="2B2F77"/>
                </a:solidFill>
                <a:latin typeface="Calibri" pitchFamily="34" charset="0"/>
                <a:ea typeface="Calibri" pitchFamily="34" charset="-122"/>
                <a:cs typeface="Calibri" pitchFamily="34" charset="-120"/>
              </a:rPr>
              <a:t>Câu hỏi chưa được trả lời</a:t>
            </a:r>
            <a:endParaRPr lang="en-US" sz="1600" dirty="0"/>
          </a:p>
        </p:txBody>
      </p:sp>
      <p:sp>
        <p:nvSpPr>
          <p:cNvPr id="20" name="Shape 18"/>
          <p:cNvSpPr/>
          <p:nvPr/>
        </p:nvSpPr>
        <p:spPr>
          <a:xfrm>
            <a:off x="274320" y="3904488"/>
            <a:ext cx="1005840" cy="804672"/>
          </a:xfrm>
          <a:prstGeom prst="rect">
            <a:avLst/>
          </a:prstGeom>
          <a:solidFill>
            <a:srgbClr val="F5A623"/>
          </a:solidFill>
          <a:ln w="12700">
            <a:solidFill>
              <a:srgbClr val="F5A623"/>
            </a:solidFill>
            <a:prstDash val="solid"/>
          </a:ln>
        </p:spPr>
      </p:sp>
      <p:sp>
        <p:nvSpPr>
          <p:cNvPr id="21" name="Text 19"/>
          <p:cNvSpPr/>
          <p:nvPr/>
        </p:nvSpPr>
        <p:spPr>
          <a:xfrm>
            <a:off x="274320" y="3904488"/>
            <a:ext cx="1005840" cy="8046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Bước 3</a:t>
            </a:r>
            <a:endParaRPr lang="en-US" sz="1400" dirty="0"/>
          </a:p>
        </p:txBody>
      </p:sp>
      <p:sp>
        <p:nvSpPr>
          <p:cNvPr id="22" name="Shape 20"/>
          <p:cNvSpPr/>
          <p:nvPr/>
        </p:nvSpPr>
        <p:spPr>
          <a:xfrm>
            <a:off x="1325880" y="3904488"/>
            <a:ext cx="3108960" cy="804672"/>
          </a:xfrm>
          <a:prstGeom prst="rect">
            <a:avLst/>
          </a:prstGeom>
          <a:solidFill>
            <a:srgbClr val="F4F6FA"/>
          </a:solidFill>
          <a:ln w="6350">
            <a:solidFill>
              <a:srgbClr val="CCCCCC"/>
            </a:solidFill>
            <a:prstDash val="solid"/>
          </a:ln>
        </p:spPr>
      </p:sp>
      <p:sp>
        <p:nvSpPr>
          <p:cNvPr id="23" name="Text 21"/>
          <p:cNvSpPr/>
          <p:nvPr/>
        </p:nvSpPr>
        <p:spPr>
          <a:xfrm>
            <a:off x="1417320" y="3977640"/>
            <a:ext cx="2926080" cy="658368"/>
          </a:xfrm>
          <a:prstGeom prst="rect">
            <a:avLst/>
          </a:prstGeom>
          <a:noFill/>
          <a:ln/>
        </p:spPr>
        <p:txBody>
          <a:bodyPr wrap="square" lIns="0" tIns="0" rIns="0" bIns="0" rtlCol="0" anchor="ctr"/>
          <a:lstStyle/>
          <a:p>
            <a:pPr marL="0" indent="0">
              <a:buNone/>
            </a:pPr>
            <a:r>
              <a:rPr lang="en-US" sz="1600" dirty="0" err="1">
                <a:solidFill>
                  <a:srgbClr val="2B2F77"/>
                </a:solidFill>
                <a:latin typeface="Calibri" pitchFamily="34" charset="0"/>
                <a:ea typeface="Calibri" pitchFamily="34" charset="-122"/>
                <a:cs typeface="Calibri" pitchFamily="34" charset="-120"/>
              </a:rPr>
              <a:t>Bài</a:t>
            </a:r>
            <a:r>
              <a:rPr lang="en-US" sz="1600" dirty="0">
                <a:solidFill>
                  <a:srgbClr val="2B2F77"/>
                </a:solidFill>
                <a:latin typeface="Calibri" pitchFamily="34" charset="0"/>
                <a:ea typeface="Calibri" pitchFamily="34" charset="-122"/>
                <a:cs typeface="Calibri" pitchFamily="34" charset="-120"/>
              </a:rPr>
              <a:t> báo này đề xuất gì?</a:t>
            </a:r>
            <a:endParaRPr lang="en-US" sz="1600" dirty="0"/>
          </a:p>
          <a:p>
            <a:pPr marL="0" indent="0">
              <a:buNone/>
            </a:pPr>
            <a:r>
              <a:rPr lang="en-US" sz="1600" dirty="0">
                <a:solidFill>
                  <a:srgbClr val="2B2F77"/>
                </a:solidFill>
                <a:latin typeface="Calibri" pitchFamily="34" charset="0"/>
                <a:ea typeface="Calibri" pitchFamily="34" charset="-122"/>
                <a:cs typeface="Calibri" pitchFamily="34" charset="-120"/>
              </a:rPr>
              <a:t>Mục tiêu + Đóng góp cụ thể</a:t>
            </a:r>
            <a:endParaRPr lang="en-US" sz="1600" dirty="0"/>
          </a:p>
        </p:txBody>
      </p:sp>
      <p:sp>
        <p:nvSpPr>
          <p:cNvPr id="24" name="Shape 22"/>
          <p:cNvSpPr/>
          <p:nvPr/>
        </p:nvSpPr>
        <p:spPr>
          <a:xfrm>
            <a:off x="4709160" y="1572768"/>
            <a:ext cx="4160520" cy="411480"/>
          </a:xfrm>
          <a:prstGeom prst="rect">
            <a:avLst/>
          </a:prstGeom>
          <a:solidFill>
            <a:srgbClr val="F5A623"/>
          </a:solidFill>
          <a:ln w="12700">
            <a:solidFill>
              <a:srgbClr val="F5A623"/>
            </a:solidFill>
            <a:prstDash val="solid"/>
          </a:ln>
        </p:spPr>
      </p:sp>
      <p:sp>
        <p:nvSpPr>
          <p:cNvPr id="25" name="Text 23"/>
          <p:cNvSpPr/>
          <p:nvPr/>
        </p:nvSpPr>
        <p:spPr>
          <a:xfrm>
            <a:off x="4709160" y="1572768"/>
            <a:ext cx="416052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Phương pháp phải trả lời 4 câu hỏi</a:t>
            </a:r>
            <a:endParaRPr lang="en-US" sz="1800" dirty="0"/>
          </a:p>
        </p:txBody>
      </p:sp>
      <p:sp>
        <p:nvSpPr>
          <p:cNvPr id="26" name="Shape 24"/>
          <p:cNvSpPr/>
          <p:nvPr/>
        </p:nvSpPr>
        <p:spPr>
          <a:xfrm>
            <a:off x="4709160" y="2039112"/>
            <a:ext cx="1188720" cy="594360"/>
          </a:xfrm>
          <a:prstGeom prst="rect">
            <a:avLst/>
          </a:prstGeom>
          <a:solidFill>
            <a:srgbClr val="F5A623"/>
          </a:solidFill>
          <a:ln w="12700">
            <a:solidFill>
              <a:srgbClr val="F5A623"/>
            </a:solidFill>
            <a:prstDash val="solid"/>
          </a:ln>
        </p:spPr>
      </p:sp>
      <p:sp>
        <p:nvSpPr>
          <p:cNvPr id="27" name="Text 25"/>
          <p:cNvSpPr/>
          <p:nvPr/>
        </p:nvSpPr>
        <p:spPr>
          <a:xfrm>
            <a:off x="4709160" y="2039112"/>
            <a:ext cx="11887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WHO / WHAT?</a:t>
            </a:r>
            <a:endParaRPr lang="en-US" sz="1600" dirty="0"/>
          </a:p>
        </p:txBody>
      </p:sp>
      <p:sp>
        <p:nvSpPr>
          <p:cNvPr id="28" name="Shape 26"/>
          <p:cNvSpPr/>
          <p:nvPr/>
        </p:nvSpPr>
        <p:spPr>
          <a:xfrm>
            <a:off x="5943600" y="2039112"/>
            <a:ext cx="2926080" cy="594360"/>
          </a:xfrm>
          <a:prstGeom prst="rect">
            <a:avLst/>
          </a:prstGeom>
          <a:solidFill>
            <a:srgbClr val="FFF8EE"/>
          </a:solidFill>
          <a:ln w="6350">
            <a:solidFill>
              <a:srgbClr val="CCCCCC"/>
            </a:solidFill>
            <a:prstDash val="solid"/>
          </a:ln>
        </p:spPr>
      </p:sp>
      <p:sp>
        <p:nvSpPr>
          <p:cNvPr id="29" name="Text 27"/>
          <p:cNvSpPr/>
          <p:nvPr/>
        </p:nvSpPr>
        <p:spPr>
          <a:xfrm>
            <a:off x="6035040" y="2130552"/>
            <a:ext cx="2743200" cy="41148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Đối tượng &amp; phạm vi nghiên cứu</a:t>
            </a:r>
            <a:endParaRPr lang="en-US" sz="1700" dirty="0"/>
          </a:p>
        </p:txBody>
      </p:sp>
      <p:sp>
        <p:nvSpPr>
          <p:cNvPr id="30" name="Shape 28"/>
          <p:cNvSpPr/>
          <p:nvPr/>
        </p:nvSpPr>
        <p:spPr>
          <a:xfrm>
            <a:off x="4709160" y="2724912"/>
            <a:ext cx="1188720" cy="594360"/>
          </a:xfrm>
          <a:prstGeom prst="rect">
            <a:avLst/>
          </a:prstGeom>
          <a:solidFill>
            <a:srgbClr val="F5A623"/>
          </a:solidFill>
          <a:ln w="12700">
            <a:solidFill>
              <a:srgbClr val="F5A623"/>
            </a:solidFill>
            <a:prstDash val="solid"/>
          </a:ln>
        </p:spPr>
      </p:sp>
      <p:sp>
        <p:nvSpPr>
          <p:cNvPr id="31" name="Text 29"/>
          <p:cNvSpPr/>
          <p:nvPr/>
        </p:nvSpPr>
        <p:spPr>
          <a:xfrm>
            <a:off x="4709160" y="2724912"/>
            <a:ext cx="11887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HOW MANY?</a:t>
            </a:r>
            <a:endParaRPr lang="en-US" sz="1600" dirty="0"/>
          </a:p>
        </p:txBody>
      </p:sp>
      <p:sp>
        <p:nvSpPr>
          <p:cNvPr id="32" name="Shape 30"/>
          <p:cNvSpPr/>
          <p:nvPr/>
        </p:nvSpPr>
        <p:spPr>
          <a:xfrm>
            <a:off x="5943600" y="2724912"/>
            <a:ext cx="2926080" cy="594360"/>
          </a:xfrm>
          <a:prstGeom prst="rect">
            <a:avLst/>
          </a:prstGeom>
          <a:solidFill>
            <a:srgbClr val="FFFFFF"/>
          </a:solidFill>
          <a:ln w="6350">
            <a:solidFill>
              <a:srgbClr val="CCCCCC"/>
            </a:solidFill>
            <a:prstDash val="solid"/>
          </a:ln>
        </p:spPr>
      </p:sp>
      <p:sp>
        <p:nvSpPr>
          <p:cNvPr id="33" name="Text 31"/>
          <p:cNvSpPr/>
          <p:nvPr/>
        </p:nvSpPr>
        <p:spPr>
          <a:xfrm>
            <a:off x="6035040" y="2816352"/>
            <a:ext cx="2743200" cy="41148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Quy mô mẫu: n = ?</a:t>
            </a:r>
            <a:endParaRPr lang="en-US" sz="1700" dirty="0"/>
          </a:p>
        </p:txBody>
      </p:sp>
      <p:sp>
        <p:nvSpPr>
          <p:cNvPr id="34" name="Shape 32"/>
          <p:cNvSpPr/>
          <p:nvPr/>
        </p:nvSpPr>
        <p:spPr>
          <a:xfrm>
            <a:off x="4709160" y="3410712"/>
            <a:ext cx="1188720" cy="594360"/>
          </a:xfrm>
          <a:prstGeom prst="rect">
            <a:avLst/>
          </a:prstGeom>
          <a:solidFill>
            <a:srgbClr val="F5A623"/>
          </a:solidFill>
          <a:ln w="12700">
            <a:solidFill>
              <a:srgbClr val="F5A623"/>
            </a:solidFill>
            <a:prstDash val="solid"/>
          </a:ln>
        </p:spPr>
      </p:sp>
      <p:sp>
        <p:nvSpPr>
          <p:cNvPr id="35" name="Text 33"/>
          <p:cNvSpPr/>
          <p:nvPr/>
        </p:nvSpPr>
        <p:spPr>
          <a:xfrm>
            <a:off x="4709160" y="3410712"/>
            <a:ext cx="11887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HOW?</a:t>
            </a:r>
            <a:endParaRPr lang="en-US" sz="1600" dirty="0"/>
          </a:p>
        </p:txBody>
      </p:sp>
      <p:sp>
        <p:nvSpPr>
          <p:cNvPr id="36" name="Shape 34"/>
          <p:cNvSpPr/>
          <p:nvPr/>
        </p:nvSpPr>
        <p:spPr>
          <a:xfrm>
            <a:off x="5943600" y="3410712"/>
            <a:ext cx="2926080" cy="594360"/>
          </a:xfrm>
          <a:prstGeom prst="rect">
            <a:avLst/>
          </a:prstGeom>
          <a:solidFill>
            <a:srgbClr val="FFF8EE"/>
          </a:solidFill>
          <a:ln w="6350">
            <a:solidFill>
              <a:srgbClr val="CCCCCC"/>
            </a:solidFill>
            <a:prstDash val="solid"/>
          </a:ln>
        </p:spPr>
      </p:sp>
      <p:sp>
        <p:nvSpPr>
          <p:cNvPr id="37" name="Text 35"/>
          <p:cNvSpPr/>
          <p:nvPr/>
        </p:nvSpPr>
        <p:spPr>
          <a:xfrm>
            <a:off x="6035040" y="3502152"/>
            <a:ext cx="2743200" cy="41148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Công cụ và phần mềm phân tích</a:t>
            </a:r>
            <a:endParaRPr lang="en-US" sz="1700" dirty="0"/>
          </a:p>
        </p:txBody>
      </p:sp>
      <p:sp>
        <p:nvSpPr>
          <p:cNvPr id="38" name="Shape 36"/>
          <p:cNvSpPr/>
          <p:nvPr/>
        </p:nvSpPr>
        <p:spPr>
          <a:xfrm>
            <a:off x="4709160" y="4096512"/>
            <a:ext cx="1188720" cy="594360"/>
          </a:xfrm>
          <a:prstGeom prst="rect">
            <a:avLst/>
          </a:prstGeom>
          <a:solidFill>
            <a:srgbClr val="F5A623"/>
          </a:solidFill>
          <a:ln w="12700">
            <a:solidFill>
              <a:srgbClr val="F5A623"/>
            </a:solidFill>
            <a:prstDash val="solid"/>
          </a:ln>
        </p:spPr>
      </p:sp>
      <p:sp>
        <p:nvSpPr>
          <p:cNvPr id="39" name="Text 37"/>
          <p:cNvSpPr/>
          <p:nvPr/>
        </p:nvSpPr>
        <p:spPr>
          <a:xfrm>
            <a:off x="4709160" y="4096512"/>
            <a:ext cx="11887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WHEN &amp; WHERE?</a:t>
            </a:r>
            <a:endParaRPr lang="en-US" sz="1600" dirty="0"/>
          </a:p>
        </p:txBody>
      </p:sp>
      <p:sp>
        <p:nvSpPr>
          <p:cNvPr id="40" name="Shape 38"/>
          <p:cNvSpPr/>
          <p:nvPr/>
        </p:nvSpPr>
        <p:spPr>
          <a:xfrm>
            <a:off x="5943600" y="4096512"/>
            <a:ext cx="2926080" cy="594360"/>
          </a:xfrm>
          <a:prstGeom prst="rect">
            <a:avLst/>
          </a:prstGeom>
          <a:solidFill>
            <a:srgbClr val="FFFFFF"/>
          </a:solidFill>
          <a:ln w="6350">
            <a:solidFill>
              <a:srgbClr val="CCCCCC"/>
            </a:solidFill>
            <a:prstDash val="solid"/>
          </a:ln>
        </p:spPr>
      </p:sp>
      <p:sp>
        <p:nvSpPr>
          <p:cNvPr id="41" name="Text 39"/>
          <p:cNvSpPr/>
          <p:nvPr/>
        </p:nvSpPr>
        <p:spPr>
          <a:xfrm>
            <a:off x="6035040" y="4187952"/>
            <a:ext cx="2743200" cy="411480"/>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Thời gian và địa điểm thực hiện</a:t>
            </a:r>
            <a:endParaRPr lang="en-US" sz="1700" dirty="0"/>
          </a:p>
        </p:txBody>
      </p:sp>
      <p:sp>
        <p:nvSpPr>
          <p:cNvPr id="45" name="Shape 43"/>
          <p:cNvSpPr/>
          <p:nvPr/>
        </p:nvSpPr>
        <p:spPr>
          <a:xfrm>
            <a:off x="2011680" y="4846320"/>
            <a:ext cx="7040880" cy="36576"/>
          </a:xfrm>
          <a:prstGeom prst="rect">
            <a:avLst/>
          </a:prstGeom>
          <a:solidFill>
            <a:srgbClr val="F5A623"/>
          </a:solidFill>
          <a:ln w="12700">
            <a:solidFill>
              <a:srgbClr val="F5A623"/>
            </a:solidFill>
            <a:prstDash val="solid"/>
          </a:ln>
        </p:spPr>
      </p:sp>
      <p:pic>
        <p:nvPicPr>
          <p:cNvPr id="46"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47" name="Text 44"/>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48" name="Text 45"/>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Kết quả, Thảo luận &amp; Kết luận</a:t>
            </a:r>
            <a:endParaRPr lang="en-US" sz="2600" dirty="0"/>
          </a:p>
        </p:txBody>
      </p:sp>
      <p:sp>
        <p:nvSpPr>
          <p:cNvPr id="10" name="Shape 8"/>
          <p:cNvSpPr/>
          <p:nvPr/>
        </p:nvSpPr>
        <p:spPr>
          <a:xfrm>
            <a:off x="274320" y="1572768"/>
            <a:ext cx="4023360" cy="438912"/>
          </a:xfrm>
          <a:prstGeom prst="rect">
            <a:avLst/>
          </a:prstGeom>
          <a:solidFill>
            <a:srgbClr val="2B2F77"/>
          </a:solidFill>
          <a:ln w="12700">
            <a:solidFill>
              <a:srgbClr val="2B2F77"/>
            </a:solidFill>
            <a:prstDash val="solid"/>
          </a:ln>
        </p:spPr>
      </p:sp>
      <p:sp>
        <p:nvSpPr>
          <p:cNvPr id="11" name="Text 9"/>
          <p:cNvSpPr/>
          <p:nvPr/>
        </p:nvSpPr>
        <p:spPr>
          <a:xfrm>
            <a:off x="274320" y="1572768"/>
            <a:ext cx="4023360"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 RESULTS (Kết quả)</a:t>
            </a:r>
            <a:endParaRPr lang="en-US" sz="1800" dirty="0"/>
          </a:p>
        </p:txBody>
      </p:sp>
      <p:sp>
        <p:nvSpPr>
          <p:cNvPr id="12" name="Shape 10"/>
          <p:cNvSpPr/>
          <p:nvPr/>
        </p:nvSpPr>
        <p:spPr>
          <a:xfrm>
            <a:off x="274320" y="2066544"/>
            <a:ext cx="4023360" cy="502920"/>
          </a:xfrm>
          <a:prstGeom prst="rect">
            <a:avLst/>
          </a:prstGeom>
          <a:solidFill>
            <a:srgbClr val="F4F6FA"/>
          </a:solidFill>
          <a:ln w="6350">
            <a:solidFill>
              <a:srgbClr val="CCCCCC"/>
            </a:solidFill>
            <a:prstDash val="solid"/>
          </a:ln>
        </p:spPr>
      </p:sp>
      <p:sp>
        <p:nvSpPr>
          <p:cNvPr id="13" name="Shape 11"/>
          <p:cNvSpPr/>
          <p:nvPr/>
        </p:nvSpPr>
        <p:spPr>
          <a:xfrm>
            <a:off x="274320" y="2066544"/>
            <a:ext cx="91440" cy="502920"/>
          </a:xfrm>
          <a:prstGeom prst="rect">
            <a:avLst/>
          </a:prstGeom>
          <a:solidFill>
            <a:srgbClr val="2B2F77"/>
          </a:solidFill>
          <a:ln w="12700">
            <a:solidFill>
              <a:srgbClr val="2B2F77"/>
            </a:solidFill>
            <a:prstDash val="solid"/>
          </a:ln>
        </p:spPr>
      </p:sp>
      <p:sp>
        <p:nvSpPr>
          <p:cNvPr id="14" name="Text 12"/>
          <p:cNvSpPr/>
          <p:nvPr/>
        </p:nvSpPr>
        <p:spPr>
          <a:xfrm>
            <a:off x="438912" y="2139696"/>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Trình bày số liệu KHÁCH QUAN</a:t>
            </a:r>
            <a:endParaRPr lang="en-US" sz="1700" dirty="0"/>
          </a:p>
        </p:txBody>
      </p:sp>
      <p:sp>
        <p:nvSpPr>
          <p:cNvPr id="15" name="Shape 13"/>
          <p:cNvSpPr/>
          <p:nvPr/>
        </p:nvSpPr>
        <p:spPr>
          <a:xfrm>
            <a:off x="274320" y="2633472"/>
            <a:ext cx="4023360" cy="502920"/>
          </a:xfrm>
          <a:prstGeom prst="rect">
            <a:avLst/>
          </a:prstGeom>
          <a:solidFill>
            <a:srgbClr val="FFFFFF"/>
          </a:solidFill>
          <a:ln w="6350">
            <a:solidFill>
              <a:srgbClr val="CCCCCC"/>
            </a:solidFill>
            <a:prstDash val="solid"/>
          </a:ln>
        </p:spPr>
      </p:sp>
      <p:sp>
        <p:nvSpPr>
          <p:cNvPr id="16" name="Shape 14"/>
          <p:cNvSpPr/>
          <p:nvPr/>
        </p:nvSpPr>
        <p:spPr>
          <a:xfrm>
            <a:off x="274320" y="2633472"/>
            <a:ext cx="91440" cy="502920"/>
          </a:xfrm>
          <a:prstGeom prst="rect">
            <a:avLst/>
          </a:prstGeom>
          <a:solidFill>
            <a:srgbClr val="2B2F77"/>
          </a:solidFill>
          <a:ln w="12700">
            <a:solidFill>
              <a:srgbClr val="2B2F77"/>
            </a:solidFill>
            <a:prstDash val="solid"/>
          </a:ln>
        </p:spPr>
      </p:sp>
      <p:sp>
        <p:nvSpPr>
          <p:cNvPr id="17" name="Text 15"/>
          <p:cNvSpPr/>
          <p:nvPr/>
        </p:nvSpPr>
        <p:spPr>
          <a:xfrm>
            <a:off x="438912" y="2706624"/>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Dùng bảng, biểu đồ minh họa</a:t>
            </a:r>
            <a:endParaRPr lang="en-US" sz="1700" dirty="0"/>
          </a:p>
        </p:txBody>
      </p:sp>
      <p:sp>
        <p:nvSpPr>
          <p:cNvPr id="18" name="Shape 16"/>
          <p:cNvSpPr/>
          <p:nvPr/>
        </p:nvSpPr>
        <p:spPr>
          <a:xfrm>
            <a:off x="274320" y="3200400"/>
            <a:ext cx="4023360" cy="502920"/>
          </a:xfrm>
          <a:prstGeom prst="rect">
            <a:avLst/>
          </a:prstGeom>
          <a:solidFill>
            <a:srgbClr val="F4F6FA"/>
          </a:solidFill>
          <a:ln w="6350">
            <a:solidFill>
              <a:srgbClr val="CCCCCC"/>
            </a:solidFill>
            <a:prstDash val="solid"/>
          </a:ln>
        </p:spPr>
      </p:sp>
      <p:sp>
        <p:nvSpPr>
          <p:cNvPr id="19" name="Shape 17"/>
          <p:cNvSpPr/>
          <p:nvPr/>
        </p:nvSpPr>
        <p:spPr>
          <a:xfrm>
            <a:off x="274320" y="3200400"/>
            <a:ext cx="91440" cy="502920"/>
          </a:xfrm>
          <a:prstGeom prst="rect">
            <a:avLst/>
          </a:prstGeom>
          <a:solidFill>
            <a:srgbClr val="2B2F77"/>
          </a:solidFill>
          <a:ln w="12700">
            <a:solidFill>
              <a:srgbClr val="2B2F77"/>
            </a:solidFill>
            <a:prstDash val="solid"/>
          </a:ln>
        </p:spPr>
      </p:sp>
      <p:sp>
        <p:nvSpPr>
          <p:cNvPr id="20" name="Text 18"/>
          <p:cNvSpPr/>
          <p:nvPr/>
        </p:nvSpPr>
        <p:spPr>
          <a:xfrm>
            <a:off x="438912" y="3273552"/>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KHÔNG phán xét, KHÔNG nhận định</a:t>
            </a:r>
            <a:endParaRPr lang="en-US" sz="1700" dirty="0"/>
          </a:p>
        </p:txBody>
      </p:sp>
      <p:sp>
        <p:nvSpPr>
          <p:cNvPr id="21" name="Shape 19"/>
          <p:cNvSpPr/>
          <p:nvPr/>
        </p:nvSpPr>
        <p:spPr>
          <a:xfrm>
            <a:off x="274320" y="3767328"/>
            <a:ext cx="4023360" cy="502920"/>
          </a:xfrm>
          <a:prstGeom prst="rect">
            <a:avLst/>
          </a:prstGeom>
          <a:solidFill>
            <a:srgbClr val="FFFFFF"/>
          </a:solidFill>
          <a:ln w="6350">
            <a:solidFill>
              <a:srgbClr val="CCCCCC"/>
            </a:solidFill>
            <a:prstDash val="solid"/>
          </a:ln>
        </p:spPr>
      </p:sp>
      <p:sp>
        <p:nvSpPr>
          <p:cNvPr id="22" name="Shape 20"/>
          <p:cNvSpPr/>
          <p:nvPr/>
        </p:nvSpPr>
        <p:spPr>
          <a:xfrm>
            <a:off x="274320" y="3767328"/>
            <a:ext cx="91440" cy="502920"/>
          </a:xfrm>
          <a:prstGeom prst="rect">
            <a:avLst/>
          </a:prstGeom>
          <a:solidFill>
            <a:srgbClr val="2B2F77"/>
          </a:solidFill>
          <a:ln w="12700">
            <a:solidFill>
              <a:srgbClr val="2B2F77"/>
            </a:solidFill>
            <a:prstDash val="solid"/>
          </a:ln>
        </p:spPr>
      </p:sp>
      <p:sp>
        <p:nvSpPr>
          <p:cNvPr id="23" name="Text 21"/>
          <p:cNvSpPr/>
          <p:nvPr/>
        </p:nvSpPr>
        <p:spPr>
          <a:xfrm>
            <a:off x="438912" y="3840480"/>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Trả lời: 'Tìm ra điều gì?'</a:t>
            </a:r>
            <a:endParaRPr lang="en-US" sz="1700" dirty="0"/>
          </a:p>
        </p:txBody>
      </p:sp>
      <p:sp>
        <p:nvSpPr>
          <p:cNvPr id="24" name="Shape 22"/>
          <p:cNvSpPr/>
          <p:nvPr/>
        </p:nvSpPr>
        <p:spPr>
          <a:xfrm>
            <a:off x="4754880" y="1572768"/>
            <a:ext cx="4023360" cy="438912"/>
          </a:xfrm>
          <a:prstGeom prst="rect">
            <a:avLst/>
          </a:prstGeom>
          <a:solidFill>
            <a:srgbClr val="1A7BC1"/>
          </a:solidFill>
          <a:ln w="12700">
            <a:solidFill>
              <a:srgbClr val="1A7BC1"/>
            </a:solidFill>
            <a:prstDash val="solid"/>
          </a:ln>
        </p:spPr>
      </p:sp>
      <p:sp>
        <p:nvSpPr>
          <p:cNvPr id="25" name="Text 23"/>
          <p:cNvSpPr/>
          <p:nvPr/>
        </p:nvSpPr>
        <p:spPr>
          <a:xfrm>
            <a:off x="4754880" y="1572768"/>
            <a:ext cx="4023360"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 DISCUSSION (Thảo luận)</a:t>
            </a:r>
            <a:endParaRPr lang="en-US" sz="1800" dirty="0"/>
          </a:p>
        </p:txBody>
      </p:sp>
      <p:sp>
        <p:nvSpPr>
          <p:cNvPr id="26" name="Shape 24"/>
          <p:cNvSpPr/>
          <p:nvPr/>
        </p:nvSpPr>
        <p:spPr>
          <a:xfrm>
            <a:off x="4754880" y="2066544"/>
            <a:ext cx="4023360" cy="502920"/>
          </a:xfrm>
          <a:prstGeom prst="rect">
            <a:avLst/>
          </a:prstGeom>
          <a:solidFill>
            <a:srgbClr val="F4F6FA"/>
          </a:solidFill>
          <a:ln w="6350">
            <a:solidFill>
              <a:srgbClr val="CCCCCC"/>
            </a:solidFill>
            <a:prstDash val="solid"/>
          </a:ln>
        </p:spPr>
      </p:sp>
      <p:sp>
        <p:nvSpPr>
          <p:cNvPr id="27" name="Shape 25"/>
          <p:cNvSpPr/>
          <p:nvPr/>
        </p:nvSpPr>
        <p:spPr>
          <a:xfrm>
            <a:off x="4754880" y="2066544"/>
            <a:ext cx="91440" cy="502920"/>
          </a:xfrm>
          <a:prstGeom prst="rect">
            <a:avLst/>
          </a:prstGeom>
          <a:solidFill>
            <a:srgbClr val="1A7BC1"/>
          </a:solidFill>
          <a:ln w="12700">
            <a:solidFill>
              <a:srgbClr val="1A7BC1"/>
            </a:solidFill>
            <a:prstDash val="solid"/>
          </a:ln>
        </p:spPr>
      </p:sp>
      <p:sp>
        <p:nvSpPr>
          <p:cNvPr id="28" name="Text 26"/>
          <p:cNvSpPr/>
          <p:nvPr/>
        </p:nvSpPr>
        <p:spPr>
          <a:xfrm>
            <a:off x="4919472" y="2139696"/>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GIẢI THÍCH ý nghĩa của số liệu</a:t>
            </a:r>
            <a:endParaRPr lang="en-US" sz="1700" dirty="0"/>
          </a:p>
        </p:txBody>
      </p:sp>
      <p:sp>
        <p:nvSpPr>
          <p:cNvPr id="29" name="Shape 27"/>
          <p:cNvSpPr/>
          <p:nvPr/>
        </p:nvSpPr>
        <p:spPr>
          <a:xfrm>
            <a:off x="4754880" y="2633472"/>
            <a:ext cx="4023360" cy="502920"/>
          </a:xfrm>
          <a:prstGeom prst="rect">
            <a:avLst/>
          </a:prstGeom>
          <a:solidFill>
            <a:srgbClr val="FFFFFF"/>
          </a:solidFill>
          <a:ln w="6350">
            <a:solidFill>
              <a:srgbClr val="CCCCCC"/>
            </a:solidFill>
            <a:prstDash val="solid"/>
          </a:ln>
        </p:spPr>
      </p:sp>
      <p:sp>
        <p:nvSpPr>
          <p:cNvPr id="30" name="Shape 28"/>
          <p:cNvSpPr/>
          <p:nvPr/>
        </p:nvSpPr>
        <p:spPr>
          <a:xfrm>
            <a:off x="4754880" y="2633472"/>
            <a:ext cx="91440" cy="502920"/>
          </a:xfrm>
          <a:prstGeom prst="rect">
            <a:avLst/>
          </a:prstGeom>
          <a:solidFill>
            <a:srgbClr val="1A7BC1"/>
          </a:solidFill>
          <a:ln w="12700">
            <a:solidFill>
              <a:srgbClr val="1A7BC1"/>
            </a:solidFill>
            <a:prstDash val="solid"/>
          </a:ln>
        </p:spPr>
      </p:sp>
      <p:sp>
        <p:nvSpPr>
          <p:cNvPr id="31" name="Text 29"/>
          <p:cNvSpPr/>
          <p:nvPr/>
        </p:nvSpPr>
        <p:spPr>
          <a:xfrm>
            <a:off x="4919472" y="2706624"/>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So sánh với nghiên cứu đã công bố</a:t>
            </a:r>
            <a:endParaRPr lang="en-US" sz="1700" dirty="0"/>
          </a:p>
        </p:txBody>
      </p:sp>
      <p:sp>
        <p:nvSpPr>
          <p:cNvPr id="32" name="Shape 30"/>
          <p:cNvSpPr/>
          <p:nvPr/>
        </p:nvSpPr>
        <p:spPr>
          <a:xfrm>
            <a:off x="4754880" y="3200400"/>
            <a:ext cx="4023360" cy="502920"/>
          </a:xfrm>
          <a:prstGeom prst="rect">
            <a:avLst/>
          </a:prstGeom>
          <a:solidFill>
            <a:srgbClr val="F4F6FA"/>
          </a:solidFill>
          <a:ln w="6350">
            <a:solidFill>
              <a:srgbClr val="CCCCCC"/>
            </a:solidFill>
            <a:prstDash val="solid"/>
          </a:ln>
        </p:spPr>
      </p:sp>
      <p:sp>
        <p:nvSpPr>
          <p:cNvPr id="33" name="Shape 31"/>
          <p:cNvSpPr/>
          <p:nvPr/>
        </p:nvSpPr>
        <p:spPr>
          <a:xfrm>
            <a:off x="4754880" y="3200400"/>
            <a:ext cx="91440" cy="502920"/>
          </a:xfrm>
          <a:prstGeom prst="rect">
            <a:avLst/>
          </a:prstGeom>
          <a:solidFill>
            <a:srgbClr val="1A7BC1"/>
          </a:solidFill>
          <a:ln w="12700">
            <a:solidFill>
              <a:srgbClr val="1A7BC1"/>
            </a:solidFill>
            <a:prstDash val="solid"/>
          </a:ln>
        </p:spPr>
      </p:sp>
      <p:sp>
        <p:nvSpPr>
          <p:cNvPr id="34" name="Text 32"/>
          <p:cNvSpPr/>
          <p:nvPr/>
        </p:nvSpPr>
        <p:spPr>
          <a:xfrm>
            <a:off x="4919472" y="3273552"/>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Bàn về nguyên nhân, hệ quả</a:t>
            </a:r>
            <a:endParaRPr lang="en-US" sz="1700" dirty="0"/>
          </a:p>
        </p:txBody>
      </p:sp>
      <p:sp>
        <p:nvSpPr>
          <p:cNvPr id="35" name="Shape 33"/>
          <p:cNvSpPr/>
          <p:nvPr/>
        </p:nvSpPr>
        <p:spPr>
          <a:xfrm>
            <a:off x="4754880" y="3767328"/>
            <a:ext cx="4023360" cy="502920"/>
          </a:xfrm>
          <a:prstGeom prst="rect">
            <a:avLst/>
          </a:prstGeom>
          <a:solidFill>
            <a:srgbClr val="FFFFFF"/>
          </a:solidFill>
          <a:ln w="6350">
            <a:solidFill>
              <a:srgbClr val="CCCCCC"/>
            </a:solidFill>
            <a:prstDash val="solid"/>
          </a:ln>
        </p:spPr>
      </p:sp>
      <p:sp>
        <p:nvSpPr>
          <p:cNvPr id="36" name="Shape 34"/>
          <p:cNvSpPr/>
          <p:nvPr/>
        </p:nvSpPr>
        <p:spPr>
          <a:xfrm>
            <a:off x="4754880" y="3767328"/>
            <a:ext cx="91440" cy="502920"/>
          </a:xfrm>
          <a:prstGeom prst="rect">
            <a:avLst/>
          </a:prstGeom>
          <a:solidFill>
            <a:srgbClr val="1A7BC1"/>
          </a:solidFill>
          <a:ln w="12700">
            <a:solidFill>
              <a:srgbClr val="1A7BC1"/>
            </a:solidFill>
            <a:prstDash val="solid"/>
          </a:ln>
        </p:spPr>
      </p:sp>
      <p:sp>
        <p:nvSpPr>
          <p:cNvPr id="37" name="Text 35"/>
          <p:cNvSpPr/>
          <p:nvPr/>
        </p:nvSpPr>
        <p:spPr>
          <a:xfrm>
            <a:off x="4919472" y="3840480"/>
            <a:ext cx="3749040" cy="347472"/>
          </a:xfrm>
          <a:prstGeom prst="rect">
            <a:avLst/>
          </a:prstGeom>
          <a:noFill/>
          <a:ln/>
        </p:spPr>
        <p:txBody>
          <a:bodyPr wrap="square" lIns="0" tIns="0" rIns="0" bIns="0" rtlCol="0" anchor="ctr"/>
          <a:lstStyle/>
          <a:p>
            <a:pPr marL="0" indent="0">
              <a:buNone/>
            </a:pPr>
            <a:r>
              <a:rPr lang="en-US" sz="1700" dirty="0">
                <a:solidFill>
                  <a:srgbClr val="2B2F77"/>
                </a:solidFill>
                <a:latin typeface="Calibri" pitchFamily="34" charset="0"/>
                <a:ea typeface="Calibri" pitchFamily="34" charset="-122"/>
                <a:cs typeface="Calibri" pitchFamily="34" charset="-120"/>
              </a:rPr>
              <a:t>Thừa nhận hạn chế nghiên cứu</a:t>
            </a:r>
            <a:endParaRPr lang="en-US" sz="1700" dirty="0"/>
          </a:p>
        </p:txBody>
      </p:sp>
      <p:sp>
        <p:nvSpPr>
          <p:cNvPr id="38" name="Shape 36"/>
          <p:cNvSpPr/>
          <p:nvPr/>
        </p:nvSpPr>
        <p:spPr>
          <a:xfrm>
            <a:off x="274320" y="4389120"/>
            <a:ext cx="8595360" cy="438912"/>
          </a:xfrm>
          <a:prstGeom prst="rect">
            <a:avLst/>
          </a:prstGeom>
          <a:solidFill>
            <a:srgbClr val="F5A623"/>
          </a:solidFill>
          <a:ln w="12700">
            <a:solidFill>
              <a:srgbClr val="F5A623"/>
            </a:solidFill>
            <a:prstDash val="solid"/>
          </a:ln>
        </p:spPr>
      </p:sp>
      <p:sp>
        <p:nvSpPr>
          <p:cNvPr id="39" name="Text 37"/>
          <p:cNvSpPr/>
          <p:nvPr/>
        </p:nvSpPr>
        <p:spPr>
          <a:xfrm>
            <a:off x="274320" y="4389120"/>
            <a:ext cx="8595360"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Results = 'Chúng tôi tìm thấy X'  →  Discussion = 'X xảy ra vì Y, và điều này có nghĩa là Z'</a:t>
            </a:r>
            <a:endParaRPr lang="en-US" sz="1800" dirty="0"/>
          </a:p>
        </p:txBody>
      </p:sp>
      <p:sp>
        <p:nvSpPr>
          <p:cNvPr id="40" name="Shape 38"/>
          <p:cNvSpPr/>
          <p:nvPr/>
        </p:nvSpPr>
        <p:spPr>
          <a:xfrm>
            <a:off x="2011680" y="4846320"/>
            <a:ext cx="7040880" cy="36576"/>
          </a:xfrm>
          <a:prstGeom prst="rect">
            <a:avLst/>
          </a:prstGeom>
          <a:solidFill>
            <a:srgbClr val="F5A623"/>
          </a:solidFill>
          <a:ln w="12700">
            <a:solidFill>
              <a:srgbClr val="F5A623"/>
            </a:solidFill>
            <a:prstDash val="solid"/>
          </a:ln>
        </p:spPr>
      </p:sp>
      <p:pic>
        <p:nvPicPr>
          <p:cNvPr id="41"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42" name="Text 39"/>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43" name="Text 40"/>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8 Lỗi phổ </a:t>
            </a:r>
            <a:r>
              <a:rPr lang="en-US" sz="2600" b="1" dirty="0" err="1">
                <a:solidFill>
                  <a:srgbClr val="FFFFFF"/>
                </a:solidFill>
                <a:latin typeface="Calibri" pitchFamily="34" charset="0"/>
                <a:ea typeface="Calibri" pitchFamily="34" charset="-122"/>
                <a:cs typeface="Calibri" pitchFamily="34" charset="-120"/>
              </a:rPr>
              <a:t>biến</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nhất</a:t>
            </a:r>
            <a:endParaRPr lang="en-US" sz="2600" dirty="0"/>
          </a:p>
        </p:txBody>
      </p:sp>
      <p:sp>
        <p:nvSpPr>
          <p:cNvPr id="10" name="Shape 8"/>
          <p:cNvSpPr/>
          <p:nvPr/>
        </p:nvSpPr>
        <p:spPr>
          <a:xfrm>
            <a:off x="274320" y="1572768"/>
            <a:ext cx="4114800" cy="731520"/>
          </a:xfrm>
          <a:prstGeom prst="rect">
            <a:avLst/>
          </a:prstGeom>
          <a:solidFill>
            <a:srgbClr val="FFFFFF"/>
          </a:solidFill>
          <a:ln w="10160">
            <a:solidFill>
              <a:srgbClr val="CCCCCC"/>
            </a:solidFill>
            <a:prstDash val="solid"/>
          </a:ln>
        </p:spPr>
      </p:sp>
      <p:sp>
        <p:nvSpPr>
          <p:cNvPr id="11" name="Shape 9"/>
          <p:cNvSpPr/>
          <p:nvPr/>
        </p:nvSpPr>
        <p:spPr>
          <a:xfrm>
            <a:off x="274320" y="1572768"/>
            <a:ext cx="411480" cy="731520"/>
          </a:xfrm>
          <a:prstGeom prst="rect">
            <a:avLst/>
          </a:prstGeom>
          <a:solidFill>
            <a:srgbClr val="C0392B"/>
          </a:solidFill>
          <a:ln w="12700">
            <a:solidFill>
              <a:srgbClr val="C0392B"/>
            </a:solidFill>
            <a:prstDash val="solid"/>
          </a:ln>
        </p:spPr>
      </p:sp>
      <p:sp>
        <p:nvSpPr>
          <p:cNvPr id="12" name="Text 10"/>
          <p:cNvSpPr/>
          <p:nvPr/>
        </p:nvSpPr>
        <p:spPr>
          <a:xfrm>
            <a:off x="274320" y="1572768"/>
            <a:ext cx="41148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3" name="Text 11"/>
          <p:cNvSpPr/>
          <p:nvPr/>
        </p:nvSpPr>
        <p:spPr>
          <a:xfrm>
            <a:off x="749808" y="1618488"/>
            <a:ext cx="3520440" cy="292608"/>
          </a:xfrm>
          <a:prstGeom prst="rect">
            <a:avLst/>
          </a:prstGeom>
          <a:noFill/>
          <a:ln/>
        </p:spPr>
        <p:txBody>
          <a:bodyPr wrap="square" lIns="0" tIns="0" rIns="0" bIns="0"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 </a:t>
            </a:r>
            <a:r>
              <a:rPr lang="en-US" sz="1600" b="1" dirty="0" err="1">
                <a:solidFill>
                  <a:srgbClr val="C0392B"/>
                </a:solidFill>
                <a:latin typeface="Calibri" pitchFamily="34" charset="0"/>
                <a:ea typeface="Calibri" pitchFamily="34" charset="-122"/>
                <a:cs typeface="Calibri" pitchFamily="34" charset="-120"/>
              </a:rPr>
              <a:t>Tóm</a:t>
            </a:r>
            <a:r>
              <a:rPr lang="en-US" sz="1600" b="1" dirty="0">
                <a:solidFill>
                  <a:srgbClr val="C0392B"/>
                </a:solidFill>
                <a:latin typeface="Calibri" pitchFamily="34" charset="0"/>
                <a:ea typeface="Calibri" pitchFamily="34" charset="-122"/>
                <a:cs typeface="Calibri" pitchFamily="34" charset="-120"/>
              </a:rPr>
              <a:t> </a:t>
            </a:r>
            <a:r>
              <a:rPr lang="en-US" sz="1600" b="1" dirty="0" err="1">
                <a:solidFill>
                  <a:srgbClr val="C0392B"/>
                </a:solidFill>
                <a:latin typeface="Calibri" pitchFamily="34" charset="0"/>
                <a:ea typeface="Calibri" pitchFamily="34" charset="-122"/>
                <a:cs typeface="Calibri" pitchFamily="34" charset="-120"/>
              </a:rPr>
              <a:t>tắt</a:t>
            </a:r>
            <a:r>
              <a:rPr lang="en-US" sz="1600" b="1" dirty="0">
                <a:solidFill>
                  <a:srgbClr val="C0392B"/>
                </a:solidFill>
                <a:latin typeface="Calibri" pitchFamily="34" charset="0"/>
                <a:ea typeface="Calibri" pitchFamily="34" charset="-122"/>
                <a:cs typeface="Calibri" pitchFamily="34" charset="-120"/>
              </a:rPr>
              <a:t> không có số liệu</a:t>
            </a:r>
            <a:endParaRPr lang="en-US" sz="1600" dirty="0"/>
          </a:p>
        </p:txBody>
      </p:sp>
      <p:sp>
        <p:nvSpPr>
          <p:cNvPr id="14" name="Text 12"/>
          <p:cNvSpPr/>
          <p:nvPr/>
        </p:nvSpPr>
        <p:spPr>
          <a:xfrm>
            <a:off x="749808" y="1956816"/>
            <a:ext cx="3520440" cy="292608"/>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Luôn ghi: đạt X%, giảm Y điểm...</a:t>
            </a:r>
            <a:endParaRPr lang="en-US" sz="1600" dirty="0"/>
          </a:p>
        </p:txBody>
      </p:sp>
      <p:sp>
        <p:nvSpPr>
          <p:cNvPr id="15" name="Shape 13"/>
          <p:cNvSpPr/>
          <p:nvPr/>
        </p:nvSpPr>
        <p:spPr>
          <a:xfrm>
            <a:off x="274320" y="2377440"/>
            <a:ext cx="4114800" cy="731520"/>
          </a:xfrm>
          <a:prstGeom prst="rect">
            <a:avLst/>
          </a:prstGeom>
          <a:solidFill>
            <a:srgbClr val="FFFFFF"/>
          </a:solidFill>
          <a:ln w="10160">
            <a:solidFill>
              <a:srgbClr val="CCCCCC"/>
            </a:solidFill>
            <a:prstDash val="solid"/>
          </a:ln>
        </p:spPr>
      </p:sp>
      <p:sp>
        <p:nvSpPr>
          <p:cNvPr id="16" name="Shape 14"/>
          <p:cNvSpPr/>
          <p:nvPr/>
        </p:nvSpPr>
        <p:spPr>
          <a:xfrm>
            <a:off x="274320" y="2377440"/>
            <a:ext cx="411480" cy="731520"/>
          </a:xfrm>
          <a:prstGeom prst="rect">
            <a:avLst/>
          </a:prstGeom>
          <a:solidFill>
            <a:srgbClr val="C0392B"/>
          </a:solidFill>
          <a:ln w="12700">
            <a:solidFill>
              <a:srgbClr val="C0392B"/>
            </a:solidFill>
            <a:prstDash val="solid"/>
          </a:ln>
        </p:spPr>
      </p:sp>
      <p:sp>
        <p:nvSpPr>
          <p:cNvPr id="17" name="Text 15"/>
          <p:cNvSpPr/>
          <p:nvPr/>
        </p:nvSpPr>
        <p:spPr>
          <a:xfrm>
            <a:off x="274320" y="2377440"/>
            <a:ext cx="41148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8" name="Text 16"/>
          <p:cNvSpPr/>
          <p:nvPr/>
        </p:nvSpPr>
        <p:spPr>
          <a:xfrm>
            <a:off x="749808" y="2423160"/>
            <a:ext cx="3520440" cy="292608"/>
          </a:xfrm>
          <a:prstGeom prst="rect">
            <a:avLst/>
          </a:prstGeom>
          <a:noFill/>
          <a:ln/>
        </p:spPr>
        <p:txBody>
          <a:bodyPr wrap="square" lIns="0" tIns="0" rIns="0" bIns="0"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 Phương </a:t>
            </a:r>
            <a:r>
              <a:rPr lang="en-US" sz="1600" b="1" dirty="0" err="1">
                <a:solidFill>
                  <a:srgbClr val="C0392B"/>
                </a:solidFill>
                <a:latin typeface="Calibri" pitchFamily="34" charset="0"/>
                <a:ea typeface="Calibri" pitchFamily="34" charset="-122"/>
                <a:cs typeface="Calibri" pitchFamily="34" charset="-120"/>
              </a:rPr>
              <a:t>pháp</a:t>
            </a:r>
            <a:r>
              <a:rPr lang="en-US" sz="1600" b="1" dirty="0">
                <a:solidFill>
                  <a:srgbClr val="C0392B"/>
                </a:solidFill>
                <a:latin typeface="Calibri" pitchFamily="34" charset="0"/>
                <a:ea typeface="Calibri" pitchFamily="34" charset="-122"/>
                <a:cs typeface="Calibri" pitchFamily="34" charset="-120"/>
              </a:rPr>
              <a:t> quá chung chung</a:t>
            </a:r>
            <a:endParaRPr lang="en-US" sz="1600" dirty="0"/>
          </a:p>
        </p:txBody>
      </p:sp>
      <p:sp>
        <p:nvSpPr>
          <p:cNvPr id="19" name="Text 17"/>
          <p:cNvSpPr/>
          <p:nvPr/>
        </p:nvSpPr>
        <p:spPr>
          <a:xfrm>
            <a:off x="749808" y="2761488"/>
            <a:ext cx="3520440" cy="292608"/>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n=?, thời gian, địa điểm, phần mềm</a:t>
            </a:r>
            <a:endParaRPr lang="en-US" sz="1600" dirty="0"/>
          </a:p>
        </p:txBody>
      </p:sp>
      <p:sp>
        <p:nvSpPr>
          <p:cNvPr id="20" name="Shape 18"/>
          <p:cNvSpPr/>
          <p:nvPr/>
        </p:nvSpPr>
        <p:spPr>
          <a:xfrm>
            <a:off x="274320" y="3182112"/>
            <a:ext cx="4114800" cy="731520"/>
          </a:xfrm>
          <a:prstGeom prst="rect">
            <a:avLst/>
          </a:prstGeom>
          <a:solidFill>
            <a:srgbClr val="FFFFFF"/>
          </a:solidFill>
          <a:ln w="10160">
            <a:solidFill>
              <a:srgbClr val="CCCCCC"/>
            </a:solidFill>
            <a:prstDash val="solid"/>
          </a:ln>
        </p:spPr>
      </p:sp>
      <p:sp>
        <p:nvSpPr>
          <p:cNvPr id="21" name="Shape 19"/>
          <p:cNvSpPr/>
          <p:nvPr/>
        </p:nvSpPr>
        <p:spPr>
          <a:xfrm>
            <a:off x="274320" y="3182112"/>
            <a:ext cx="411480" cy="731520"/>
          </a:xfrm>
          <a:prstGeom prst="rect">
            <a:avLst/>
          </a:prstGeom>
          <a:solidFill>
            <a:srgbClr val="C0392B"/>
          </a:solidFill>
          <a:ln w="12700">
            <a:solidFill>
              <a:srgbClr val="C0392B"/>
            </a:solidFill>
            <a:prstDash val="solid"/>
          </a:ln>
        </p:spPr>
      </p:sp>
      <p:sp>
        <p:nvSpPr>
          <p:cNvPr id="22" name="Text 20"/>
          <p:cNvSpPr/>
          <p:nvPr/>
        </p:nvSpPr>
        <p:spPr>
          <a:xfrm>
            <a:off x="274320" y="3182112"/>
            <a:ext cx="41148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3" name="Text 21"/>
          <p:cNvSpPr/>
          <p:nvPr/>
        </p:nvSpPr>
        <p:spPr>
          <a:xfrm>
            <a:off x="749808" y="3227832"/>
            <a:ext cx="3520440" cy="292608"/>
          </a:xfrm>
          <a:prstGeom prst="rect">
            <a:avLst/>
          </a:prstGeom>
          <a:noFill/>
          <a:ln/>
        </p:spPr>
        <p:txBody>
          <a:bodyPr wrap="square" lIns="0" tIns="0" rIns="0" bIns="0"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 Thảo </a:t>
            </a:r>
            <a:r>
              <a:rPr lang="en-US" sz="1600" b="1" dirty="0" err="1">
                <a:solidFill>
                  <a:srgbClr val="C0392B"/>
                </a:solidFill>
                <a:latin typeface="Calibri" pitchFamily="34" charset="0"/>
                <a:ea typeface="Calibri" pitchFamily="34" charset="-122"/>
                <a:cs typeface="Calibri" pitchFamily="34" charset="-120"/>
              </a:rPr>
              <a:t>luận</a:t>
            </a:r>
            <a:r>
              <a:rPr lang="en-US" sz="1600" b="1" dirty="0">
                <a:solidFill>
                  <a:srgbClr val="C0392B"/>
                </a:solidFill>
                <a:latin typeface="Calibri" pitchFamily="34" charset="0"/>
                <a:ea typeface="Calibri" pitchFamily="34" charset="-122"/>
                <a:cs typeface="Calibri" pitchFamily="34" charset="-120"/>
              </a:rPr>
              <a:t> = lặp </a:t>
            </a:r>
            <a:r>
              <a:rPr lang="en-US" sz="1600" b="1" dirty="0" err="1">
                <a:solidFill>
                  <a:srgbClr val="C0392B"/>
                </a:solidFill>
                <a:latin typeface="Calibri" pitchFamily="34" charset="0"/>
                <a:ea typeface="Calibri" pitchFamily="34" charset="-122"/>
                <a:cs typeface="Calibri" pitchFamily="34" charset="-120"/>
              </a:rPr>
              <a:t>lại</a:t>
            </a:r>
            <a:r>
              <a:rPr lang="en-US" sz="1600" b="1" dirty="0">
                <a:solidFill>
                  <a:srgbClr val="C0392B"/>
                </a:solidFill>
                <a:latin typeface="Calibri" pitchFamily="34" charset="0"/>
                <a:ea typeface="Calibri" pitchFamily="34" charset="-122"/>
                <a:cs typeface="Calibri" pitchFamily="34" charset="-120"/>
              </a:rPr>
              <a:t> </a:t>
            </a:r>
            <a:r>
              <a:rPr lang="en-US" sz="1600" b="1" dirty="0" err="1">
                <a:solidFill>
                  <a:srgbClr val="C0392B"/>
                </a:solidFill>
                <a:latin typeface="Calibri" pitchFamily="34" charset="0"/>
                <a:ea typeface="Calibri" pitchFamily="34" charset="-122"/>
                <a:cs typeface="Calibri" pitchFamily="34" charset="-120"/>
              </a:rPr>
              <a:t>Kết</a:t>
            </a:r>
            <a:r>
              <a:rPr lang="en-US" sz="1600" b="1" dirty="0">
                <a:solidFill>
                  <a:srgbClr val="C0392B"/>
                </a:solidFill>
                <a:latin typeface="Calibri" pitchFamily="34" charset="0"/>
                <a:ea typeface="Calibri" pitchFamily="34" charset="-122"/>
                <a:cs typeface="Calibri" pitchFamily="34" charset="-120"/>
              </a:rPr>
              <a:t> </a:t>
            </a:r>
            <a:r>
              <a:rPr lang="en-US" sz="1600" b="1" dirty="0" err="1">
                <a:solidFill>
                  <a:srgbClr val="C0392B"/>
                </a:solidFill>
                <a:latin typeface="Calibri" pitchFamily="34" charset="0"/>
                <a:ea typeface="Calibri" pitchFamily="34" charset="-122"/>
                <a:cs typeface="Calibri" pitchFamily="34" charset="-120"/>
              </a:rPr>
              <a:t>quả</a:t>
            </a:r>
            <a:endParaRPr lang="en-US" sz="1600" dirty="0"/>
          </a:p>
        </p:txBody>
      </p:sp>
      <p:sp>
        <p:nvSpPr>
          <p:cNvPr id="24" name="Text 22"/>
          <p:cNvSpPr/>
          <p:nvPr/>
        </p:nvSpPr>
        <p:spPr>
          <a:xfrm>
            <a:off x="749808" y="3566160"/>
            <a:ext cx="3520440" cy="292608"/>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Giải thích TẠI SAO + so sánh TLTK</a:t>
            </a:r>
            <a:endParaRPr lang="en-US" sz="1600" dirty="0"/>
          </a:p>
        </p:txBody>
      </p:sp>
      <p:sp>
        <p:nvSpPr>
          <p:cNvPr id="25" name="Shape 23"/>
          <p:cNvSpPr/>
          <p:nvPr/>
        </p:nvSpPr>
        <p:spPr>
          <a:xfrm>
            <a:off x="274320" y="3986784"/>
            <a:ext cx="4114800" cy="731520"/>
          </a:xfrm>
          <a:prstGeom prst="rect">
            <a:avLst/>
          </a:prstGeom>
          <a:solidFill>
            <a:srgbClr val="FFFFFF"/>
          </a:solidFill>
          <a:ln w="10160">
            <a:solidFill>
              <a:srgbClr val="CCCCCC"/>
            </a:solidFill>
            <a:prstDash val="solid"/>
          </a:ln>
        </p:spPr>
      </p:sp>
      <p:sp>
        <p:nvSpPr>
          <p:cNvPr id="26" name="Shape 24"/>
          <p:cNvSpPr/>
          <p:nvPr/>
        </p:nvSpPr>
        <p:spPr>
          <a:xfrm>
            <a:off x="274320" y="3986784"/>
            <a:ext cx="411480" cy="731520"/>
          </a:xfrm>
          <a:prstGeom prst="rect">
            <a:avLst/>
          </a:prstGeom>
          <a:solidFill>
            <a:srgbClr val="C0392B"/>
          </a:solidFill>
          <a:ln w="12700">
            <a:solidFill>
              <a:srgbClr val="C0392B"/>
            </a:solidFill>
            <a:prstDash val="solid"/>
          </a:ln>
        </p:spPr>
      </p:sp>
      <p:sp>
        <p:nvSpPr>
          <p:cNvPr id="27" name="Text 25"/>
          <p:cNvSpPr/>
          <p:nvPr/>
        </p:nvSpPr>
        <p:spPr>
          <a:xfrm>
            <a:off x="274320" y="3986784"/>
            <a:ext cx="41148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8" name="Text 26"/>
          <p:cNvSpPr/>
          <p:nvPr/>
        </p:nvSpPr>
        <p:spPr>
          <a:xfrm>
            <a:off x="749808" y="4032504"/>
            <a:ext cx="3520440" cy="292608"/>
          </a:xfrm>
          <a:prstGeom prst="rect">
            <a:avLst/>
          </a:prstGeom>
          <a:noFill/>
          <a:ln/>
        </p:spPr>
        <p:txBody>
          <a:bodyPr wrap="square" lIns="0" tIns="0" rIns="0" bIns="0"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 Tiêu đề bắt đầu 'Nghiên cứu về...'</a:t>
            </a:r>
            <a:endParaRPr lang="en-US" sz="1600" dirty="0"/>
          </a:p>
        </p:txBody>
      </p:sp>
      <p:sp>
        <p:nvSpPr>
          <p:cNvPr id="29" name="Text 27"/>
          <p:cNvSpPr/>
          <p:nvPr/>
        </p:nvSpPr>
        <p:spPr>
          <a:xfrm>
            <a:off x="749808" y="4370832"/>
            <a:ext cx="3520440" cy="292608"/>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Bắt đầu bằng từ khóa chủ đề cụ thể</a:t>
            </a:r>
            <a:endParaRPr lang="en-US" sz="1600" dirty="0"/>
          </a:p>
        </p:txBody>
      </p:sp>
      <p:sp>
        <p:nvSpPr>
          <p:cNvPr id="30" name="Shape 28"/>
          <p:cNvSpPr/>
          <p:nvPr/>
        </p:nvSpPr>
        <p:spPr>
          <a:xfrm>
            <a:off x="4709160" y="1572768"/>
            <a:ext cx="4114800" cy="731520"/>
          </a:xfrm>
          <a:prstGeom prst="rect">
            <a:avLst/>
          </a:prstGeom>
          <a:solidFill>
            <a:srgbClr val="FFFFFF"/>
          </a:solidFill>
          <a:ln w="10160">
            <a:solidFill>
              <a:srgbClr val="CCCCCC"/>
            </a:solidFill>
            <a:prstDash val="solid"/>
          </a:ln>
        </p:spPr>
      </p:sp>
      <p:sp>
        <p:nvSpPr>
          <p:cNvPr id="31" name="Shape 29"/>
          <p:cNvSpPr/>
          <p:nvPr/>
        </p:nvSpPr>
        <p:spPr>
          <a:xfrm>
            <a:off x="4709160" y="1572768"/>
            <a:ext cx="411480" cy="731520"/>
          </a:xfrm>
          <a:prstGeom prst="rect">
            <a:avLst/>
          </a:prstGeom>
          <a:solidFill>
            <a:srgbClr val="C0392B"/>
          </a:solidFill>
          <a:ln w="12700">
            <a:solidFill>
              <a:srgbClr val="C0392B"/>
            </a:solidFill>
            <a:prstDash val="solid"/>
          </a:ln>
        </p:spPr>
      </p:sp>
      <p:sp>
        <p:nvSpPr>
          <p:cNvPr id="32" name="Text 30"/>
          <p:cNvSpPr/>
          <p:nvPr/>
        </p:nvSpPr>
        <p:spPr>
          <a:xfrm>
            <a:off x="4709160" y="1572768"/>
            <a:ext cx="41148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3" name="Text 31"/>
          <p:cNvSpPr/>
          <p:nvPr/>
        </p:nvSpPr>
        <p:spPr>
          <a:xfrm>
            <a:off x="5184648" y="1618488"/>
            <a:ext cx="3520440" cy="292608"/>
          </a:xfrm>
          <a:prstGeom prst="rect">
            <a:avLst/>
          </a:prstGeom>
          <a:noFill/>
          <a:ln/>
        </p:spPr>
        <p:txBody>
          <a:bodyPr wrap="square" lIns="0" tIns="0" rIns="0" bIns="0"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 Không có đóng góp </a:t>
            </a:r>
            <a:r>
              <a:rPr lang="en-US" sz="1600" b="1" dirty="0" err="1">
                <a:solidFill>
                  <a:srgbClr val="C0392B"/>
                </a:solidFill>
                <a:latin typeface="Calibri" pitchFamily="34" charset="0"/>
                <a:ea typeface="Calibri" pitchFamily="34" charset="-122"/>
                <a:cs typeface="Calibri" pitchFamily="34" charset="-120"/>
              </a:rPr>
              <a:t>mới</a:t>
            </a:r>
            <a:r>
              <a:rPr lang="en-US" sz="1600" b="1" dirty="0">
                <a:solidFill>
                  <a:srgbClr val="C0392B"/>
                </a:solidFill>
                <a:latin typeface="Calibri" pitchFamily="34" charset="0"/>
                <a:ea typeface="Calibri" pitchFamily="34" charset="-122"/>
                <a:cs typeface="Calibri" pitchFamily="34" charset="-120"/>
              </a:rPr>
              <a:t> </a:t>
            </a:r>
            <a:endParaRPr lang="en-US" sz="1600" dirty="0"/>
          </a:p>
        </p:txBody>
      </p:sp>
      <p:sp>
        <p:nvSpPr>
          <p:cNvPr id="34" name="Text 32"/>
          <p:cNvSpPr/>
          <p:nvPr/>
        </p:nvSpPr>
        <p:spPr>
          <a:xfrm>
            <a:off x="5184648" y="1956816"/>
            <a:ext cx="3685032" cy="292608"/>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1 câu rõ ràng </a:t>
            </a:r>
            <a:r>
              <a:rPr lang="en-US" sz="1600" dirty="0" err="1">
                <a:solidFill>
                  <a:srgbClr val="2B2F77"/>
                </a:solidFill>
                <a:latin typeface="Calibri" pitchFamily="34" charset="0"/>
                <a:ea typeface="Calibri" pitchFamily="34" charset="-122"/>
                <a:cs typeface="Calibri" pitchFamily="34" charset="-120"/>
              </a:rPr>
              <a:t>về</a:t>
            </a:r>
            <a:r>
              <a:rPr lang="en-US" sz="1600" dirty="0">
                <a:solidFill>
                  <a:srgbClr val="2B2F77"/>
                </a:solidFill>
                <a:latin typeface="Calibri" pitchFamily="34" charset="0"/>
                <a:ea typeface="Calibri" pitchFamily="34" charset="-122"/>
                <a:cs typeface="Calibri" pitchFamily="34" charset="-120"/>
              </a:rPr>
              <a:t> </a:t>
            </a:r>
            <a:r>
              <a:rPr lang="en-US" sz="1600" dirty="0" err="1">
                <a:solidFill>
                  <a:srgbClr val="2B2F77"/>
                </a:solidFill>
                <a:latin typeface="Calibri" pitchFamily="34" charset="0"/>
                <a:ea typeface="Calibri" pitchFamily="34" charset="-122"/>
                <a:cs typeface="Calibri" pitchFamily="34" charset="-120"/>
              </a:rPr>
              <a:t>tính</a:t>
            </a:r>
            <a:r>
              <a:rPr lang="en-US" sz="1600" dirty="0">
                <a:solidFill>
                  <a:srgbClr val="2B2F77"/>
                </a:solidFill>
                <a:latin typeface="Calibri" pitchFamily="34" charset="0"/>
                <a:ea typeface="Calibri" pitchFamily="34" charset="-122"/>
                <a:cs typeface="Calibri" pitchFamily="34" charset="-120"/>
              </a:rPr>
              <a:t> </a:t>
            </a:r>
            <a:r>
              <a:rPr lang="en-US" sz="1600" dirty="0" err="1">
                <a:solidFill>
                  <a:srgbClr val="2B2F77"/>
                </a:solidFill>
                <a:latin typeface="Calibri" pitchFamily="34" charset="0"/>
                <a:ea typeface="Calibri" pitchFamily="34" charset="-122"/>
                <a:cs typeface="Calibri" pitchFamily="34" charset="-120"/>
              </a:rPr>
              <a:t>mới</a:t>
            </a:r>
            <a:r>
              <a:rPr lang="en-US" sz="1600" dirty="0">
                <a:solidFill>
                  <a:srgbClr val="2B2F77"/>
                </a:solidFill>
                <a:latin typeface="Calibri" pitchFamily="34" charset="0"/>
                <a:ea typeface="Calibri" pitchFamily="34" charset="-122"/>
                <a:cs typeface="Calibri" pitchFamily="34" charset="-120"/>
              </a:rPr>
              <a:t> </a:t>
            </a:r>
            <a:r>
              <a:rPr lang="en-US" sz="1600" dirty="0" err="1">
                <a:solidFill>
                  <a:srgbClr val="2B2F77"/>
                </a:solidFill>
                <a:latin typeface="Calibri" pitchFamily="34" charset="0"/>
                <a:ea typeface="Calibri" pitchFamily="34" charset="-122"/>
                <a:cs typeface="Calibri" pitchFamily="34" charset="-120"/>
              </a:rPr>
              <a:t>của</a:t>
            </a:r>
            <a:r>
              <a:rPr lang="en-US" sz="1600" dirty="0">
                <a:solidFill>
                  <a:srgbClr val="2B2F77"/>
                </a:solidFill>
                <a:latin typeface="Calibri" pitchFamily="34" charset="0"/>
                <a:ea typeface="Calibri" pitchFamily="34" charset="-122"/>
                <a:cs typeface="Calibri" pitchFamily="34" charset="-120"/>
              </a:rPr>
              <a:t> </a:t>
            </a:r>
            <a:r>
              <a:rPr lang="en-US" sz="1600" dirty="0" err="1">
                <a:solidFill>
                  <a:srgbClr val="2B2F77"/>
                </a:solidFill>
                <a:latin typeface="Calibri" pitchFamily="34" charset="0"/>
                <a:ea typeface="Calibri" pitchFamily="34" charset="-122"/>
                <a:cs typeface="Calibri" pitchFamily="34" charset="-120"/>
              </a:rPr>
              <a:t>nghiên</a:t>
            </a:r>
            <a:r>
              <a:rPr lang="en-US" sz="1600" dirty="0">
                <a:solidFill>
                  <a:srgbClr val="2B2F77"/>
                </a:solidFill>
                <a:latin typeface="Calibri" pitchFamily="34" charset="0"/>
                <a:ea typeface="Calibri" pitchFamily="34" charset="-122"/>
                <a:cs typeface="Calibri" pitchFamily="34" charset="-120"/>
              </a:rPr>
              <a:t> </a:t>
            </a:r>
            <a:r>
              <a:rPr lang="en-US" sz="1600" dirty="0" err="1">
                <a:solidFill>
                  <a:srgbClr val="2B2F77"/>
                </a:solidFill>
                <a:latin typeface="Calibri" pitchFamily="34" charset="0"/>
                <a:ea typeface="Calibri" pitchFamily="34" charset="-122"/>
                <a:cs typeface="Calibri" pitchFamily="34" charset="-120"/>
              </a:rPr>
              <a:t>cứu</a:t>
            </a:r>
            <a:endParaRPr lang="en-US" sz="1600" dirty="0"/>
          </a:p>
        </p:txBody>
      </p:sp>
      <p:sp>
        <p:nvSpPr>
          <p:cNvPr id="35" name="Shape 33"/>
          <p:cNvSpPr/>
          <p:nvPr/>
        </p:nvSpPr>
        <p:spPr>
          <a:xfrm>
            <a:off x="4709160" y="2377440"/>
            <a:ext cx="4114800" cy="731520"/>
          </a:xfrm>
          <a:prstGeom prst="rect">
            <a:avLst/>
          </a:prstGeom>
          <a:solidFill>
            <a:srgbClr val="FFFFFF"/>
          </a:solidFill>
          <a:ln w="10160">
            <a:solidFill>
              <a:srgbClr val="CCCCCC"/>
            </a:solidFill>
            <a:prstDash val="solid"/>
          </a:ln>
        </p:spPr>
      </p:sp>
      <p:sp>
        <p:nvSpPr>
          <p:cNvPr id="36" name="Shape 34"/>
          <p:cNvSpPr/>
          <p:nvPr/>
        </p:nvSpPr>
        <p:spPr>
          <a:xfrm>
            <a:off x="4709160" y="2377440"/>
            <a:ext cx="411480" cy="731520"/>
          </a:xfrm>
          <a:prstGeom prst="rect">
            <a:avLst/>
          </a:prstGeom>
          <a:solidFill>
            <a:srgbClr val="C0392B"/>
          </a:solidFill>
          <a:ln w="12700">
            <a:solidFill>
              <a:srgbClr val="C0392B"/>
            </a:solidFill>
            <a:prstDash val="solid"/>
          </a:ln>
        </p:spPr>
      </p:sp>
      <p:sp>
        <p:nvSpPr>
          <p:cNvPr id="37" name="Text 35"/>
          <p:cNvSpPr/>
          <p:nvPr/>
        </p:nvSpPr>
        <p:spPr>
          <a:xfrm>
            <a:off x="4709160" y="2377440"/>
            <a:ext cx="41148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8" name="Text 36"/>
          <p:cNvSpPr/>
          <p:nvPr/>
        </p:nvSpPr>
        <p:spPr>
          <a:xfrm>
            <a:off x="5184648" y="2423160"/>
            <a:ext cx="3520440" cy="292608"/>
          </a:xfrm>
          <a:prstGeom prst="rect">
            <a:avLst/>
          </a:prstGeom>
          <a:noFill/>
          <a:ln/>
        </p:spPr>
        <p:txBody>
          <a:bodyPr wrap="square" lIns="0" tIns="0" rIns="0" bIns="0"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 Bảng/hình thiếu tiêu đề, nguồn</a:t>
            </a:r>
            <a:endParaRPr lang="en-US" sz="1600" dirty="0"/>
          </a:p>
        </p:txBody>
      </p:sp>
      <p:sp>
        <p:nvSpPr>
          <p:cNvPr id="39" name="Text 37"/>
          <p:cNvSpPr/>
          <p:nvPr/>
        </p:nvSpPr>
        <p:spPr>
          <a:xfrm>
            <a:off x="5184648" y="2761488"/>
            <a:ext cx="3520440" cy="292608"/>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Mỗi bảng/hình = tiêu đề + đơn vị + nguồn</a:t>
            </a:r>
            <a:endParaRPr lang="en-US" sz="1600" dirty="0"/>
          </a:p>
        </p:txBody>
      </p:sp>
      <p:sp>
        <p:nvSpPr>
          <p:cNvPr id="40" name="Shape 38"/>
          <p:cNvSpPr/>
          <p:nvPr/>
        </p:nvSpPr>
        <p:spPr>
          <a:xfrm>
            <a:off x="4709160" y="3182112"/>
            <a:ext cx="4114800" cy="731520"/>
          </a:xfrm>
          <a:prstGeom prst="rect">
            <a:avLst/>
          </a:prstGeom>
          <a:solidFill>
            <a:srgbClr val="FFFFFF"/>
          </a:solidFill>
          <a:ln w="10160">
            <a:solidFill>
              <a:srgbClr val="CCCCCC"/>
            </a:solidFill>
            <a:prstDash val="solid"/>
          </a:ln>
        </p:spPr>
      </p:sp>
      <p:sp>
        <p:nvSpPr>
          <p:cNvPr id="41" name="Shape 39"/>
          <p:cNvSpPr/>
          <p:nvPr/>
        </p:nvSpPr>
        <p:spPr>
          <a:xfrm>
            <a:off x="4709160" y="3182112"/>
            <a:ext cx="411480" cy="731520"/>
          </a:xfrm>
          <a:prstGeom prst="rect">
            <a:avLst/>
          </a:prstGeom>
          <a:solidFill>
            <a:srgbClr val="C0392B"/>
          </a:solidFill>
          <a:ln w="12700">
            <a:solidFill>
              <a:srgbClr val="C0392B"/>
            </a:solidFill>
            <a:prstDash val="solid"/>
          </a:ln>
        </p:spPr>
      </p:sp>
      <p:sp>
        <p:nvSpPr>
          <p:cNvPr id="42" name="Text 40"/>
          <p:cNvSpPr/>
          <p:nvPr/>
        </p:nvSpPr>
        <p:spPr>
          <a:xfrm>
            <a:off x="4709160" y="3182112"/>
            <a:ext cx="41148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43" name="Text 41"/>
          <p:cNvSpPr/>
          <p:nvPr/>
        </p:nvSpPr>
        <p:spPr>
          <a:xfrm>
            <a:off x="5184648" y="3227832"/>
            <a:ext cx="3520440" cy="292608"/>
          </a:xfrm>
          <a:prstGeom prst="rect">
            <a:avLst/>
          </a:prstGeom>
          <a:noFill/>
          <a:ln/>
        </p:spPr>
        <p:txBody>
          <a:bodyPr wrap="square" lIns="0" tIns="0" rIns="0" bIns="0"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 Tài liệu tham khảo sai format</a:t>
            </a:r>
            <a:endParaRPr lang="en-US" sz="1600" dirty="0"/>
          </a:p>
        </p:txBody>
      </p:sp>
      <p:sp>
        <p:nvSpPr>
          <p:cNvPr id="44" name="Text 42"/>
          <p:cNvSpPr/>
          <p:nvPr/>
        </p:nvSpPr>
        <p:spPr>
          <a:xfrm>
            <a:off x="5184648" y="3566160"/>
            <a:ext cx="3520440" cy="292608"/>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Dùng Zotero, kiểm tra lại từng mục</a:t>
            </a:r>
            <a:endParaRPr lang="en-US" sz="1600" dirty="0"/>
          </a:p>
        </p:txBody>
      </p:sp>
      <p:sp>
        <p:nvSpPr>
          <p:cNvPr id="45" name="Shape 43"/>
          <p:cNvSpPr/>
          <p:nvPr/>
        </p:nvSpPr>
        <p:spPr>
          <a:xfrm>
            <a:off x="4709160" y="3986784"/>
            <a:ext cx="4114800" cy="731520"/>
          </a:xfrm>
          <a:prstGeom prst="rect">
            <a:avLst/>
          </a:prstGeom>
          <a:solidFill>
            <a:srgbClr val="FFFFFF"/>
          </a:solidFill>
          <a:ln w="10160">
            <a:solidFill>
              <a:srgbClr val="CCCCCC"/>
            </a:solidFill>
            <a:prstDash val="solid"/>
          </a:ln>
        </p:spPr>
      </p:sp>
      <p:sp>
        <p:nvSpPr>
          <p:cNvPr id="46" name="Shape 44"/>
          <p:cNvSpPr/>
          <p:nvPr/>
        </p:nvSpPr>
        <p:spPr>
          <a:xfrm>
            <a:off x="4709160" y="3986784"/>
            <a:ext cx="411480" cy="731520"/>
          </a:xfrm>
          <a:prstGeom prst="rect">
            <a:avLst/>
          </a:prstGeom>
          <a:solidFill>
            <a:srgbClr val="C0392B"/>
          </a:solidFill>
          <a:ln w="12700">
            <a:solidFill>
              <a:srgbClr val="C0392B"/>
            </a:solidFill>
            <a:prstDash val="solid"/>
          </a:ln>
        </p:spPr>
      </p:sp>
      <p:sp>
        <p:nvSpPr>
          <p:cNvPr id="47" name="Text 45"/>
          <p:cNvSpPr/>
          <p:nvPr/>
        </p:nvSpPr>
        <p:spPr>
          <a:xfrm>
            <a:off x="4709160" y="3986784"/>
            <a:ext cx="41148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48" name="Text 46"/>
          <p:cNvSpPr/>
          <p:nvPr/>
        </p:nvSpPr>
        <p:spPr>
          <a:xfrm>
            <a:off x="5184648" y="4032504"/>
            <a:ext cx="3520440" cy="292608"/>
          </a:xfrm>
          <a:prstGeom prst="rect">
            <a:avLst/>
          </a:prstGeom>
          <a:noFill/>
          <a:ln/>
        </p:spPr>
        <p:txBody>
          <a:bodyPr wrap="square" lIns="0" tIns="0" rIns="0" bIns="0"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 Tiếng Anh nhiều lỗi ngữ pháp</a:t>
            </a:r>
            <a:endParaRPr lang="en-US" sz="1600" dirty="0"/>
          </a:p>
        </p:txBody>
      </p:sp>
      <p:sp>
        <p:nvSpPr>
          <p:cNvPr id="49" name="Text 47"/>
          <p:cNvSpPr/>
          <p:nvPr/>
        </p:nvSpPr>
        <p:spPr>
          <a:xfrm>
            <a:off x="5184648" y="4370832"/>
            <a:ext cx="3520440" cy="292608"/>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Grammarly + nhờ người bản ngữ đọc</a:t>
            </a:r>
            <a:endParaRPr lang="en-US" sz="1600" dirty="0"/>
          </a:p>
        </p:txBody>
      </p:sp>
      <p:sp>
        <p:nvSpPr>
          <p:cNvPr id="50" name="Shape 48"/>
          <p:cNvSpPr/>
          <p:nvPr/>
        </p:nvSpPr>
        <p:spPr>
          <a:xfrm>
            <a:off x="2011680" y="4846320"/>
            <a:ext cx="7040880" cy="36576"/>
          </a:xfrm>
          <a:prstGeom prst="rect">
            <a:avLst/>
          </a:prstGeom>
          <a:solidFill>
            <a:srgbClr val="F5A623"/>
          </a:solidFill>
          <a:ln w="12700">
            <a:solidFill>
              <a:srgbClr val="F5A623"/>
            </a:solidFill>
            <a:prstDash val="solid"/>
          </a:ln>
        </p:spPr>
      </p:sp>
      <p:pic>
        <p:nvPicPr>
          <p:cNvPr id="51"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52" name="Text 49"/>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53" name="Text 50"/>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2B2F77"/>
          </a:solidFill>
          <a:ln w="12700">
            <a:solidFill>
              <a:srgbClr val="2B2F77"/>
            </a:solidFill>
            <a:prstDash val="solid"/>
          </a:ln>
        </p:spPr>
      </p:sp>
      <p:sp>
        <p:nvSpPr>
          <p:cNvPr id="3" name="Shape 1"/>
          <p:cNvSpPr/>
          <p:nvPr/>
        </p:nvSpPr>
        <p:spPr>
          <a:xfrm>
            <a:off x="0" y="4846320"/>
            <a:ext cx="3200400" cy="297180"/>
          </a:xfrm>
          <a:prstGeom prst="rect">
            <a:avLst/>
          </a:prstGeom>
          <a:solidFill>
            <a:srgbClr val="F5A623"/>
          </a:solidFill>
          <a:ln w="12700">
            <a:solidFill>
              <a:srgbClr val="F5A623"/>
            </a:solidFill>
            <a:prstDash val="solid"/>
          </a:ln>
        </p:spPr>
      </p:sp>
      <p:sp>
        <p:nvSpPr>
          <p:cNvPr id="4" name="Text 2"/>
          <p:cNvSpPr/>
          <p:nvPr/>
        </p:nvSpPr>
        <p:spPr>
          <a:xfrm>
            <a:off x="182880" y="1371600"/>
            <a:ext cx="2743200" cy="914400"/>
          </a:xfrm>
          <a:prstGeom prst="rect">
            <a:avLst/>
          </a:prstGeom>
          <a:noFill/>
          <a:ln/>
        </p:spPr>
        <p:txBody>
          <a:bodyPr wrap="square" lIns="0" tIns="0" rIns="0" bIns="0" rtlCol="0" anchor="ctr"/>
          <a:lstStyle/>
          <a:p>
            <a:pPr marL="0" indent="0" algn="ctr">
              <a:buNone/>
            </a:pPr>
            <a:r>
              <a:rPr lang="en-US" sz="6400" b="1" dirty="0">
                <a:solidFill>
                  <a:srgbClr val="F5A623"/>
                </a:solidFill>
                <a:latin typeface="Calibri" pitchFamily="34" charset="0"/>
                <a:ea typeface="Calibri" pitchFamily="34" charset="-122"/>
                <a:cs typeface="Calibri" pitchFamily="34" charset="-120"/>
              </a:rPr>
              <a:t>04</a:t>
            </a:r>
            <a:endParaRPr lang="en-US" sz="6400" dirty="0"/>
          </a:p>
        </p:txBody>
      </p:sp>
      <p:sp>
        <p:nvSpPr>
          <p:cNvPr id="5" name="Text 3"/>
          <p:cNvSpPr/>
          <p:nvPr/>
        </p:nvSpPr>
        <p:spPr>
          <a:xfrm>
            <a:off x="137160" y="2468880"/>
            <a:ext cx="2926080" cy="1645920"/>
          </a:xfrm>
          <a:prstGeom prst="rect">
            <a:avLst/>
          </a:prstGeom>
          <a:noFill/>
          <a:ln/>
        </p:spPr>
        <p:txBody>
          <a:bodyPr wrap="square" lIns="0" tIns="0" rIns="0" bIns="0" rtlCol="0" anchor="ctr"/>
          <a:lstStyle/>
          <a:p>
            <a:pPr marL="0" indent="0" algn="ctr">
              <a:buNone/>
            </a:pPr>
            <a:r>
              <a:rPr lang="en-US" sz="2400" b="1" dirty="0" err="1">
                <a:solidFill>
                  <a:srgbClr val="FFFFFF"/>
                </a:solidFill>
                <a:latin typeface="Calibri" pitchFamily="34" charset="0"/>
                <a:ea typeface="Calibri" pitchFamily="34" charset="-122"/>
                <a:cs typeface="Calibri" pitchFamily="34" charset="-120"/>
              </a:rPr>
              <a:t>Tạp</a:t>
            </a:r>
            <a:r>
              <a:rPr lang="en-US" sz="2400" b="1" dirty="0">
                <a:solidFill>
                  <a:srgbClr val="FFFFFF"/>
                </a:solidFill>
                <a:latin typeface="Calibri" pitchFamily="34" charset="0"/>
                <a:ea typeface="Calibri" pitchFamily="34" charset="-122"/>
                <a:cs typeface="Calibri" pitchFamily="34" charset="-120"/>
              </a:rPr>
              <a:t> </a:t>
            </a:r>
            <a:r>
              <a:rPr lang="en-US" sz="2400" b="1" dirty="0" err="1">
                <a:solidFill>
                  <a:srgbClr val="FFFFFF"/>
                </a:solidFill>
                <a:latin typeface="Calibri" pitchFamily="34" charset="0"/>
                <a:ea typeface="Calibri" pitchFamily="34" charset="-122"/>
                <a:cs typeface="Calibri" pitchFamily="34" charset="-120"/>
              </a:rPr>
              <a:t>chí</a:t>
            </a:r>
            <a:r>
              <a:rPr lang="en-US" sz="2400" b="1" dirty="0">
                <a:solidFill>
                  <a:srgbClr val="FFFFFF"/>
                </a:solidFill>
                <a:latin typeface="Calibri" pitchFamily="34" charset="0"/>
                <a:ea typeface="Calibri" pitchFamily="34" charset="-122"/>
                <a:cs typeface="Calibri" pitchFamily="34" charset="-120"/>
              </a:rPr>
              <a:t> Khoa </a:t>
            </a:r>
            <a:r>
              <a:rPr lang="en-US" sz="2400" b="1" dirty="0" err="1">
                <a:solidFill>
                  <a:srgbClr val="FFFFFF"/>
                </a:solidFill>
                <a:latin typeface="Calibri" pitchFamily="34" charset="0"/>
                <a:ea typeface="Calibri" pitchFamily="34" charset="-122"/>
                <a:cs typeface="Calibri" pitchFamily="34" charset="-120"/>
              </a:rPr>
              <a:t>học</a:t>
            </a:r>
            <a:r>
              <a:rPr lang="en-US" sz="2400" b="1" dirty="0">
                <a:solidFill>
                  <a:srgbClr val="FFFFFF"/>
                </a:solidFill>
                <a:latin typeface="Calibri" pitchFamily="34" charset="0"/>
                <a:ea typeface="Calibri" pitchFamily="34" charset="-122"/>
                <a:cs typeface="Calibri" pitchFamily="34" charset="-120"/>
              </a:rPr>
              <a:t> </a:t>
            </a:r>
            <a:r>
              <a:rPr lang="en-US" sz="2400" b="1" dirty="0" err="1">
                <a:solidFill>
                  <a:srgbClr val="FFFFFF"/>
                </a:solidFill>
                <a:latin typeface="Calibri" pitchFamily="34" charset="0"/>
                <a:ea typeface="Calibri" pitchFamily="34" charset="-122"/>
                <a:cs typeface="Calibri" pitchFamily="34" charset="-120"/>
              </a:rPr>
              <a:t>và</a:t>
            </a:r>
            <a:r>
              <a:rPr lang="en-US" sz="2400" b="1" dirty="0">
                <a:solidFill>
                  <a:srgbClr val="FFFFFF"/>
                </a:solidFill>
                <a:latin typeface="Calibri" pitchFamily="34" charset="0"/>
                <a:ea typeface="Calibri" pitchFamily="34" charset="-122"/>
                <a:cs typeface="Calibri" pitchFamily="34" charset="-120"/>
              </a:rPr>
              <a:t> Công </a:t>
            </a:r>
            <a:r>
              <a:rPr lang="en-US" sz="2400" b="1" dirty="0" err="1">
                <a:solidFill>
                  <a:srgbClr val="FFFFFF"/>
                </a:solidFill>
                <a:latin typeface="Calibri" pitchFamily="34" charset="0"/>
                <a:ea typeface="Calibri" pitchFamily="34" charset="-122"/>
                <a:cs typeface="Calibri" pitchFamily="34" charset="-120"/>
              </a:rPr>
              <a:t>nghệ</a:t>
            </a:r>
            <a:r>
              <a:rPr lang="en-US" sz="2400" b="1" dirty="0">
                <a:solidFill>
                  <a:srgbClr val="FFFFFF"/>
                </a:solidFill>
                <a:latin typeface="Calibri" pitchFamily="34" charset="0"/>
                <a:ea typeface="Calibri" pitchFamily="34" charset="-122"/>
                <a:cs typeface="Calibri" pitchFamily="34" charset="-120"/>
              </a:rPr>
              <a:t> Giao </a:t>
            </a:r>
            <a:r>
              <a:rPr lang="en-US" sz="2400" b="1" dirty="0" err="1">
                <a:solidFill>
                  <a:srgbClr val="FFFFFF"/>
                </a:solidFill>
                <a:latin typeface="Calibri" pitchFamily="34" charset="0"/>
                <a:ea typeface="Calibri" pitchFamily="34" charset="-122"/>
                <a:cs typeface="Calibri" pitchFamily="34" charset="-120"/>
              </a:rPr>
              <a:t>thông</a:t>
            </a:r>
            <a:endParaRPr lang="en-US" sz="2400" dirty="0"/>
          </a:p>
          <a:p>
            <a:pPr marL="0" indent="0" algn="ctr">
              <a:buNone/>
            </a:pPr>
            <a:r>
              <a:rPr lang="en-US" sz="2400" b="1" dirty="0">
                <a:solidFill>
                  <a:srgbClr val="FFFFFF"/>
                </a:solidFill>
                <a:latin typeface="Calibri" pitchFamily="34" charset="0"/>
                <a:ea typeface="Calibri" pitchFamily="34" charset="-122"/>
                <a:cs typeface="Calibri" pitchFamily="34" charset="-120"/>
              </a:rPr>
              <a:t> JSTT</a:t>
            </a:r>
            <a:endParaRPr lang="en-US" sz="2400" dirty="0"/>
          </a:p>
        </p:txBody>
      </p:sp>
      <p:sp>
        <p:nvSpPr>
          <p:cNvPr id="6" name="Text 4"/>
          <p:cNvSpPr/>
          <p:nvPr/>
        </p:nvSpPr>
        <p:spPr>
          <a:xfrm>
            <a:off x="3474720" y="2011680"/>
            <a:ext cx="5303520" cy="914400"/>
          </a:xfrm>
          <a:prstGeom prst="rect">
            <a:avLst/>
          </a:prstGeom>
          <a:noFill/>
          <a:ln/>
        </p:spPr>
        <p:txBody>
          <a:bodyPr wrap="square" lIns="0" tIns="0" rIns="0" bIns="0" rtlCol="0" anchor="ctr"/>
          <a:lstStyle/>
          <a:p>
            <a:pPr marL="0" indent="0" algn="l">
              <a:buNone/>
            </a:pPr>
            <a:r>
              <a:rPr lang="en-US" sz="2000" dirty="0"/>
              <a:t>NƠI KHỞI ĐẦU CÔNG BỐ CỦA BẠN</a:t>
            </a:r>
          </a:p>
        </p:txBody>
      </p:sp>
      <p:sp>
        <p:nvSpPr>
          <p:cNvPr id="7" name="Text 5"/>
          <p:cNvSpPr/>
          <p:nvPr/>
        </p:nvSpPr>
        <p:spPr>
          <a:xfrm>
            <a:off x="3474720" y="4846320"/>
            <a:ext cx="5303520" cy="228600"/>
          </a:xfrm>
          <a:prstGeom prst="rect">
            <a:avLst/>
          </a:prstGeom>
          <a:noFill/>
          <a:ln/>
        </p:spPr>
        <p:txBody>
          <a:bodyPr wrap="square" lIns="0" tIns="0" rIns="0" bIns="0" rtlCol="0" anchor="ctr"/>
          <a:lstStyle/>
          <a:p>
            <a:pPr marL="0" indent="0" algn="r">
              <a:buNone/>
            </a:pPr>
            <a:r>
              <a:rPr lang="en-US" sz="1100" dirty="0">
                <a:solidFill>
                  <a:srgbClr val="CCCCCC"/>
                </a:solidFill>
                <a:latin typeface="Calibri" pitchFamily="34" charset="0"/>
                <a:ea typeface="Calibri" pitchFamily="34" charset="-122"/>
                <a:cs typeface="Calibri" pitchFamily="34" charset="-120"/>
              </a:rPr>
              <a:t>jstt.vn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JSTT — Phiên bản tiếng Anh, Scopus Q3</a:t>
            </a:r>
            <a:endParaRPr lang="en-US" sz="2600" dirty="0"/>
          </a:p>
        </p:txBody>
      </p:sp>
      <p:sp>
        <p:nvSpPr>
          <p:cNvPr id="10" name="Shape 8"/>
          <p:cNvSpPr/>
          <p:nvPr/>
        </p:nvSpPr>
        <p:spPr>
          <a:xfrm>
            <a:off x="274320" y="1572768"/>
            <a:ext cx="4846320" cy="457200"/>
          </a:xfrm>
          <a:prstGeom prst="rect">
            <a:avLst/>
          </a:prstGeom>
          <a:solidFill>
            <a:srgbClr val="F8FBFF"/>
          </a:solidFill>
          <a:ln w="6350">
            <a:solidFill>
              <a:srgbClr val="CCCCCC"/>
            </a:solidFill>
            <a:prstDash val="solid"/>
          </a:ln>
        </p:spPr>
      </p:sp>
      <p:sp>
        <p:nvSpPr>
          <p:cNvPr id="11" name="Shape 9"/>
          <p:cNvSpPr/>
          <p:nvPr/>
        </p:nvSpPr>
        <p:spPr>
          <a:xfrm>
            <a:off x="274320" y="1572768"/>
            <a:ext cx="91440" cy="457200"/>
          </a:xfrm>
          <a:prstGeom prst="rect">
            <a:avLst/>
          </a:prstGeom>
          <a:solidFill>
            <a:srgbClr val="2B2F77"/>
          </a:solidFill>
          <a:ln w="12700">
            <a:solidFill>
              <a:srgbClr val="2B2F77"/>
            </a:solidFill>
            <a:prstDash val="solid"/>
          </a:ln>
        </p:spPr>
      </p:sp>
      <p:sp>
        <p:nvSpPr>
          <p:cNvPr id="12" name="Text 10"/>
          <p:cNvSpPr/>
          <p:nvPr/>
        </p:nvSpPr>
        <p:spPr>
          <a:xfrm>
            <a:off x="438912" y="1627632"/>
            <a:ext cx="1188720" cy="347472"/>
          </a:xfrm>
          <a:prstGeom prst="rect">
            <a:avLst/>
          </a:prstGeom>
          <a:noFill/>
          <a:ln/>
        </p:spPr>
        <p:txBody>
          <a:bodyPr wrap="square" lIns="0" tIns="0" rIns="0" bIns="0" rtlCol="0" anchor="ctr"/>
          <a:lstStyle/>
          <a:p>
            <a:pPr marL="0" indent="0">
              <a:buNone/>
            </a:pPr>
            <a:r>
              <a:rPr lang="en-US" sz="1500" b="1" dirty="0">
                <a:solidFill>
                  <a:srgbClr val="2B2F77"/>
                </a:solidFill>
                <a:latin typeface="Calibri" pitchFamily="34" charset="0"/>
                <a:ea typeface="Calibri" pitchFamily="34" charset="-122"/>
                <a:cs typeface="Calibri" pitchFamily="34" charset="-120"/>
              </a:rPr>
              <a:t>📰  Tên đầy đủ</a:t>
            </a:r>
            <a:endParaRPr lang="en-US" sz="1500" dirty="0"/>
          </a:p>
        </p:txBody>
      </p:sp>
      <p:sp>
        <p:nvSpPr>
          <p:cNvPr id="13" name="Text 11"/>
          <p:cNvSpPr/>
          <p:nvPr/>
        </p:nvSpPr>
        <p:spPr>
          <a:xfrm>
            <a:off x="1664208" y="1627632"/>
            <a:ext cx="3337560" cy="347472"/>
          </a:xfrm>
          <a:prstGeom prst="rect">
            <a:avLst/>
          </a:prstGeom>
          <a:noFill/>
          <a:ln/>
        </p:spPr>
        <p:txBody>
          <a:bodyPr wrap="none" lIns="0" tIns="0" rIns="0" bIns="0" rtlCol="0" anchor="ctr"/>
          <a:lstStyle/>
          <a:p>
            <a:pPr marL="0" indent="0">
              <a:buNone/>
            </a:pPr>
            <a:r>
              <a:rPr lang="en-US" sz="1600" dirty="0">
                <a:solidFill>
                  <a:srgbClr val="555555"/>
                </a:solidFill>
                <a:latin typeface="Calibri" pitchFamily="34" charset="0"/>
                <a:ea typeface="Calibri" pitchFamily="34" charset="-122"/>
                <a:cs typeface="Calibri" pitchFamily="34" charset="-120"/>
              </a:rPr>
              <a:t>Journal of Science and Transport Technology</a:t>
            </a:r>
            <a:endParaRPr lang="en-US" sz="1600" dirty="0"/>
          </a:p>
        </p:txBody>
      </p:sp>
      <p:sp>
        <p:nvSpPr>
          <p:cNvPr id="14" name="Shape 12"/>
          <p:cNvSpPr/>
          <p:nvPr/>
        </p:nvSpPr>
        <p:spPr>
          <a:xfrm>
            <a:off x="274320" y="2084832"/>
            <a:ext cx="4846320" cy="457200"/>
          </a:xfrm>
          <a:prstGeom prst="rect">
            <a:avLst/>
          </a:prstGeom>
          <a:solidFill>
            <a:srgbClr val="FFFFFF"/>
          </a:solidFill>
          <a:ln w="6350">
            <a:solidFill>
              <a:srgbClr val="CCCCCC"/>
            </a:solidFill>
            <a:prstDash val="solid"/>
          </a:ln>
        </p:spPr>
      </p:sp>
      <p:sp>
        <p:nvSpPr>
          <p:cNvPr id="15" name="Shape 13"/>
          <p:cNvSpPr/>
          <p:nvPr/>
        </p:nvSpPr>
        <p:spPr>
          <a:xfrm>
            <a:off x="274320" y="2084832"/>
            <a:ext cx="91440" cy="457200"/>
          </a:xfrm>
          <a:prstGeom prst="rect">
            <a:avLst/>
          </a:prstGeom>
          <a:solidFill>
            <a:srgbClr val="2B2F77"/>
          </a:solidFill>
          <a:ln w="12700">
            <a:solidFill>
              <a:srgbClr val="2B2F77"/>
            </a:solidFill>
            <a:prstDash val="solid"/>
          </a:ln>
        </p:spPr>
      </p:sp>
      <p:sp>
        <p:nvSpPr>
          <p:cNvPr id="16" name="Text 14"/>
          <p:cNvSpPr/>
          <p:nvPr/>
        </p:nvSpPr>
        <p:spPr>
          <a:xfrm>
            <a:off x="438912" y="2139696"/>
            <a:ext cx="1188720" cy="347472"/>
          </a:xfrm>
          <a:prstGeom prst="rect">
            <a:avLst/>
          </a:prstGeom>
          <a:noFill/>
          <a:ln/>
        </p:spPr>
        <p:txBody>
          <a:bodyPr wrap="square" lIns="0" tIns="0" rIns="0" bIns="0" rtlCol="0" anchor="ctr"/>
          <a:lstStyle/>
          <a:p>
            <a:pPr marL="0" indent="0">
              <a:buNone/>
            </a:pPr>
            <a:r>
              <a:rPr lang="en-US" sz="1500" b="1" dirty="0">
                <a:solidFill>
                  <a:srgbClr val="2B2F77"/>
                </a:solidFill>
                <a:latin typeface="Calibri" pitchFamily="34" charset="0"/>
                <a:ea typeface="Calibri" pitchFamily="34" charset="-122"/>
                <a:cs typeface="Calibri" pitchFamily="34" charset="-120"/>
              </a:rPr>
              <a:t>🔢  ISSN (online)</a:t>
            </a:r>
            <a:endParaRPr lang="en-US" sz="1500" dirty="0"/>
          </a:p>
        </p:txBody>
      </p:sp>
      <p:sp>
        <p:nvSpPr>
          <p:cNvPr id="17" name="Text 15"/>
          <p:cNvSpPr/>
          <p:nvPr/>
        </p:nvSpPr>
        <p:spPr>
          <a:xfrm>
            <a:off x="1664208" y="2139696"/>
            <a:ext cx="3337560" cy="347472"/>
          </a:xfrm>
          <a:prstGeom prst="rect">
            <a:avLst/>
          </a:prstGeom>
          <a:noFill/>
          <a:ln/>
        </p:spPr>
        <p:txBody>
          <a:bodyPr wrap="none" lIns="0" tIns="0" rIns="0" bIns="0" rtlCol="0" anchor="ctr"/>
          <a:lstStyle/>
          <a:p>
            <a:pPr marL="0" indent="0">
              <a:buNone/>
            </a:pPr>
            <a:r>
              <a:rPr lang="en-US" sz="1600" dirty="0">
                <a:solidFill>
                  <a:srgbClr val="555555"/>
                </a:solidFill>
                <a:latin typeface="Calibri" pitchFamily="34" charset="0"/>
                <a:ea typeface="Calibri" pitchFamily="34" charset="-122"/>
                <a:cs typeface="Calibri" pitchFamily="34" charset="-120"/>
              </a:rPr>
              <a:t>2734-9950</a:t>
            </a:r>
            <a:endParaRPr lang="en-US" sz="1600" dirty="0"/>
          </a:p>
        </p:txBody>
      </p:sp>
      <p:sp>
        <p:nvSpPr>
          <p:cNvPr id="18" name="Shape 16"/>
          <p:cNvSpPr/>
          <p:nvPr/>
        </p:nvSpPr>
        <p:spPr>
          <a:xfrm>
            <a:off x="274320" y="2596896"/>
            <a:ext cx="4846320" cy="457200"/>
          </a:xfrm>
          <a:prstGeom prst="rect">
            <a:avLst/>
          </a:prstGeom>
          <a:solidFill>
            <a:srgbClr val="F8FBFF"/>
          </a:solidFill>
          <a:ln w="6350">
            <a:solidFill>
              <a:srgbClr val="CCCCCC"/>
            </a:solidFill>
            <a:prstDash val="solid"/>
          </a:ln>
        </p:spPr>
      </p:sp>
      <p:sp>
        <p:nvSpPr>
          <p:cNvPr id="19" name="Shape 17"/>
          <p:cNvSpPr/>
          <p:nvPr/>
        </p:nvSpPr>
        <p:spPr>
          <a:xfrm>
            <a:off x="274320" y="2596896"/>
            <a:ext cx="91440" cy="457200"/>
          </a:xfrm>
          <a:prstGeom prst="rect">
            <a:avLst/>
          </a:prstGeom>
          <a:solidFill>
            <a:srgbClr val="2B2F77"/>
          </a:solidFill>
          <a:ln w="12700">
            <a:solidFill>
              <a:srgbClr val="2B2F77"/>
            </a:solidFill>
            <a:prstDash val="solid"/>
          </a:ln>
        </p:spPr>
      </p:sp>
      <p:sp>
        <p:nvSpPr>
          <p:cNvPr id="20" name="Text 18"/>
          <p:cNvSpPr/>
          <p:nvPr/>
        </p:nvSpPr>
        <p:spPr>
          <a:xfrm>
            <a:off x="438912" y="2651760"/>
            <a:ext cx="1188720" cy="347472"/>
          </a:xfrm>
          <a:prstGeom prst="rect">
            <a:avLst/>
          </a:prstGeom>
          <a:noFill/>
          <a:ln/>
        </p:spPr>
        <p:txBody>
          <a:bodyPr wrap="square" lIns="0" tIns="0" rIns="0" bIns="0" rtlCol="0" anchor="ctr"/>
          <a:lstStyle/>
          <a:p>
            <a:pPr marL="0" indent="0">
              <a:buNone/>
            </a:pPr>
            <a:r>
              <a:rPr lang="en-US" sz="1500" b="1" dirty="0">
                <a:solidFill>
                  <a:srgbClr val="2B2F77"/>
                </a:solidFill>
                <a:latin typeface="Calibri" pitchFamily="34" charset="0"/>
                <a:ea typeface="Calibri" pitchFamily="34" charset="-122"/>
                <a:cs typeface="Calibri" pitchFamily="34" charset="-120"/>
              </a:rPr>
              <a:t>🌐  Website</a:t>
            </a:r>
            <a:endParaRPr lang="en-US" sz="1500" dirty="0"/>
          </a:p>
        </p:txBody>
      </p:sp>
      <p:sp>
        <p:nvSpPr>
          <p:cNvPr id="21" name="Text 19"/>
          <p:cNvSpPr/>
          <p:nvPr/>
        </p:nvSpPr>
        <p:spPr>
          <a:xfrm>
            <a:off x="1664208" y="2651760"/>
            <a:ext cx="3337560" cy="347472"/>
          </a:xfrm>
          <a:prstGeom prst="rect">
            <a:avLst/>
          </a:prstGeom>
          <a:noFill/>
          <a:ln/>
        </p:spPr>
        <p:txBody>
          <a:bodyPr wrap="none" lIns="0" tIns="0" rIns="0" bIns="0" rtlCol="0" anchor="ctr"/>
          <a:lstStyle/>
          <a:p>
            <a:pPr marL="0" indent="0">
              <a:buNone/>
            </a:pPr>
            <a:r>
              <a:rPr lang="en-US" sz="1600" dirty="0">
                <a:solidFill>
                  <a:srgbClr val="555555"/>
                </a:solidFill>
                <a:latin typeface="Calibri" pitchFamily="34" charset="0"/>
                <a:ea typeface="Calibri" pitchFamily="34" charset="-122"/>
                <a:cs typeface="Calibri" pitchFamily="34" charset="-120"/>
              </a:rPr>
              <a:t>jstt.vn/index.php/en</a:t>
            </a:r>
            <a:endParaRPr lang="en-US" sz="1600" dirty="0"/>
          </a:p>
        </p:txBody>
      </p:sp>
      <p:sp>
        <p:nvSpPr>
          <p:cNvPr id="22" name="Shape 20"/>
          <p:cNvSpPr/>
          <p:nvPr/>
        </p:nvSpPr>
        <p:spPr>
          <a:xfrm>
            <a:off x="274320" y="3108960"/>
            <a:ext cx="4846320" cy="457200"/>
          </a:xfrm>
          <a:prstGeom prst="rect">
            <a:avLst/>
          </a:prstGeom>
          <a:solidFill>
            <a:srgbClr val="FFFFFF"/>
          </a:solidFill>
          <a:ln w="6350">
            <a:solidFill>
              <a:srgbClr val="CCCCCC"/>
            </a:solidFill>
            <a:prstDash val="solid"/>
          </a:ln>
        </p:spPr>
      </p:sp>
      <p:sp>
        <p:nvSpPr>
          <p:cNvPr id="23" name="Shape 21"/>
          <p:cNvSpPr/>
          <p:nvPr/>
        </p:nvSpPr>
        <p:spPr>
          <a:xfrm>
            <a:off x="274320" y="3108960"/>
            <a:ext cx="91440" cy="457200"/>
          </a:xfrm>
          <a:prstGeom prst="rect">
            <a:avLst/>
          </a:prstGeom>
          <a:solidFill>
            <a:srgbClr val="2B2F77"/>
          </a:solidFill>
          <a:ln w="12700">
            <a:solidFill>
              <a:srgbClr val="2B2F77"/>
            </a:solidFill>
            <a:prstDash val="solid"/>
          </a:ln>
        </p:spPr>
      </p:sp>
      <p:sp>
        <p:nvSpPr>
          <p:cNvPr id="24" name="Text 22"/>
          <p:cNvSpPr/>
          <p:nvPr/>
        </p:nvSpPr>
        <p:spPr>
          <a:xfrm>
            <a:off x="438912" y="3163824"/>
            <a:ext cx="1188720" cy="347472"/>
          </a:xfrm>
          <a:prstGeom prst="rect">
            <a:avLst/>
          </a:prstGeom>
          <a:noFill/>
          <a:ln/>
        </p:spPr>
        <p:txBody>
          <a:bodyPr wrap="square" lIns="0" tIns="0" rIns="0" bIns="0" rtlCol="0" anchor="ctr"/>
          <a:lstStyle/>
          <a:p>
            <a:pPr marL="0" indent="0">
              <a:buNone/>
            </a:pPr>
            <a:r>
              <a:rPr lang="en-US" sz="1500" b="1" dirty="0">
                <a:solidFill>
                  <a:srgbClr val="2B2F77"/>
                </a:solidFill>
                <a:latin typeface="Calibri" pitchFamily="34" charset="0"/>
                <a:ea typeface="Calibri" pitchFamily="34" charset="-122"/>
                <a:cs typeface="Calibri" pitchFamily="34" charset="-120"/>
              </a:rPr>
              <a:t>🔓  Hình thức</a:t>
            </a:r>
            <a:endParaRPr lang="en-US" sz="1500" dirty="0"/>
          </a:p>
        </p:txBody>
      </p:sp>
      <p:sp>
        <p:nvSpPr>
          <p:cNvPr id="25" name="Text 23"/>
          <p:cNvSpPr/>
          <p:nvPr/>
        </p:nvSpPr>
        <p:spPr>
          <a:xfrm>
            <a:off x="1664208" y="3163824"/>
            <a:ext cx="3337560" cy="347472"/>
          </a:xfrm>
          <a:prstGeom prst="rect">
            <a:avLst/>
          </a:prstGeom>
          <a:noFill/>
          <a:ln/>
        </p:spPr>
        <p:txBody>
          <a:bodyPr wrap="none" lIns="0" tIns="0" rIns="0" bIns="0" rtlCol="0" anchor="ctr"/>
          <a:lstStyle/>
          <a:p>
            <a:pPr marL="0" indent="0">
              <a:buNone/>
            </a:pPr>
            <a:r>
              <a:rPr lang="en-US" sz="1600" dirty="0">
                <a:solidFill>
                  <a:srgbClr val="555555"/>
                </a:solidFill>
                <a:latin typeface="Calibri" pitchFamily="34" charset="0"/>
                <a:ea typeface="Calibri" pitchFamily="34" charset="-122"/>
                <a:cs typeface="Calibri" pitchFamily="34" charset="-120"/>
              </a:rPr>
              <a:t>Open Access — Truy cập mở, miễn phí</a:t>
            </a:r>
            <a:endParaRPr lang="en-US" sz="1600" dirty="0"/>
          </a:p>
        </p:txBody>
      </p:sp>
      <p:sp>
        <p:nvSpPr>
          <p:cNvPr id="26" name="Shape 24"/>
          <p:cNvSpPr/>
          <p:nvPr/>
        </p:nvSpPr>
        <p:spPr>
          <a:xfrm>
            <a:off x="274320" y="3621024"/>
            <a:ext cx="4846320" cy="457200"/>
          </a:xfrm>
          <a:prstGeom prst="rect">
            <a:avLst/>
          </a:prstGeom>
          <a:solidFill>
            <a:srgbClr val="F8FBFF"/>
          </a:solidFill>
          <a:ln w="6350">
            <a:solidFill>
              <a:srgbClr val="CCCCCC"/>
            </a:solidFill>
            <a:prstDash val="solid"/>
          </a:ln>
        </p:spPr>
      </p:sp>
      <p:sp>
        <p:nvSpPr>
          <p:cNvPr id="27" name="Shape 25"/>
          <p:cNvSpPr/>
          <p:nvPr/>
        </p:nvSpPr>
        <p:spPr>
          <a:xfrm>
            <a:off x="274320" y="3621024"/>
            <a:ext cx="91440" cy="457200"/>
          </a:xfrm>
          <a:prstGeom prst="rect">
            <a:avLst/>
          </a:prstGeom>
          <a:solidFill>
            <a:srgbClr val="2B2F77"/>
          </a:solidFill>
          <a:ln w="12700">
            <a:solidFill>
              <a:srgbClr val="2B2F77"/>
            </a:solidFill>
            <a:prstDash val="solid"/>
          </a:ln>
        </p:spPr>
      </p:sp>
      <p:sp>
        <p:nvSpPr>
          <p:cNvPr id="28" name="Text 26"/>
          <p:cNvSpPr/>
          <p:nvPr/>
        </p:nvSpPr>
        <p:spPr>
          <a:xfrm>
            <a:off x="438912" y="3675888"/>
            <a:ext cx="1188720" cy="347472"/>
          </a:xfrm>
          <a:prstGeom prst="rect">
            <a:avLst/>
          </a:prstGeom>
          <a:noFill/>
          <a:ln/>
        </p:spPr>
        <p:txBody>
          <a:bodyPr wrap="square" lIns="0" tIns="0" rIns="0" bIns="0" rtlCol="0" anchor="ctr"/>
          <a:lstStyle/>
          <a:p>
            <a:pPr marL="0" indent="0">
              <a:buNone/>
            </a:pPr>
            <a:r>
              <a:rPr lang="en-US" sz="1500" b="1" dirty="0">
                <a:solidFill>
                  <a:srgbClr val="2B2F77"/>
                </a:solidFill>
                <a:latin typeface="Calibri" pitchFamily="34" charset="0"/>
                <a:ea typeface="Calibri" pitchFamily="34" charset="-122"/>
                <a:cs typeface="Calibri" pitchFamily="34" charset="-120"/>
              </a:rPr>
              <a:t>📅  Tần suất</a:t>
            </a:r>
            <a:endParaRPr lang="en-US" sz="1500" dirty="0"/>
          </a:p>
        </p:txBody>
      </p:sp>
      <p:sp>
        <p:nvSpPr>
          <p:cNvPr id="29" name="Text 27"/>
          <p:cNvSpPr/>
          <p:nvPr/>
        </p:nvSpPr>
        <p:spPr>
          <a:xfrm>
            <a:off x="1664208" y="3675888"/>
            <a:ext cx="3337560" cy="347472"/>
          </a:xfrm>
          <a:prstGeom prst="rect">
            <a:avLst/>
          </a:prstGeom>
          <a:noFill/>
          <a:ln/>
        </p:spPr>
        <p:txBody>
          <a:bodyPr wrap="none" lIns="0" tIns="0" rIns="0" bIns="0" rtlCol="0" anchor="ctr"/>
          <a:lstStyle/>
          <a:p>
            <a:pPr marL="0" indent="0">
              <a:buNone/>
            </a:pPr>
            <a:r>
              <a:rPr lang="en-US" sz="1600" dirty="0">
                <a:solidFill>
                  <a:srgbClr val="555555"/>
                </a:solidFill>
                <a:latin typeface="Calibri" pitchFamily="34" charset="0"/>
                <a:ea typeface="Calibri" pitchFamily="34" charset="-122"/>
                <a:cs typeface="Calibri" pitchFamily="34" charset="-120"/>
              </a:rPr>
              <a:t>4 số/năm + các số đặc biệt</a:t>
            </a:r>
            <a:endParaRPr lang="en-US" sz="1600" dirty="0"/>
          </a:p>
        </p:txBody>
      </p:sp>
      <p:sp>
        <p:nvSpPr>
          <p:cNvPr id="30" name="Shape 28"/>
          <p:cNvSpPr/>
          <p:nvPr/>
        </p:nvSpPr>
        <p:spPr>
          <a:xfrm>
            <a:off x="274320" y="4133088"/>
            <a:ext cx="4846320" cy="457200"/>
          </a:xfrm>
          <a:prstGeom prst="rect">
            <a:avLst/>
          </a:prstGeom>
          <a:solidFill>
            <a:srgbClr val="FFFFFF"/>
          </a:solidFill>
          <a:ln w="6350">
            <a:solidFill>
              <a:srgbClr val="CCCCCC"/>
            </a:solidFill>
            <a:prstDash val="solid"/>
          </a:ln>
        </p:spPr>
      </p:sp>
      <p:sp>
        <p:nvSpPr>
          <p:cNvPr id="31" name="Shape 29"/>
          <p:cNvSpPr/>
          <p:nvPr/>
        </p:nvSpPr>
        <p:spPr>
          <a:xfrm>
            <a:off x="274320" y="4133088"/>
            <a:ext cx="91440" cy="457200"/>
          </a:xfrm>
          <a:prstGeom prst="rect">
            <a:avLst/>
          </a:prstGeom>
          <a:solidFill>
            <a:srgbClr val="2B2F77"/>
          </a:solidFill>
          <a:ln w="12700">
            <a:solidFill>
              <a:srgbClr val="2B2F77"/>
            </a:solidFill>
            <a:prstDash val="solid"/>
          </a:ln>
        </p:spPr>
      </p:sp>
      <p:sp>
        <p:nvSpPr>
          <p:cNvPr id="32" name="Text 30"/>
          <p:cNvSpPr/>
          <p:nvPr/>
        </p:nvSpPr>
        <p:spPr>
          <a:xfrm>
            <a:off x="438912" y="4187952"/>
            <a:ext cx="1188720" cy="347472"/>
          </a:xfrm>
          <a:prstGeom prst="rect">
            <a:avLst/>
          </a:prstGeom>
          <a:noFill/>
          <a:ln/>
        </p:spPr>
        <p:txBody>
          <a:bodyPr wrap="square" lIns="0" tIns="0" rIns="0" bIns="0" rtlCol="0" anchor="ctr"/>
          <a:lstStyle/>
          <a:p>
            <a:pPr marL="0" indent="0">
              <a:buNone/>
            </a:pPr>
            <a:r>
              <a:rPr lang="en-US" sz="1500" b="1" dirty="0">
                <a:solidFill>
                  <a:srgbClr val="2B2F77"/>
                </a:solidFill>
                <a:latin typeface="Calibri" pitchFamily="34" charset="0"/>
                <a:ea typeface="Calibri" pitchFamily="34" charset="-122"/>
                <a:cs typeface="Calibri" pitchFamily="34" charset="-120"/>
              </a:rPr>
              <a:t>🏛️  Chủ quản</a:t>
            </a:r>
            <a:endParaRPr lang="en-US" sz="1500" dirty="0"/>
          </a:p>
        </p:txBody>
      </p:sp>
      <p:sp>
        <p:nvSpPr>
          <p:cNvPr id="33" name="Text 31"/>
          <p:cNvSpPr/>
          <p:nvPr/>
        </p:nvSpPr>
        <p:spPr>
          <a:xfrm>
            <a:off x="1664208" y="4187952"/>
            <a:ext cx="3337560" cy="347472"/>
          </a:xfrm>
          <a:prstGeom prst="rect">
            <a:avLst/>
          </a:prstGeom>
          <a:noFill/>
          <a:ln/>
        </p:spPr>
        <p:txBody>
          <a:bodyPr wrap="none" lIns="0" tIns="0" rIns="0" bIns="0" rtlCol="0" anchor="ctr"/>
          <a:lstStyle/>
          <a:p>
            <a:pPr marL="0" indent="0">
              <a:buNone/>
            </a:pPr>
            <a:r>
              <a:rPr lang="en-US" sz="1600" dirty="0">
                <a:solidFill>
                  <a:srgbClr val="555555"/>
                </a:solidFill>
                <a:latin typeface="Calibri" pitchFamily="34" charset="0"/>
                <a:ea typeface="Calibri" pitchFamily="34" charset="-122"/>
                <a:cs typeface="Calibri" pitchFamily="34" charset="-120"/>
              </a:rPr>
              <a:t>Trường ĐH Công nghệ GTVT (UTT)</a:t>
            </a:r>
            <a:endParaRPr lang="en-US" sz="1600" dirty="0"/>
          </a:p>
        </p:txBody>
      </p:sp>
      <p:sp>
        <p:nvSpPr>
          <p:cNvPr id="34" name="Shape 32"/>
          <p:cNvSpPr/>
          <p:nvPr/>
        </p:nvSpPr>
        <p:spPr>
          <a:xfrm>
            <a:off x="5303520" y="1572768"/>
            <a:ext cx="3566160" cy="594360"/>
          </a:xfrm>
          <a:prstGeom prst="rect">
            <a:avLst/>
          </a:prstGeom>
          <a:solidFill>
            <a:srgbClr val="2B2F77"/>
          </a:solidFill>
          <a:ln w="12700">
            <a:solidFill>
              <a:srgbClr val="2B2F77"/>
            </a:solidFill>
            <a:prstDash val="solid"/>
          </a:ln>
        </p:spPr>
      </p:sp>
      <p:sp>
        <p:nvSpPr>
          <p:cNvPr id="35" name="Text 33"/>
          <p:cNvSpPr/>
          <p:nvPr/>
        </p:nvSpPr>
        <p:spPr>
          <a:xfrm>
            <a:off x="5303520" y="1572768"/>
            <a:ext cx="35661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SCOPUS INDEXED</a:t>
            </a:r>
            <a:endParaRPr lang="en-US" sz="2200" dirty="0"/>
          </a:p>
        </p:txBody>
      </p:sp>
      <p:sp>
        <p:nvSpPr>
          <p:cNvPr id="36" name="Shape 34"/>
          <p:cNvSpPr/>
          <p:nvPr/>
        </p:nvSpPr>
        <p:spPr>
          <a:xfrm>
            <a:off x="5303520" y="2212848"/>
            <a:ext cx="3566160" cy="1097280"/>
          </a:xfrm>
          <a:prstGeom prst="rect">
            <a:avLst/>
          </a:prstGeom>
          <a:solidFill>
            <a:srgbClr val="F5A623"/>
          </a:solidFill>
          <a:ln w="12700">
            <a:solidFill>
              <a:srgbClr val="F5A623"/>
            </a:solidFill>
            <a:prstDash val="solid"/>
          </a:ln>
        </p:spPr>
      </p:sp>
      <p:sp>
        <p:nvSpPr>
          <p:cNvPr id="37" name="Text 35"/>
          <p:cNvSpPr/>
          <p:nvPr/>
        </p:nvSpPr>
        <p:spPr>
          <a:xfrm>
            <a:off x="5303520" y="2212848"/>
            <a:ext cx="3566160" cy="731520"/>
          </a:xfrm>
          <a:prstGeom prst="rect">
            <a:avLst/>
          </a:prstGeom>
          <a:noFill/>
          <a:ln/>
        </p:spPr>
        <p:txBody>
          <a:bodyPr wrap="square" lIns="0" tIns="0" rIns="0" bIns="0" rtlCol="0" anchor="ctr"/>
          <a:lstStyle/>
          <a:p>
            <a:pPr marL="0" indent="0" algn="ctr">
              <a:buNone/>
            </a:pPr>
            <a:r>
              <a:rPr lang="en-US" sz="6800" b="1" dirty="0">
                <a:solidFill>
                  <a:srgbClr val="FFFFFF"/>
                </a:solidFill>
                <a:latin typeface="Calibri" pitchFamily="34" charset="0"/>
                <a:ea typeface="Calibri" pitchFamily="34" charset="-122"/>
                <a:cs typeface="Calibri" pitchFamily="34" charset="-120"/>
              </a:rPr>
              <a:t>Q3</a:t>
            </a:r>
            <a:endParaRPr lang="en-US" sz="6800" dirty="0"/>
          </a:p>
        </p:txBody>
      </p:sp>
      <p:sp>
        <p:nvSpPr>
          <p:cNvPr id="38" name="Text 36"/>
          <p:cNvSpPr/>
          <p:nvPr/>
        </p:nvSpPr>
        <p:spPr>
          <a:xfrm>
            <a:off x="5303520" y="2926080"/>
            <a:ext cx="3566160" cy="310896"/>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SCImago Journal Rank (SJR)</a:t>
            </a:r>
            <a:endParaRPr lang="en-US" sz="1400" dirty="0"/>
          </a:p>
        </p:txBody>
      </p:sp>
      <p:sp>
        <p:nvSpPr>
          <p:cNvPr id="39" name="Shape 37"/>
          <p:cNvSpPr/>
          <p:nvPr/>
        </p:nvSpPr>
        <p:spPr>
          <a:xfrm>
            <a:off x="5303520" y="3346704"/>
            <a:ext cx="3566160" cy="502920"/>
          </a:xfrm>
          <a:prstGeom prst="rect">
            <a:avLst/>
          </a:prstGeom>
          <a:solidFill>
            <a:srgbClr val="F0F4FF"/>
          </a:solidFill>
          <a:ln w="10160">
            <a:solidFill>
              <a:srgbClr val="CCCCCC"/>
            </a:solidFill>
            <a:prstDash val="solid"/>
          </a:ln>
        </p:spPr>
      </p:sp>
      <p:sp>
        <p:nvSpPr>
          <p:cNvPr id="40" name="Text 38"/>
          <p:cNvSpPr/>
          <p:nvPr/>
        </p:nvSpPr>
        <p:spPr>
          <a:xfrm>
            <a:off x="5394960" y="3383280"/>
            <a:ext cx="1691640" cy="429768"/>
          </a:xfrm>
          <a:prstGeom prst="rect">
            <a:avLst/>
          </a:prstGeom>
          <a:noFill/>
          <a:ln/>
        </p:spPr>
        <p:txBody>
          <a:bodyPr wrap="square" lIns="0" tIns="0" rIns="0" bIns="0" rtlCol="0" anchor="ctr"/>
          <a:lstStyle/>
          <a:p>
            <a:pPr marL="0" indent="0">
              <a:buNone/>
            </a:pPr>
            <a:r>
              <a:rPr lang="en-US" sz="1300" dirty="0">
                <a:solidFill>
                  <a:srgbClr val="555555"/>
                </a:solidFill>
                <a:latin typeface="Calibri" pitchFamily="34" charset="0"/>
                <a:ea typeface="Calibri" pitchFamily="34" charset="-122"/>
                <a:cs typeface="Calibri" pitchFamily="34" charset="-120"/>
              </a:rPr>
              <a:t>2025: Gia nhập Scopus → Q4</a:t>
            </a:r>
            <a:endParaRPr lang="en-US" sz="1300" dirty="0"/>
          </a:p>
        </p:txBody>
      </p:sp>
      <p:sp>
        <p:nvSpPr>
          <p:cNvPr id="41" name="Shape 39"/>
          <p:cNvSpPr/>
          <p:nvPr/>
        </p:nvSpPr>
        <p:spPr>
          <a:xfrm>
            <a:off x="7114032" y="3593592"/>
            <a:ext cx="201168" cy="0"/>
          </a:xfrm>
          <a:prstGeom prst="line">
            <a:avLst/>
          </a:prstGeom>
          <a:noFill/>
          <a:ln w="19050">
            <a:solidFill>
              <a:srgbClr val="F5A623"/>
            </a:solidFill>
            <a:prstDash val="solid"/>
          </a:ln>
        </p:spPr>
      </p:sp>
      <p:sp>
        <p:nvSpPr>
          <p:cNvPr id="42" name="Text 40"/>
          <p:cNvSpPr/>
          <p:nvPr/>
        </p:nvSpPr>
        <p:spPr>
          <a:xfrm>
            <a:off x="7351776" y="3383280"/>
            <a:ext cx="1463040" cy="429768"/>
          </a:xfrm>
          <a:prstGeom prst="rect">
            <a:avLst/>
          </a:prstGeom>
          <a:noFill/>
          <a:ln/>
        </p:spPr>
        <p:txBody>
          <a:bodyPr wrap="square" lIns="0" tIns="0" rIns="0" bIns="0"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2026: Nâng hạng Q3 🎉</a:t>
            </a:r>
            <a:endParaRPr lang="en-US" sz="1300" dirty="0"/>
          </a:p>
        </p:txBody>
      </p:sp>
      <p:sp>
        <p:nvSpPr>
          <p:cNvPr id="43" name="Shape 41"/>
          <p:cNvSpPr/>
          <p:nvPr/>
        </p:nvSpPr>
        <p:spPr>
          <a:xfrm>
            <a:off x="5303520" y="3895344"/>
            <a:ext cx="3566160" cy="475488"/>
          </a:xfrm>
          <a:prstGeom prst="rect">
            <a:avLst/>
          </a:prstGeom>
          <a:solidFill>
            <a:srgbClr val="2B2F77"/>
          </a:solidFill>
          <a:ln w="12700">
            <a:solidFill>
              <a:srgbClr val="2B2F77"/>
            </a:solidFill>
            <a:prstDash val="solid"/>
          </a:ln>
        </p:spPr>
      </p:sp>
      <p:sp>
        <p:nvSpPr>
          <p:cNvPr id="44" name="Text 42"/>
          <p:cNvSpPr/>
          <p:nvPr/>
        </p:nvSpPr>
        <p:spPr>
          <a:xfrm>
            <a:off x="5376672" y="3913632"/>
            <a:ext cx="3419856" cy="43891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Nâng từ Q4 lên Q3 chỉ sau 1 năm</a:t>
            </a:r>
            <a:endParaRPr lang="en-US" sz="1600" dirty="0"/>
          </a:p>
        </p:txBody>
      </p:sp>
      <p:sp>
        <p:nvSpPr>
          <p:cNvPr id="45" name="Shape 43"/>
          <p:cNvSpPr/>
          <p:nvPr/>
        </p:nvSpPr>
        <p:spPr>
          <a:xfrm>
            <a:off x="5303520" y="4416552"/>
            <a:ext cx="3566160" cy="402336"/>
          </a:xfrm>
          <a:prstGeom prst="rect">
            <a:avLst/>
          </a:prstGeom>
          <a:solidFill>
            <a:srgbClr val="EBF3FB"/>
          </a:solidFill>
          <a:ln w="12700">
            <a:solidFill>
              <a:srgbClr val="2B2F77"/>
            </a:solidFill>
            <a:prstDash val="solid"/>
          </a:ln>
        </p:spPr>
      </p:sp>
      <p:sp>
        <p:nvSpPr>
          <p:cNvPr id="46" name="Shape 44"/>
          <p:cNvSpPr/>
          <p:nvPr/>
        </p:nvSpPr>
        <p:spPr>
          <a:xfrm>
            <a:off x="5303520" y="4416552"/>
            <a:ext cx="91440" cy="402336"/>
          </a:xfrm>
          <a:prstGeom prst="rect">
            <a:avLst/>
          </a:prstGeom>
          <a:solidFill>
            <a:srgbClr val="2B2F77"/>
          </a:solidFill>
          <a:ln w="12700">
            <a:solidFill>
              <a:srgbClr val="2B2F77"/>
            </a:solidFill>
            <a:prstDash val="solid"/>
          </a:ln>
        </p:spPr>
      </p:sp>
      <p:sp>
        <p:nvSpPr>
          <p:cNvPr id="47" name="Text 45"/>
          <p:cNvSpPr/>
          <p:nvPr/>
        </p:nvSpPr>
        <p:spPr>
          <a:xfrm>
            <a:off x="5468112" y="4434840"/>
            <a:ext cx="3337560" cy="365760"/>
          </a:xfrm>
          <a:prstGeom prst="rect">
            <a:avLst/>
          </a:prstGeom>
          <a:noFill/>
          <a:ln/>
        </p:spPr>
        <p:txBody>
          <a:bodyPr wrap="square" lIns="0" tIns="0" rIns="0" bIns="0" rtlCol="0" anchor="ctr"/>
          <a:lstStyle/>
          <a:p>
            <a:pPr marL="0" indent="0">
              <a:buNone/>
            </a:pPr>
            <a:r>
              <a:rPr lang="en-US" sz="1300" dirty="0">
                <a:solidFill>
                  <a:srgbClr val="2B2F77"/>
                </a:solidFill>
                <a:latin typeface="Calibri" pitchFamily="34" charset="0"/>
                <a:ea typeface="Calibri" pitchFamily="34" charset="-122"/>
                <a:cs typeface="Calibri" pitchFamily="34" charset="-120"/>
              </a:rPr>
              <a:t>Lĩnh vực: Civil Eng. · Transportation</a:t>
            </a:r>
            <a:endParaRPr lang="en-US" sz="1300" dirty="0"/>
          </a:p>
          <a:p>
            <a:pPr marL="0" indent="0">
              <a:buNone/>
            </a:pPr>
            <a:r>
              <a:rPr lang="en-US" sz="1300" dirty="0">
                <a:solidFill>
                  <a:srgbClr val="2B2F77"/>
                </a:solidFill>
                <a:latin typeface="Calibri" pitchFamily="34" charset="0"/>
                <a:ea typeface="Calibri" pitchFamily="34" charset="-122"/>
                <a:cs typeface="Calibri" pitchFamily="34" charset="-120"/>
              </a:rPr>
              <a:t>Materials · Mechanical · Computer Sci.</a:t>
            </a:r>
            <a:endParaRPr lang="en-US" sz="1300" dirty="0"/>
          </a:p>
        </p:txBody>
      </p:sp>
      <p:sp>
        <p:nvSpPr>
          <p:cNvPr id="48" name="Shape 46"/>
          <p:cNvSpPr/>
          <p:nvPr/>
        </p:nvSpPr>
        <p:spPr>
          <a:xfrm>
            <a:off x="2011680" y="4846320"/>
            <a:ext cx="7040880" cy="36576"/>
          </a:xfrm>
          <a:prstGeom prst="rect">
            <a:avLst/>
          </a:prstGeom>
          <a:solidFill>
            <a:srgbClr val="F5A623"/>
          </a:solidFill>
          <a:ln w="12700">
            <a:solidFill>
              <a:srgbClr val="F5A623"/>
            </a:solidFill>
            <a:prstDash val="solid"/>
          </a:ln>
        </p:spPr>
      </p:sp>
      <p:pic>
        <p:nvPicPr>
          <p:cNvPr id="49"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50" name="Text 47"/>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51" name="Text 48"/>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Tạp chí điện tử Khoa học và Công nghệ Giao thông (JSTT)</a:t>
            </a:r>
            <a:endParaRPr lang="en-US" sz="2600" dirty="0"/>
          </a:p>
        </p:txBody>
      </p:sp>
      <p:sp>
        <p:nvSpPr>
          <p:cNvPr id="10" name="Shape 8"/>
          <p:cNvSpPr/>
          <p:nvPr/>
        </p:nvSpPr>
        <p:spPr>
          <a:xfrm>
            <a:off x="274320" y="1572768"/>
            <a:ext cx="4160520" cy="896112"/>
          </a:xfrm>
          <a:prstGeom prst="rect">
            <a:avLst/>
          </a:prstGeom>
          <a:solidFill>
            <a:srgbClr val="F8FBFF"/>
          </a:solidFill>
          <a:ln w="10160">
            <a:solidFill>
              <a:srgbClr val="CCCCCC"/>
            </a:solidFill>
            <a:prstDash val="solid"/>
          </a:ln>
        </p:spPr>
      </p:sp>
      <p:sp>
        <p:nvSpPr>
          <p:cNvPr id="11" name="Shape 9"/>
          <p:cNvSpPr/>
          <p:nvPr/>
        </p:nvSpPr>
        <p:spPr>
          <a:xfrm>
            <a:off x="274320" y="1572768"/>
            <a:ext cx="109728" cy="896112"/>
          </a:xfrm>
          <a:prstGeom prst="rect">
            <a:avLst/>
          </a:prstGeom>
          <a:solidFill>
            <a:srgbClr val="2B2F77"/>
          </a:solidFill>
          <a:ln w="12700">
            <a:solidFill>
              <a:srgbClr val="2B2F77"/>
            </a:solidFill>
            <a:prstDash val="solid"/>
          </a:ln>
        </p:spPr>
      </p:sp>
      <p:sp>
        <p:nvSpPr>
          <p:cNvPr id="12" name="Text 10"/>
          <p:cNvSpPr/>
          <p:nvPr/>
        </p:nvSpPr>
        <p:spPr>
          <a:xfrm>
            <a:off x="457200" y="1636776"/>
            <a:ext cx="3840480" cy="274320"/>
          </a:xfrm>
          <a:prstGeom prst="rect">
            <a:avLst/>
          </a:prstGeom>
          <a:noFill/>
          <a:ln/>
        </p:spPr>
        <p:txBody>
          <a:bodyPr wrap="square" lIns="0" tIns="0" rIns="0" bIns="0" rtlCol="0" anchor="ctr"/>
          <a:lstStyle/>
          <a:p>
            <a:pPr marL="0" indent="0">
              <a:buNone/>
            </a:pPr>
            <a:r>
              <a:rPr lang="en-US" sz="1600" b="1" dirty="0">
                <a:solidFill>
                  <a:srgbClr val="2B2F77"/>
                </a:solidFill>
                <a:latin typeface="Calibri" pitchFamily="34" charset="0"/>
                <a:ea typeface="Calibri" pitchFamily="34" charset="-122"/>
                <a:cs typeface="Calibri" pitchFamily="34" charset="-120"/>
              </a:rPr>
              <a:t>📋  Tên viết tắt</a:t>
            </a:r>
            <a:endParaRPr lang="en-US" sz="1600" dirty="0"/>
          </a:p>
        </p:txBody>
      </p:sp>
      <p:sp>
        <p:nvSpPr>
          <p:cNvPr id="13" name="Text 11"/>
          <p:cNvSpPr/>
          <p:nvPr/>
        </p:nvSpPr>
        <p:spPr>
          <a:xfrm>
            <a:off x="457200" y="1956816"/>
            <a:ext cx="3840480" cy="4389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JSTT — Journal of Science and Transport Technology (phiên bản tiếng Việt)</a:t>
            </a:r>
            <a:endParaRPr lang="en-US" sz="1500" dirty="0"/>
          </a:p>
        </p:txBody>
      </p:sp>
      <p:sp>
        <p:nvSpPr>
          <p:cNvPr id="14" name="Shape 12"/>
          <p:cNvSpPr/>
          <p:nvPr/>
        </p:nvSpPr>
        <p:spPr>
          <a:xfrm>
            <a:off x="4754880" y="1572768"/>
            <a:ext cx="4160520" cy="896112"/>
          </a:xfrm>
          <a:prstGeom prst="rect">
            <a:avLst/>
          </a:prstGeom>
          <a:solidFill>
            <a:srgbClr val="F8FBFF"/>
          </a:solidFill>
          <a:ln w="10160">
            <a:solidFill>
              <a:srgbClr val="CCCCCC"/>
            </a:solidFill>
            <a:prstDash val="solid"/>
          </a:ln>
        </p:spPr>
      </p:sp>
      <p:sp>
        <p:nvSpPr>
          <p:cNvPr id="15" name="Shape 13"/>
          <p:cNvSpPr/>
          <p:nvPr/>
        </p:nvSpPr>
        <p:spPr>
          <a:xfrm>
            <a:off x="4754880" y="1572768"/>
            <a:ext cx="109728" cy="896112"/>
          </a:xfrm>
          <a:prstGeom prst="rect">
            <a:avLst/>
          </a:prstGeom>
          <a:solidFill>
            <a:srgbClr val="2B2F77"/>
          </a:solidFill>
          <a:ln w="12700">
            <a:solidFill>
              <a:srgbClr val="2B2F77"/>
            </a:solidFill>
            <a:prstDash val="solid"/>
          </a:ln>
        </p:spPr>
      </p:sp>
      <p:sp>
        <p:nvSpPr>
          <p:cNvPr id="16" name="Text 14"/>
          <p:cNvSpPr/>
          <p:nvPr/>
        </p:nvSpPr>
        <p:spPr>
          <a:xfrm>
            <a:off x="4937760" y="1636776"/>
            <a:ext cx="3840480" cy="274320"/>
          </a:xfrm>
          <a:prstGeom prst="rect">
            <a:avLst/>
          </a:prstGeom>
          <a:noFill/>
          <a:ln/>
        </p:spPr>
        <p:txBody>
          <a:bodyPr wrap="square" lIns="0" tIns="0" rIns="0" bIns="0" rtlCol="0" anchor="ctr"/>
          <a:lstStyle/>
          <a:p>
            <a:pPr marL="0" indent="0">
              <a:buNone/>
            </a:pPr>
            <a:r>
              <a:rPr lang="en-US" sz="1600" b="1" dirty="0">
                <a:solidFill>
                  <a:srgbClr val="2B2F77"/>
                </a:solidFill>
                <a:latin typeface="Calibri" pitchFamily="34" charset="0"/>
                <a:ea typeface="Calibri" pitchFamily="34" charset="-122"/>
                <a:cs typeface="Calibri" pitchFamily="34" charset="-120"/>
              </a:rPr>
              <a:t>🏛️  Đơn vị chủ quản</a:t>
            </a:r>
            <a:endParaRPr lang="en-US" sz="1600" dirty="0"/>
          </a:p>
        </p:txBody>
      </p:sp>
      <p:sp>
        <p:nvSpPr>
          <p:cNvPr id="17" name="Text 15"/>
          <p:cNvSpPr/>
          <p:nvPr/>
        </p:nvSpPr>
        <p:spPr>
          <a:xfrm>
            <a:off x="4937760" y="1956816"/>
            <a:ext cx="3840480" cy="4389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Trường Đại học Công nghệ Giao thông Vận tải (UTT)</a:t>
            </a:r>
            <a:endParaRPr lang="en-US" sz="1500" dirty="0"/>
          </a:p>
        </p:txBody>
      </p:sp>
      <p:sp>
        <p:nvSpPr>
          <p:cNvPr id="18" name="Shape 16"/>
          <p:cNvSpPr/>
          <p:nvPr/>
        </p:nvSpPr>
        <p:spPr>
          <a:xfrm>
            <a:off x="274320" y="2578608"/>
            <a:ext cx="4160520" cy="896112"/>
          </a:xfrm>
          <a:prstGeom prst="rect">
            <a:avLst/>
          </a:prstGeom>
          <a:solidFill>
            <a:srgbClr val="F8FBFF"/>
          </a:solidFill>
          <a:ln w="10160">
            <a:solidFill>
              <a:srgbClr val="CCCCCC"/>
            </a:solidFill>
            <a:prstDash val="solid"/>
          </a:ln>
        </p:spPr>
      </p:sp>
      <p:sp>
        <p:nvSpPr>
          <p:cNvPr id="19" name="Shape 17"/>
          <p:cNvSpPr/>
          <p:nvPr/>
        </p:nvSpPr>
        <p:spPr>
          <a:xfrm>
            <a:off x="274320" y="2578608"/>
            <a:ext cx="109728" cy="896112"/>
          </a:xfrm>
          <a:prstGeom prst="rect">
            <a:avLst/>
          </a:prstGeom>
          <a:solidFill>
            <a:srgbClr val="1A7BC1"/>
          </a:solidFill>
          <a:ln w="12700">
            <a:solidFill>
              <a:srgbClr val="1A7BC1"/>
            </a:solidFill>
            <a:prstDash val="solid"/>
          </a:ln>
        </p:spPr>
      </p:sp>
      <p:sp>
        <p:nvSpPr>
          <p:cNvPr id="20" name="Text 18"/>
          <p:cNvSpPr/>
          <p:nvPr/>
        </p:nvSpPr>
        <p:spPr>
          <a:xfrm>
            <a:off x="457200" y="2642616"/>
            <a:ext cx="3840480" cy="274320"/>
          </a:xfrm>
          <a:prstGeom prst="rect">
            <a:avLst/>
          </a:prstGeom>
          <a:noFill/>
          <a:ln/>
        </p:spPr>
        <p:txBody>
          <a:bodyPr wrap="square" lIns="0" tIns="0" rIns="0" bIns="0" rtlCol="0" anchor="ctr"/>
          <a:lstStyle/>
          <a:p>
            <a:pPr marL="0" indent="0">
              <a:buNone/>
            </a:pPr>
            <a:r>
              <a:rPr lang="en-US" sz="1600" b="1" dirty="0">
                <a:solidFill>
                  <a:srgbClr val="1A7BC1"/>
                </a:solidFill>
                <a:latin typeface="Calibri" pitchFamily="34" charset="0"/>
                <a:ea typeface="Calibri" pitchFamily="34" charset="-122"/>
                <a:cs typeface="Calibri" pitchFamily="34" charset="-120"/>
              </a:rPr>
              <a:t>🔢  ISSN tiếng Việt</a:t>
            </a:r>
            <a:endParaRPr lang="en-US" sz="1600" dirty="0"/>
          </a:p>
        </p:txBody>
      </p:sp>
      <p:sp>
        <p:nvSpPr>
          <p:cNvPr id="21" name="Text 19"/>
          <p:cNvSpPr/>
          <p:nvPr/>
        </p:nvSpPr>
        <p:spPr>
          <a:xfrm>
            <a:off x="457200" y="2962656"/>
            <a:ext cx="3840480" cy="4389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2734-9942 | Giấy phép 399/GP-BTTTT ngày 29/6/2021</a:t>
            </a:r>
            <a:endParaRPr lang="en-US" sz="1500" dirty="0"/>
          </a:p>
        </p:txBody>
      </p:sp>
      <p:sp>
        <p:nvSpPr>
          <p:cNvPr id="22" name="Shape 20"/>
          <p:cNvSpPr/>
          <p:nvPr/>
        </p:nvSpPr>
        <p:spPr>
          <a:xfrm>
            <a:off x="4754880" y="2578608"/>
            <a:ext cx="4160520" cy="896112"/>
          </a:xfrm>
          <a:prstGeom prst="rect">
            <a:avLst/>
          </a:prstGeom>
          <a:solidFill>
            <a:srgbClr val="F8FBFF"/>
          </a:solidFill>
          <a:ln w="10160">
            <a:solidFill>
              <a:srgbClr val="CCCCCC"/>
            </a:solidFill>
            <a:prstDash val="solid"/>
          </a:ln>
        </p:spPr>
      </p:sp>
      <p:sp>
        <p:nvSpPr>
          <p:cNvPr id="23" name="Shape 21"/>
          <p:cNvSpPr/>
          <p:nvPr/>
        </p:nvSpPr>
        <p:spPr>
          <a:xfrm>
            <a:off x="4754880" y="2578608"/>
            <a:ext cx="109728" cy="896112"/>
          </a:xfrm>
          <a:prstGeom prst="rect">
            <a:avLst/>
          </a:prstGeom>
          <a:solidFill>
            <a:srgbClr val="1A7BC1"/>
          </a:solidFill>
          <a:ln w="12700">
            <a:solidFill>
              <a:srgbClr val="1A7BC1"/>
            </a:solidFill>
            <a:prstDash val="solid"/>
          </a:ln>
        </p:spPr>
      </p:sp>
      <p:sp>
        <p:nvSpPr>
          <p:cNvPr id="24" name="Text 22"/>
          <p:cNvSpPr/>
          <p:nvPr/>
        </p:nvSpPr>
        <p:spPr>
          <a:xfrm>
            <a:off x="4937760" y="2642616"/>
            <a:ext cx="3840480" cy="274320"/>
          </a:xfrm>
          <a:prstGeom prst="rect">
            <a:avLst/>
          </a:prstGeom>
          <a:noFill/>
          <a:ln/>
        </p:spPr>
        <p:txBody>
          <a:bodyPr wrap="square" lIns="0" tIns="0" rIns="0" bIns="0" rtlCol="0" anchor="ctr"/>
          <a:lstStyle/>
          <a:p>
            <a:pPr marL="0" indent="0">
              <a:buNone/>
            </a:pPr>
            <a:r>
              <a:rPr lang="en-US" sz="1600" b="1" dirty="0">
                <a:solidFill>
                  <a:srgbClr val="1A7BC1"/>
                </a:solidFill>
                <a:latin typeface="Calibri" pitchFamily="34" charset="0"/>
                <a:ea typeface="Calibri" pitchFamily="34" charset="-122"/>
                <a:cs typeface="Calibri" pitchFamily="34" charset="-120"/>
              </a:rPr>
              <a:t>📅  Tần suất xuất bản</a:t>
            </a:r>
            <a:endParaRPr lang="en-US" sz="1600" dirty="0"/>
          </a:p>
        </p:txBody>
      </p:sp>
      <p:sp>
        <p:nvSpPr>
          <p:cNvPr id="25" name="Text 23"/>
          <p:cNvSpPr/>
          <p:nvPr/>
        </p:nvSpPr>
        <p:spPr>
          <a:xfrm>
            <a:off x="4937760" y="2962656"/>
            <a:ext cx="3840480" cy="4389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4 số/năm + các số </a:t>
            </a:r>
            <a:r>
              <a:rPr lang="en-US" sz="1500" dirty="0" err="1">
                <a:solidFill>
                  <a:srgbClr val="2B2F77"/>
                </a:solidFill>
                <a:latin typeface="Calibri" pitchFamily="34" charset="0"/>
                <a:ea typeface="Calibri" pitchFamily="34" charset="-122"/>
                <a:cs typeface="Calibri" pitchFamily="34" charset="-120"/>
              </a:rPr>
              <a:t>đặc</a:t>
            </a:r>
            <a:r>
              <a:rPr lang="en-US" sz="1500" dirty="0">
                <a:solidFill>
                  <a:srgbClr val="2B2F77"/>
                </a:solidFill>
                <a:latin typeface="Calibri" pitchFamily="34" charset="0"/>
                <a:ea typeface="Calibri" pitchFamily="34" charset="-122"/>
                <a:cs typeface="Calibri" pitchFamily="34" charset="-120"/>
              </a:rPr>
              <a:t> </a:t>
            </a:r>
            <a:r>
              <a:rPr lang="en-US" sz="1500" dirty="0" err="1">
                <a:solidFill>
                  <a:srgbClr val="2B2F77"/>
                </a:solidFill>
                <a:latin typeface="Calibri" pitchFamily="34" charset="0"/>
                <a:ea typeface="Calibri" pitchFamily="34" charset="-122"/>
                <a:cs typeface="Calibri" pitchFamily="34" charset="-120"/>
              </a:rPr>
              <a:t>biệt</a:t>
            </a:r>
            <a:endParaRPr lang="en-US" sz="1500" dirty="0"/>
          </a:p>
        </p:txBody>
      </p:sp>
      <p:sp>
        <p:nvSpPr>
          <p:cNvPr id="26" name="Shape 24"/>
          <p:cNvSpPr/>
          <p:nvPr/>
        </p:nvSpPr>
        <p:spPr>
          <a:xfrm>
            <a:off x="274320" y="3584448"/>
            <a:ext cx="4160520" cy="896112"/>
          </a:xfrm>
          <a:prstGeom prst="rect">
            <a:avLst/>
          </a:prstGeom>
          <a:solidFill>
            <a:srgbClr val="F8FBFF"/>
          </a:solidFill>
          <a:ln w="10160">
            <a:solidFill>
              <a:srgbClr val="CCCCCC"/>
            </a:solidFill>
            <a:prstDash val="solid"/>
          </a:ln>
        </p:spPr>
      </p:sp>
      <p:sp>
        <p:nvSpPr>
          <p:cNvPr id="27" name="Shape 25"/>
          <p:cNvSpPr/>
          <p:nvPr/>
        </p:nvSpPr>
        <p:spPr>
          <a:xfrm>
            <a:off x="274320" y="3584448"/>
            <a:ext cx="109728" cy="896112"/>
          </a:xfrm>
          <a:prstGeom prst="rect">
            <a:avLst/>
          </a:prstGeom>
          <a:solidFill>
            <a:srgbClr val="F5A623"/>
          </a:solidFill>
          <a:ln w="12700">
            <a:solidFill>
              <a:srgbClr val="F5A623"/>
            </a:solidFill>
            <a:prstDash val="solid"/>
          </a:ln>
        </p:spPr>
      </p:sp>
      <p:sp>
        <p:nvSpPr>
          <p:cNvPr id="28" name="Text 26"/>
          <p:cNvSpPr/>
          <p:nvPr/>
        </p:nvSpPr>
        <p:spPr>
          <a:xfrm>
            <a:off x="457200" y="3648456"/>
            <a:ext cx="3840480" cy="274320"/>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  Website &amp; nộp bài</a:t>
            </a:r>
            <a:endParaRPr lang="en-US" sz="1600" dirty="0"/>
          </a:p>
        </p:txBody>
      </p:sp>
      <p:sp>
        <p:nvSpPr>
          <p:cNvPr id="29" name="Text 27"/>
          <p:cNvSpPr/>
          <p:nvPr/>
        </p:nvSpPr>
        <p:spPr>
          <a:xfrm>
            <a:off x="457200" y="3968496"/>
            <a:ext cx="3840480" cy="4389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jstt.vn — hệ thống nộp bài tích hợp trực tiếp </a:t>
            </a:r>
            <a:r>
              <a:rPr lang="en-US" sz="1500" dirty="0" err="1">
                <a:solidFill>
                  <a:srgbClr val="2B2F77"/>
                </a:solidFill>
                <a:latin typeface="Calibri" pitchFamily="34" charset="0"/>
                <a:ea typeface="Calibri" pitchFamily="34" charset="-122"/>
                <a:cs typeface="Calibri" pitchFamily="34" charset="-120"/>
              </a:rPr>
              <a:t>trên</a:t>
            </a:r>
            <a:r>
              <a:rPr lang="en-US" sz="1500" dirty="0">
                <a:solidFill>
                  <a:srgbClr val="2B2F77"/>
                </a:solidFill>
                <a:latin typeface="Calibri" pitchFamily="34" charset="0"/>
                <a:ea typeface="Calibri" pitchFamily="34" charset="-122"/>
                <a:cs typeface="Calibri" pitchFamily="34" charset="-120"/>
              </a:rPr>
              <a:t> website</a:t>
            </a:r>
            <a:endParaRPr lang="en-US" sz="1500" dirty="0"/>
          </a:p>
        </p:txBody>
      </p:sp>
      <p:sp>
        <p:nvSpPr>
          <p:cNvPr id="30" name="Shape 28"/>
          <p:cNvSpPr/>
          <p:nvPr/>
        </p:nvSpPr>
        <p:spPr>
          <a:xfrm>
            <a:off x="4754880" y="3584448"/>
            <a:ext cx="4160520" cy="896112"/>
          </a:xfrm>
          <a:prstGeom prst="rect">
            <a:avLst/>
          </a:prstGeom>
          <a:solidFill>
            <a:srgbClr val="F8FBFF"/>
          </a:solidFill>
          <a:ln w="10160">
            <a:solidFill>
              <a:srgbClr val="CCCCCC"/>
            </a:solidFill>
            <a:prstDash val="solid"/>
          </a:ln>
        </p:spPr>
      </p:sp>
      <p:sp>
        <p:nvSpPr>
          <p:cNvPr id="31" name="Shape 29"/>
          <p:cNvSpPr/>
          <p:nvPr/>
        </p:nvSpPr>
        <p:spPr>
          <a:xfrm>
            <a:off x="4754880" y="3584448"/>
            <a:ext cx="109728" cy="896112"/>
          </a:xfrm>
          <a:prstGeom prst="rect">
            <a:avLst/>
          </a:prstGeom>
          <a:solidFill>
            <a:srgbClr val="F5A623"/>
          </a:solidFill>
          <a:ln w="12700">
            <a:solidFill>
              <a:srgbClr val="F5A623"/>
            </a:solidFill>
            <a:prstDash val="solid"/>
          </a:ln>
        </p:spPr>
      </p:sp>
      <p:sp>
        <p:nvSpPr>
          <p:cNvPr id="32" name="Text 30"/>
          <p:cNvSpPr/>
          <p:nvPr/>
        </p:nvSpPr>
        <p:spPr>
          <a:xfrm>
            <a:off x="4937760" y="3648456"/>
            <a:ext cx="3840480" cy="274320"/>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  Ghi nhận chính thức</a:t>
            </a:r>
            <a:endParaRPr lang="en-US" sz="1600" dirty="0"/>
          </a:p>
        </p:txBody>
      </p:sp>
      <p:sp>
        <p:nvSpPr>
          <p:cNvPr id="33" name="Text 31"/>
          <p:cNvSpPr/>
          <p:nvPr/>
        </p:nvSpPr>
        <p:spPr>
          <a:xfrm>
            <a:off x="4937760" y="3968496"/>
            <a:ext cx="3840480" cy="4389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Hội đồng Giáo sư Nhà nước </a:t>
            </a:r>
            <a:r>
              <a:rPr lang="en-US" sz="1500" dirty="0" err="1">
                <a:solidFill>
                  <a:srgbClr val="2B2F77"/>
                </a:solidFill>
                <a:latin typeface="Calibri" pitchFamily="34" charset="0"/>
                <a:ea typeface="Calibri" pitchFamily="34" charset="-122"/>
                <a:cs typeface="Calibri" pitchFamily="34" charset="-120"/>
              </a:rPr>
              <a:t>tính</a:t>
            </a:r>
            <a:r>
              <a:rPr lang="en-US" sz="1500" dirty="0">
                <a:solidFill>
                  <a:srgbClr val="2B2F77"/>
                </a:solidFill>
                <a:latin typeface="Calibri" pitchFamily="34" charset="0"/>
                <a:ea typeface="Calibri" pitchFamily="34" charset="-122"/>
                <a:cs typeface="Calibri" pitchFamily="34" charset="-120"/>
              </a:rPr>
              <a:t> </a:t>
            </a:r>
            <a:r>
              <a:rPr lang="en-US" sz="1500" dirty="0" err="1">
                <a:solidFill>
                  <a:srgbClr val="2B2F77"/>
                </a:solidFill>
                <a:latin typeface="Calibri" pitchFamily="34" charset="0"/>
                <a:ea typeface="Calibri" pitchFamily="34" charset="-122"/>
                <a:cs typeface="Calibri" pitchFamily="34" charset="-120"/>
              </a:rPr>
              <a:t>điểm</a:t>
            </a:r>
            <a:endParaRPr lang="en-US" sz="1500" dirty="0"/>
          </a:p>
        </p:txBody>
      </p:sp>
      <p:sp>
        <p:nvSpPr>
          <p:cNvPr id="34" name="Shape 32"/>
          <p:cNvSpPr/>
          <p:nvPr/>
        </p:nvSpPr>
        <p:spPr>
          <a:xfrm>
            <a:off x="2011680" y="4846320"/>
            <a:ext cx="7040880" cy="36576"/>
          </a:xfrm>
          <a:prstGeom prst="rect">
            <a:avLst/>
          </a:prstGeom>
          <a:solidFill>
            <a:srgbClr val="F5A623"/>
          </a:solidFill>
          <a:ln w="12700">
            <a:solidFill>
              <a:srgbClr val="F5A623"/>
            </a:solidFill>
            <a:prstDash val="solid"/>
          </a:ln>
        </p:spPr>
      </p:sp>
      <p:pic>
        <p:nvPicPr>
          <p:cNvPr id="35"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36" name="Text 33"/>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37" name="Text 34"/>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JSTT xuất bản các lĩnh vực nào?</a:t>
            </a:r>
            <a:endParaRPr lang="en-US" sz="2600" dirty="0"/>
          </a:p>
        </p:txBody>
      </p:sp>
      <p:sp>
        <p:nvSpPr>
          <p:cNvPr id="10" name="Shape 8"/>
          <p:cNvSpPr/>
          <p:nvPr/>
        </p:nvSpPr>
        <p:spPr>
          <a:xfrm>
            <a:off x="274320" y="1572768"/>
            <a:ext cx="2743200" cy="822960"/>
          </a:xfrm>
          <a:prstGeom prst="rect">
            <a:avLst/>
          </a:prstGeom>
          <a:solidFill>
            <a:srgbClr val="2B2F77"/>
          </a:solidFill>
          <a:ln w="12700">
            <a:solidFill>
              <a:srgbClr val="FFFFFF"/>
            </a:solidFill>
            <a:prstDash val="solid"/>
          </a:ln>
        </p:spPr>
      </p:sp>
      <p:sp>
        <p:nvSpPr>
          <p:cNvPr id="11" name="Text 9"/>
          <p:cNvSpPr/>
          <p:nvPr/>
        </p:nvSpPr>
        <p:spPr>
          <a:xfrm>
            <a:off x="365760" y="1682496"/>
            <a:ext cx="2560320"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Quy hoạch và kỹ thuật giao thông</a:t>
            </a:r>
            <a:endParaRPr lang="en-US" sz="1700" dirty="0"/>
          </a:p>
        </p:txBody>
      </p:sp>
      <p:sp>
        <p:nvSpPr>
          <p:cNvPr id="12" name="Shape 10"/>
          <p:cNvSpPr/>
          <p:nvPr/>
        </p:nvSpPr>
        <p:spPr>
          <a:xfrm>
            <a:off x="3200400" y="1572768"/>
            <a:ext cx="2743200" cy="822960"/>
          </a:xfrm>
          <a:prstGeom prst="rect">
            <a:avLst/>
          </a:prstGeom>
          <a:solidFill>
            <a:srgbClr val="2B2F77"/>
          </a:solidFill>
          <a:ln w="12700">
            <a:solidFill>
              <a:srgbClr val="FFFFFF"/>
            </a:solidFill>
            <a:prstDash val="solid"/>
          </a:ln>
        </p:spPr>
      </p:sp>
      <p:sp>
        <p:nvSpPr>
          <p:cNvPr id="13" name="Text 11"/>
          <p:cNvSpPr/>
          <p:nvPr/>
        </p:nvSpPr>
        <p:spPr>
          <a:xfrm>
            <a:off x="3291840" y="1682496"/>
            <a:ext cx="2560320"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Công trình xây dựng và dân dụng</a:t>
            </a:r>
            <a:endParaRPr lang="en-US" sz="1700" dirty="0"/>
          </a:p>
        </p:txBody>
      </p:sp>
      <p:sp>
        <p:nvSpPr>
          <p:cNvPr id="14" name="Shape 12"/>
          <p:cNvSpPr/>
          <p:nvPr/>
        </p:nvSpPr>
        <p:spPr>
          <a:xfrm>
            <a:off x="6126480" y="1572768"/>
            <a:ext cx="2743200" cy="822960"/>
          </a:xfrm>
          <a:prstGeom prst="rect">
            <a:avLst/>
          </a:prstGeom>
          <a:solidFill>
            <a:srgbClr val="2B2F77"/>
          </a:solidFill>
          <a:ln w="12700">
            <a:solidFill>
              <a:srgbClr val="FFFFFF"/>
            </a:solidFill>
            <a:prstDash val="solid"/>
          </a:ln>
        </p:spPr>
      </p:sp>
      <p:sp>
        <p:nvSpPr>
          <p:cNvPr id="15" name="Text 13"/>
          <p:cNvSpPr/>
          <p:nvPr/>
        </p:nvSpPr>
        <p:spPr>
          <a:xfrm>
            <a:off x="6217920" y="1682496"/>
            <a:ext cx="2560320"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Vật liệu xây dựng</a:t>
            </a:r>
            <a:endParaRPr lang="en-US" sz="1700" dirty="0"/>
          </a:p>
        </p:txBody>
      </p:sp>
      <p:sp>
        <p:nvSpPr>
          <p:cNvPr id="16" name="Shape 14"/>
          <p:cNvSpPr/>
          <p:nvPr/>
        </p:nvSpPr>
        <p:spPr>
          <a:xfrm>
            <a:off x="274320" y="2532888"/>
            <a:ext cx="2743200" cy="822960"/>
          </a:xfrm>
          <a:prstGeom prst="rect">
            <a:avLst/>
          </a:prstGeom>
          <a:solidFill>
            <a:srgbClr val="1A7BC1"/>
          </a:solidFill>
          <a:ln w="12700">
            <a:solidFill>
              <a:srgbClr val="FFFFFF"/>
            </a:solidFill>
            <a:prstDash val="solid"/>
          </a:ln>
        </p:spPr>
      </p:sp>
      <p:sp>
        <p:nvSpPr>
          <p:cNvPr id="17" name="Text 15"/>
          <p:cNvSpPr/>
          <p:nvPr/>
        </p:nvSpPr>
        <p:spPr>
          <a:xfrm>
            <a:off x="365760" y="2642616"/>
            <a:ext cx="2560320"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Kỹ thuật cơ khí &amp; Kỹ thuật ô tô</a:t>
            </a:r>
            <a:endParaRPr lang="en-US" sz="1700" dirty="0"/>
          </a:p>
        </p:txBody>
      </p:sp>
      <p:sp>
        <p:nvSpPr>
          <p:cNvPr id="18" name="Shape 16"/>
          <p:cNvSpPr/>
          <p:nvPr/>
        </p:nvSpPr>
        <p:spPr>
          <a:xfrm>
            <a:off x="3200400" y="2532888"/>
            <a:ext cx="2743200" cy="822960"/>
          </a:xfrm>
          <a:prstGeom prst="rect">
            <a:avLst/>
          </a:prstGeom>
          <a:solidFill>
            <a:srgbClr val="1A7BC1"/>
          </a:solidFill>
          <a:ln w="12700">
            <a:solidFill>
              <a:srgbClr val="FFFFFF"/>
            </a:solidFill>
            <a:prstDash val="solid"/>
          </a:ln>
        </p:spPr>
      </p:sp>
      <p:sp>
        <p:nvSpPr>
          <p:cNvPr id="19" name="Text 17"/>
          <p:cNvSpPr/>
          <p:nvPr/>
        </p:nvSpPr>
        <p:spPr>
          <a:xfrm>
            <a:off x="3291840" y="2642616"/>
            <a:ext cx="2560320"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Logistics và vận tải hàng hóa</a:t>
            </a:r>
            <a:endParaRPr lang="en-US" sz="1700" dirty="0"/>
          </a:p>
        </p:txBody>
      </p:sp>
      <p:sp>
        <p:nvSpPr>
          <p:cNvPr id="20" name="Shape 18"/>
          <p:cNvSpPr/>
          <p:nvPr/>
        </p:nvSpPr>
        <p:spPr>
          <a:xfrm>
            <a:off x="6126480" y="2532888"/>
            <a:ext cx="2743200" cy="822960"/>
          </a:xfrm>
          <a:prstGeom prst="rect">
            <a:avLst/>
          </a:prstGeom>
          <a:solidFill>
            <a:srgbClr val="1A7BC1"/>
          </a:solidFill>
          <a:ln w="12700">
            <a:solidFill>
              <a:srgbClr val="FFFFFF"/>
            </a:solidFill>
            <a:prstDash val="solid"/>
          </a:ln>
        </p:spPr>
      </p:sp>
      <p:sp>
        <p:nvSpPr>
          <p:cNvPr id="21" name="Text 19"/>
          <p:cNvSpPr/>
          <p:nvPr/>
        </p:nvSpPr>
        <p:spPr>
          <a:xfrm>
            <a:off x="6217920" y="2642616"/>
            <a:ext cx="2560320"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Kinh tế và quản lý xây dựng</a:t>
            </a:r>
            <a:endParaRPr lang="en-US" sz="1700" dirty="0"/>
          </a:p>
        </p:txBody>
      </p:sp>
      <p:sp>
        <p:nvSpPr>
          <p:cNvPr id="22" name="Shape 20"/>
          <p:cNvSpPr/>
          <p:nvPr/>
        </p:nvSpPr>
        <p:spPr>
          <a:xfrm>
            <a:off x="274320" y="3493008"/>
            <a:ext cx="2743200" cy="822960"/>
          </a:xfrm>
          <a:prstGeom prst="rect">
            <a:avLst/>
          </a:prstGeom>
          <a:solidFill>
            <a:srgbClr val="F5A623"/>
          </a:solidFill>
          <a:ln w="12700">
            <a:solidFill>
              <a:srgbClr val="FFFFFF"/>
            </a:solidFill>
            <a:prstDash val="solid"/>
          </a:ln>
        </p:spPr>
      </p:sp>
      <p:sp>
        <p:nvSpPr>
          <p:cNvPr id="23" name="Text 21"/>
          <p:cNvSpPr/>
          <p:nvPr/>
        </p:nvSpPr>
        <p:spPr>
          <a:xfrm>
            <a:off x="365760" y="3602736"/>
            <a:ext cx="2560320"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Khoa học máy tính &amp; Điện - điện tử</a:t>
            </a:r>
            <a:endParaRPr lang="en-US" sz="1700" dirty="0"/>
          </a:p>
        </p:txBody>
      </p:sp>
      <p:sp>
        <p:nvSpPr>
          <p:cNvPr id="24" name="Shape 22"/>
          <p:cNvSpPr/>
          <p:nvPr/>
        </p:nvSpPr>
        <p:spPr>
          <a:xfrm>
            <a:off x="3200400" y="3493008"/>
            <a:ext cx="2743200" cy="822960"/>
          </a:xfrm>
          <a:prstGeom prst="rect">
            <a:avLst/>
          </a:prstGeom>
          <a:solidFill>
            <a:srgbClr val="F5A623"/>
          </a:solidFill>
          <a:ln w="12700">
            <a:solidFill>
              <a:srgbClr val="FFFFFF"/>
            </a:solidFill>
            <a:prstDash val="solid"/>
          </a:ln>
        </p:spPr>
      </p:sp>
      <p:sp>
        <p:nvSpPr>
          <p:cNvPr id="25" name="Text 23"/>
          <p:cNvSpPr/>
          <p:nvPr/>
        </p:nvSpPr>
        <p:spPr>
          <a:xfrm>
            <a:off x="3291840" y="3602736"/>
            <a:ext cx="2560320"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Địa kỹ thuật &amp; Khoa học môi trường</a:t>
            </a:r>
            <a:endParaRPr lang="en-US" sz="1700" dirty="0"/>
          </a:p>
        </p:txBody>
      </p:sp>
      <p:sp>
        <p:nvSpPr>
          <p:cNvPr id="26" name="Shape 24"/>
          <p:cNvSpPr/>
          <p:nvPr/>
        </p:nvSpPr>
        <p:spPr>
          <a:xfrm>
            <a:off x="6126480" y="3493008"/>
            <a:ext cx="2743200" cy="822960"/>
          </a:xfrm>
          <a:prstGeom prst="rect">
            <a:avLst/>
          </a:prstGeom>
          <a:solidFill>
            <a:srgbClr val="F5A623"/>
          </a:solidFill>
          <a:ln w="12700">
            <a:solidFill>
              <a:srgbClr val="FFFFFF"/>
            </a:solidFill>
            <a:prstDash val="solid"/>
          </a:ln>
        </p:spPr>
      </p:sp>
      <p:sp>
        <p:nvSpPr>
          <p:cNvPr id="27" name="Text 25"/>
          <p:cNvSpPr/>
          <p:nvPr/>
        </p:nvSpPr>
        <p:spPr>
          <a:xfrm>
            <a:off x="6217920" y="3602736"/>
            <a:ext cx="2560320"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Khoa học giáo dục &amp; Xã hội - Nhân văn</a:t>
            </a:r>
            <a:endParaRPr lang="en-US" sz="1700" dirty="0"/>
          </a:p>
        </p:txBody>
      </p:sp>
      <p:sp>
        <p:nvSpPr>
          <p:cNvPr id="28" name="Shape 26"/>
          <p:cNvSpPr/>
          <p:nvPr/>
        </p:nvSpPr>
        <p:spPr>
          <a:xfrm>
            <a:off x="109728" y="4386507"/>
            <a:ext cx="8990294" cy="347472"/>
          </a:xfrm>
          <a:prstGeom prst="rect">
            <a:avLst/>
          </a:prstGeom>
          <a:solidFill>
            <a:srgbClr val="FFF8EE"/>
          </a:solidFill>
          <a:ln w="25400">
            <a:solidFill>
              <a:srgbClr val="F5A623"/>
            </a:solidFill>
            <a:prstDash val="solid"/>
          </a:ln>
        </p:spPr>
      </p:sp>
      <p:sp>
        <p:nvSpPr>
          <p:cNvPr id="29" name="Shape 27"/>
          <p:cNvSpPr/>
          <p:nvPr/>
        </p:nvSpPr>
        <p:spPr>
          <a:xfrm>
            <a:off x="274320" y="4572000"/>
            <a:ext cx="109728" cy="347472"/>
          </a:xfrm>
          <a:prstGeom prst="rect">
            <a:avLst/>
          </a:prstGeom>
          <a:solidFill>
            <a:srgbClr val="F5A623"/>
          </a:solidFill>
          <a:ln w="12700">
            <a:solidFill>
              <a:srgbClr val="F5A623"/>
            </a:solidFill>
            <a:prstDash val="solid"/>
          </a:ln>
        </p:spPr>
      </p:sp>
      <p:sp>
        <p:nvSpPr>
          <p:cNvPr id="30" name="Text 28"/>
          <p:cNvSpPr/>
          <p:nvPr/>
        </p:nvSpPr>
        <p:spPr>
          <a:xfrm>
            <a:off x="484632" y="4448556"/>
            <a:ext cx="8321040" cy="237744"/>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Đề tài NCKH của bạn thuộc lĩnh vực nào trong danh sách trên? → Đó là bài báo tiềm năng cho JSTT!</a:t>
            </a:r>
            <a:endParaRPr lang="en-US" sz="1600" dirty="0"/>
          </a:p>
        </p:txBody>
      </p:sp>
      <p:sp>
        <p:nvSpPr>
          <p:cNvPr id="31" name="Shape 29"/>
          <p:cNvSpPr/>
          <p:nvPr/>
        </p:nvSpPr>
        <p:spPr>
          <a:xfrm>
            <a:off x="2011680" y="4846320"/>
            <a:ext cx="7040880" cy="36576"/>
          </a:xfrm>
          <a:prstGeom prst="rect">
            <a:avLst/>
          </a:prstGeom>
          <a:solidFill>
            <a:srgbClr val="F5A623"/>
          </a:solidFill>
          <a:ln w="12700">
            <a:solidFill>
              <a:srgbClr val="F5A623"/>
            </a:solidFill>
            <a:prstDash val="solid"/>
          </a:ln>
        </p:spPr>
      </p:sp>
      <p:pic>
        <p:nvPicPr>
          <p:cNvPr id="32"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33" name="Text 30"/>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34" name="Text 31"/>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Các loại bài đăng trên JSTT</a:t>
            </a:r>
            <a:endParaRPr lang="en-US" sz="2600" dirty="0"/>
          </a:p>
        </p:txBody>
      </p:sp>
      <p:sp>
        <p:nvSpPr>
          <p:cNvPr id="10" name="Shape 8"/>
          <p:cNvSpPr/>
          <p:nvPr/>
        </p:nvSpPr>
        <p:spPr>
          <a:xfrm>
            <a:off x="274320" y="1572768"/>
            <a:ext cx="2743200" cy="475488"/>
          </a:xfrm>
          <a:prstGeom prst="rect">
            <a:avLst/>
          </a:prstGeom>
          <a:solidFill>
            <a:srgbClr val="2B2F77"/>
          </a:solidFill>
          <a:ln w="12700">
            <a:solidFill>
              <a:srgbClr val="2B2F77"/>
            </a:solidFill>
            <a:prstDash val="solid"/>
          </a:ln>
        </p:spPr>
      </p:sp>
      <p:sp>
        <p:nvSpPr>
          <p:cNvPr id="11" name="Text 9"/>
          <p:cNvSpPr/>
          <p:nvPr/>
        </p:nvSpPr>
        <p:spPr>
          <a:xfrm>
            <a:off x="274320" y="157276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12" name="Text 10"/>
          <p:cNvSpPr/>
          <p:nvPr/>
        </p:nvSpPr>
        <p:spPr>
          <a:xfrm>
            <a:off x="768096" y="1572768"/>
            <a:ext cx="2212848"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Bài nghiên cứu</a:t>
            </a:r>
            <a:endParaRPr lang="en-US" sz="1600" dirty="0"/>
          </a:p>
          <a:p>
            <a:pPr marL="0" indent="0">
              <a:buNone/>
            </a:pPr>
            <a:r>
              <a:rPr lang="en-US" sz="1600" b="1" dirty="0">
                <a:solidFill>
                  <a:srgbClr val="FFFFFF"/>
                </a:solidFill>
                <a:latin typeface="Calibri" pitchFamily="34" charset="0"/>
                <a:ea typeface="Calibri" pitchFamily="34" charset="-122"/>
                <a:cs typeface="Calibri" pitchFamily="34" charset="-120"/>
              </a:rPr>
              <a:t>nguyên bản</a:t>
            </a:r>
            <a:endParaRPr lang="en-US" sz="1600" dirty="0"/>
          </a:p>
        </p:txBody>
      </p:sp>
      <p:sp>
        <p:nvSpPr>
          <p:cNvPr id="13" name="Shape 11"/>
          <p:cNvSpPr/>
          <p:nvPr/>
        </p:nvSpPr>
        <p:spPr>
          <a:xfrm>
            <a:off x="274320" y="2084832"/>
            <a:ext cx="2743200" cy="274320"/>
          </a:xfrm>
          <a:prstGeom prst="rect">
            <a:avLst/>
          </a:prstGeom>
          <a:solidFill>
            <a:srgbClr val="EEEEEE"/>
          </a:solidFill>
          <a:ln w="6350">
            <a:solidFill>
              <a:srgbClr val="CCCCCC"/>
            </a:solidFill>
            <a:prstDash val="solid"/>
          </a:ln>
        </p:spPr>
      </p:sp>
      <p:sp>
        <p:nvSpPr>
          <p:cNvPr id="14" name="Text 12"/>
          <p:cNvSpPr/>
          <p:nvPr/>
        </p:nvSpPr>
        <p:spPr>
          <a:xfrm>
            <a:off x="347472" y="2103120"/>
            <a:ext cx="2596896" cy="237744"/>
          </a:xfrm>
          <a:prstGeom prst="rect">
            <a:avLst/>
          </a:prstGeom>
          <a:noFill/>
          <a:ln/>
        </p:spPr>
        <p:txBody>
          <a:bodyPr wrap="square" lIns="0" tIns="0" rIns="0" bIns="0" rtlCol="0" anchor="ctr"/>
          <a:lstStyle/>
          <a:p>
            <a:pPr marL="0" indent="0" algn="ctr">
              <a:buNone/>
            </a:pPr>
            <a:r>
              <a:rPr lang="en-US" sz="1400" dirty="0">
                <a:solidFill>
                  <a:srgbClr val="555555"/>
                </a:solidFill>
                <a:latin typeface="Calibri" pitchFamily="34" charset="0"/>
                <a:ea typeface="Calibri" pitchFamily="34" charset="-122"/>
                <a:cs typeface="Calibri" pitchFamily="34" charset="-120"/>
              </a:rPr>
              <a:t>Original Research Paper</a:t>
            </a:r>
            <a:endParaRPr lang="en-US" sz="1400" dirty="0"/>
          </a:p>
        </p:txBody>
      </p:sp>
      <p:sp>
        <p:nvSpPr>
          <p:cNvPr id="15" name="Shape 13"/>
          <p:cNvSpPr/>
          <p:nvPr/>
        </p:nvSpPr>
        <p:spPr>
          <a:xfrm>
            <a:off x="274320" y="2395728"/>
            <a:ext cx="2743200" cy="2359152"/>
          </a:xfrm>
          <a:prstGeom prst="rect">
            <a:avLst/>
          </a:prstGeom>
          <a:solidFill>
            <a:srgbClr val="F8FBFF"/>
          </a:solidFill>
          <a:ln w="6350">
            <a:solidFill>
              <a:srgbClr val="CCCCCC"/>
            </a:solidFill>
            <a:prstDash val="solid"/>
          </a:ln>
        </p:spPr>
      </p:sp>
      <p:sp>
        <p:nvSpPr>
          <p:cNvPr id="16" name="Shape 14"/>
          <p:cNvSpPr/>
          <p:nvPr/>
        </p:nvSpPr>
        <p:spPr>
          <a:xfrm>
            <a:off x="274320" y="2395728"/>
            <a:ext cx="91440" cy="2359152"/>
          </a:xfrm>
          <a:prstGeom prst="rect">
            <a:avLst/>
          </a:prstGeom>
          <a:solidFill>
            <a:srgbClr val="2B2F77"/>
          </a:solidFill>
          <a:ln w="12700">
            <a:solidFill>
              <a:srgbClr val="2B2F77"/>
            </a:solidFill>
            <a:prstDash val="solid"/>
          </a:ln>
        </p:spPr>
      </p:sp>
      <p:sp>
        <p:nvSpPr>
          <p:cNvPr id="17" name="Shape 15"/>
          <p:cNvSpPr/>
          <p:nvPr/>
        </p:nvSpPr>
        <p:spPr>
          <a:xfrm>
            <a:off x="438912" y="2542032"/>
            <a:ext cx="91440" cy="91440"/>
          </a:xfrm>
          <a:prstGeom prst="ellipse">
            <a:avLst/>
          </a:prstGeom>
          <a:solidFill>
            <a:srgbClr val="2B2F77"/>
          </a:solidFill>
          <a:ln w="12700">
            <a:solidFill>
              <a:srgbClr val="2B2F77"/>
            </a:solidFill>
            <a:prstDash val="solid"/>
          </a:ln>
        </p:spPr>
      </p:sp>
      <p:sp>
        <p:nvSpPr>
          <p:cNvPr id="18" name="Text 16"/>
          <p:cNvSpPr/>
          <p:nvPr/>
        </p:nvSpPr>
        <p:spPr>
          <a:xfrm>
            <a:off x="585216" y="24505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Kết quả nghiên cứu MỚI, chưa công bố nơi khác</a:t>
            </a:r>
            <a:endParaRPr lang="en-US" sz="1500" dirty="0"/>
          </a:p>
        </p:txBody>
      </p:sp>
      <p:sp>
        <p:nvSpPr>
          <p:cNvPr id="19" name="Shape 17"/>
          <p:cNvSpPr/>
          <p:nvPr/>
        </p:nvSpPr>
        <p:spPr>
          <a:xfrm>
            <a:off x="438912" y="2999232"/>
            <a:ext cx="91440" cy="91440"/>
          </a:xfrm>
          <a:prstGeom prst="ellipse">
            <a:avLst/>
          </a:prstGeom>
          <a:solidFill>
            <a:srgbClr val="2B2F77"/>
          </a:solidFill>
          <a:ln w="12700">
            <a:solidFill>
              <a:srgbClr val="2B2F77"/>
            </a:solidFill>
            <a:prstDash val="solid"/>
          </a:ln>
        </p:spPr>
      </p:sp>
      <p:sp>
        <p:nvSpPr>
          <p:cNvPr id="20" name="Text 18"/>
          <p:cNvSpPr/>
          <p:nvPr/>
        </p:nvSpPr>
        <p:spPr>
          <a:xfrm>
            <a:off x="585216" y="29077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Phải có đóng góp tri thức rõ ràng (novelty)</a:t>
            </a:r>
            <a:endParaRPr lang="en-US" sz="1500" dirty="0"/>
          </a:p>
        </p:txBody>
      </p:sp>
      <p:sp>
        <p:nvSpPr>
          <p:cNvPr id="21" name="Shape 19"/>
          <p:cNvSpPr/>
          <p:nvPr/>
        </p:nvSpPr>
        <p:spPr>
          <a:xfrm>
            <a:off x="438912" y="3456432"/>
            <a:ext cx="91440" cy="91440"/>
          </a:xfrm>
          <a:prstGeom prst="ellipse">
            <a:avLst/>
          </a:prstGeom>
          <a:solidFill>
            <a:srgbClr val="2B2F77"/>
          </a:solidFill>
          <a:ln w="12700">
            <a:solidFill>
              <a:srgbClr val="2B2F77"/>
            </a:solidFill>
            <a:prstDash val="solid"/>
          </a:ln>
        </p:spPr>
      </p:sp>
      <p:sp>
        <p:nvSpPr>
          <p:cNvPr id="22" name="Text 20"/>
          <p:cNvSpPr/>
          <p:nvPr/>
        </p:nvSpPr>
        <p:spPr>
          <a:xfrm>
            <a:off x="585216" y="33649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Cấu trúc IMRAD đầy đủ</a:t>
            </a:r>
            <a:endParaRPr lang="en-US" sz="1500" dirty="0"/>
          </a:p>
        </p:txBody>
      </p:sp>
      <p:sp>
        <p:nvSpPr>
          <p:cNvPr id="23" name="Shape 21"/>
          <p:cNvSpPr/>
          <p:nvPr/>
        </p:nvSpPr>
        <p:spPr>
          <a:xfrm>
            <a:off x="438912" y="3913632"/>
            <a:ext cx="91440" cy="91440"/>
          </a:xfrm>
          <a:prstGeom prst="ellipse">
            <a:avLst/>
          </a:prstGeom>
          <a:solidFill>
            <a:srgbClr val="2B2F77"/>
          </a:solidFill>
          <a:ln w="12700">
            <a:solidFill>
              <a:srgbClr val="2B2F77"/>
            </a:solidFill>
            <a:prstDash val="solid"/>
          </a:ln>
        </p:spPr>
      </p:sp>
      <p:sp>
        <p:nvSpPr>
          <p:cNvPr id="24" name="Text 22"/>
          <p:cNvSpPr/>
          <p:nvPr/>
        </p:nvSpPr>
        <p:spPr>
          <a:xfrm>
            <a:off x="585216" y="38221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Không giới hạn số trang</a:t>
            </a:r>
            <a:endParaRPr lang="en-US" sz="1500" dirty="0"/>
          </a:p>
        </p:txBody>
      </p:sp>
      <p:sp>
        <p:nvSpPr>
          <p:cNvPr id="25" name="Shape 23"/>
          <p:cNvSpPr/>
          <p:nvPr/>
        </p:nvSpPr>
        <p:spPr>
          <a:xfrm>
            <a:off x="438912" y="4370832"/>
            <a:ext cx="91440" cy="91440"/>
          </a:xfrm>
          <a:prstGeom prst="ellipse">
            <a:avLst/>
          </a:prstGeom>
          <a:solidFill>
            <a:srgbClr val="2B2F77"/>
          </a:solidFill>
          <a:ln w="12700">
            <a:solidFill>
              <a:srgbClr val="2B2F77"/>
            </a:solidFill>
            <a:prstDash val="solid"/>
          </a:ln>
        </p:spPr>
      </p:sp>
      <p:sp>
        <p:nvSpPr>
          <p:cNvPr id="26" name="Text 24"/>
          <p:cNvSpPr/>
          <p:nvPr/>
        </p:nvSpPr>
        <p:spPr>
          <a:xfrm>
            <a:off x="585216" y="4279392"/>
            <a:ext cx="2359152" cy="420624"/>
          </a:xfrm>
          <a:prstGeom prst="rect">
            <a:avLst/>
          </a:prstGeom>
          <a:noFill/>
          <a:ln/>
        </p:spPr>
        <p:txBody>
          <a:bodyPr wrap="square" lIns="0" tIns="0" rIns="0" bIns="0" rtlCol="0" anchor="ctr"/>
          <a:lstStyle/>
          <a:p>
            <a:pPr marL="0" indent="0">
              <a:buNone/>
            </a:pPr>
            <a:r>
              <a:rPr lang="en-US" sz="1500" b="1" dirty="0">
                <a:solidFill>
                  <a:srgbClr val="2B2F77"/>
                </a:solidFill>
                <a:latin typeface="Calibri" pitchFamily="34" charset="0"/>
                <a:ea typeface="Calibri" pitchFamily="34" charset="-122"/>
                <a:cs typeface="Calibri" pitchFamily="34" charset="-120"/>
              </a:rPr>
              <a:t>→ Phù hợp nhất với sinh viên NCKH có kết quả định lượng</a:t>
            </a:r>
            <a:endParaRPr lang="en-US" sz="1500" dirty="0"/>
          </a:p>
        </p:txBody>
      </p:sp>
      <p:sp>
        <p:nvSpPr>
          <p:cNvPr id="27" name="Shape 25"/>
          <p:cNvSpPr/>
          <p:nvPr/>
        </p:nvSpPr>
        <p:spPr>
          <a:xfrm>
            <a:off x="3154680" y="1572768"/>
            <a:ext cx="2743200" cy="475488"/>
          </a:xfrm>
          <a:prstGeom prst="rect">
            <a:avLst/>
          </a:prstGeom>
          <a:solidFill>
            <a:srgbClr val="1A7BC1"/>
          </a:solidFill>
          <a:ln w="12700">
            <a:solidFill>
              <a:srgbClr val="1A7BC1"/>
            </a:solidFill>
            <a:prstDash val="solid"/>
          </a:ln>
        </p:spPr>
      </p:sp>
      <p:sp>
        <p:nvSpPr>
          <p:cNvPr id="28" name="Text 26"/>
          <p:cNvSpPr/>
          <p:nvPr/>
        </p:nvSpPr>
        <p:spPr>
          <a:xfrm>
            <a:off x="3154680" y="157276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29" name="Text 27"/>
          <p:cNvSpPr/>
          <p:nvPr/>
        </p:nvSpPr>
        <p:spPr>
          <a:xfrm>
            <a:off x="3648456" y="1572768"/>
            <a:ext cx="2212848"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Bài viết</a:t>
            </a:r>
            <a:endParaRPr lang="en-US" sz="1600" dirty="0"/>
          </a:p>
          <a:p>
            <a:pPr marL="0" indent="0">
              <a:buNone/>
            </a:pPr>
            <a:r>
              <a:rPr lang="en-US" sz="1600" b="1" dirty="0" err="1">
                <a:solidFill>
                  <a:srgbClr val="FFFFFF"/>
                </a:solidFill>
                <a:latin typeface="Calibri" pitchFamily="34" charset="0"/>
                <a:cs typeface="Calibri" pitchFamily="34" charset="-120"/>
              </a:rPr>
              <a:t>Tổng</a:t>
            </a:r>
            <a:r>
              <a:rPr lang="en-US" sz="1600" b="1" dirty="0">
                <a:solidFill>
                  <a:srgbClr val="FFFFFF"/>
                </a:solidFill>
                <a:latin typeface="Calibri" pitchFamily="34" charset="0"/>
                <a:cs typeface="Calibri" pitchFamily="34" charset="-120"/>
              </a:rPr>
              <a:t> </a:t>
            </a:r>
            <a:r>
              <a:rPr lang="en-US" sz="1600" b="1" dirty="0" err="1">
                <a:solidFill>
                  <a:srgbClr val="FFFFFF"/>
                </a:solidFill>
                <a:latin typeface="Calibri" pitchFamily="34" charset="0"/>
                <a:cs typeface="Calibri" pitchFamily="34" charset="-120"/>
              </a:rPr>
              <a:t>quan</a:t>
            </a:r>
            <a:endParaRPr lang="en-US" sz="1600" dirty="0"/>
          </a:p>
        </p:txBody>
      </p:sp>
      <p:sp>
        <p:nvSpPr>
          <p:cNvPr id="30" name="Shape 28"/>
          <p:cNvSpPr/>
          <p:nvPr/>
        </p:nvSpPr>
        <p:spPr>
          <a:xfrm>
            <a:off x="3154680" y="2084832"/>
            <a:ext cx="2743200" cy="274320"/>
          </a:xfrm>
          <a:prstGeom prst="rect">
            <a:avLst/>
          </a:prstGeom>
          <a:solidFill>
            <a:srgbClr val="EEEEEE"/>
          </a:solidFill>
          <a:ln w="6350">
            <a:solidFill>
              <a:srgbClr val="CCCCCC"/>
            </a:solidFill>
            <a:prstDash val="solid"/>
          </a:ln>
        </p:spPr>
      </p:sp>
      <p:sp>
        <p:nvSpPr>
          <p:cNvPr id="31" name="Text 29"/>
          <p:cNvSpPr/>
          <p:nvPr/>
        </p:nvSpPr>
        <p:spPr>
          <a:xfrm>
            <a:off x="3227832" y="2103120"/>
            <a:ext cx="2596896" cy="237744"/>
          </a:xfrm>
          <a:prstGeom prst="rect">
            <a:avLst/>
          </a:prstGeom>
          <a:noFill/>
          <a:ln/>
        </p:spPr>
        <p:txBody>
          <a:bodyPr wrap="square" lIns="0" tIns="0" rIns="0" bIns="0" rtlCol="0" anchor="ctr"/>
          <a:lstStyle/>
          <a:p>
            <a:pPr marL="0" indent="0" algn="ctr">
              <a:buNone/>
            </a:pPr>
            <a:r>
              <a:rPr lang="en-US" sz="1400" dirty="0">
                <a:solidFill>
                  <a:srgbClr val="555555"/>
                </a:solidFill>
                <a:latin typeface="Calibri" pitchFamily="34" charset="0"/>
                <a:ea typeface="Calibri" pitchFamily="34" charset="-122"/>
                <a:cs typeface="Calibri" pitchFamily="34" charset="-120"/>
              </a:rPr>
              <a:t>Review Paper</a:t>
            </a:r>
            <a:endParaRPr lang="en-US" sz="1400" dirty="0"/>
          </a:p>
        </p:txBody>
      </p:sp>
      <p:sp>
        <p:nvSpPr>
          <p:cNvPr id="32" name="Shape 30"/>
          <p:cNvSpPr/>
          <p:nvPr/>
        </p:nvSpPr>
        <p:spPr>
          <a:xfrm>
            <a:off x="3154680" y="2395728"/>
            <a:ext cx="2743200" cy="2359152"/>
          </a:xfrm>
          <a:prstGeom prst="rect">
            <a:avLst/>
          </a:prstGeom>
          <a:solidFill>
            <a:srgbClr val="F8FBFF"/>
          </a:solidFill>
          <a:ln w="6350">
            <a:solidFill>
              <a:srgbClr val="CCCCCC"/>
            </a:solidFill>
            <a:prstDash val="solid"/>
          </a:ln>
        </p:spPr>
      </p:sp>
      <p:sp>
        <p:nvSpPr>
          <p:cNvPr id="33" name="Shape 31"/>
          <p:cNvSpPr/>
          <p:nvPr/>
        </p:nvSpPr>
        <p:spPr>
          <a:xfrm>
            <a:off x="3154680" y="2395728"/>
            <a:ext cx="91440" cy="2359152"/>
          </a:xfrm>
          <a:prstGeom prst="rect">
            <a:avLst/>
          </a:prstGeom>
          <a:solidFill>
            <a:srgbClr val="1A7BC1"/>
          </a:solidFill>
          <a:ln w="12700">
            <a:solidFill>
              <a:srgbClr val="1A7BC1"/>
            </a:solidFill>
            <a:prstDash val="solid"/>
          </a:ln>
        </p:spPr>
      </p:sp>
      <p:sp>
        <p:nvSpPr>
          <p:cNvPr id="34" name="Shape 32"/>
          <p:cNvSpPr/>
          <p:nvPr/>
        </p:nvSpPr>
        <p:spPr>
          <a:xfrm>
            <a:off x="3319272" y="2542032"/>
            <a:ext cx="91440" cy="91440"/>
          </a:xfrm>
          <a:prstGeom prst="ellipse">
            <a:avLst/>
          </a:prstGeom>
          <a:solidFill>
            <a:srgbClr val="2B2F77"/>
          </a:solidFill>
          <a:ln w="12700">
            <a:solidFill>
              <a:srgbClr val="2B2F77"/>
            </a:solidFill>
            <a:prstDash val="solid"/>
          </a:ln>
        </p:spPr>
      </p:sp>
      <p:sp>
        <p:nvSpPr>
          <p:cNvPr id="35" name="Text 33"/>
          <p:cNvSpPr/>
          <p:nvPr/>
        </p:nvSpPr>
        <p:spPr>
          <a:xfrm>
            <a:off x="3465576" y="24505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Khảo sát, tổng hợp các nghiên cứu đã công bố</a:t>
            </a:r>
            <a:endParaRPr lang="en-US" sz="1500" dirty="0"/>
          </a:p>
        </p:txBody>
      </p:sp>
      <p:sp>
        <p:nvSpPr>
          <p:cNvPr id="36" name="Shape 34"/>
          <p:cNvSpPr/>
          <p:nvPr/>
        </p:nvSpPr>
        <p:spPr>
          <a:xfrm>
            <a:off x="3319272" y="2999232"/>
            <a:ext cx="91440" cy="91440"/>
          </a:xfrm>
          <a:prstGeom prst="ellipse">
            <a:avLst/>
          </a:prstGeom>
          <a:solidFill>
            <a:srgbClr val="2B2F77"/>
          </a:solidFill>
          <a:ln w="12700">
            <a:solidFill>
              <a:srgbClr val="2B2F77"/>
            </a:solidFill>
            <a:prstDash val="solid"/>
          </a:ln>
        </p:spPr>
      </p:sp>
      <p:sp>
        <p:nvSpPr>
          <p:cNvPr id="37" name="Text 35"/>
          <p:cNvSpPr/>
          <p:nvPr/>
        </p:nvSpPr>
        <p:spPr>
          <a:xfrm>
            <a:off x="3465576" y="29077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Không báo cáo dữ liệu hay phân tích mới</a:t>
            </a:r>
            <a:endParaRPr lang="en-US" sz="1500" dirty="0"/>
          </a:p>
        </p:txBody>
      </p:sp>
      <p:sp>
        <p:nvSpPr>
          <p:cNvPr id="38" name="Shape 36"/>
          <p:cNvSpPr/>
          <p:nvPr/>
        </p:nvSpPr>
        <p:spPr>
          <a:xfrm>
            <a:off x="3319272" y="3456432"/>
            <a:ext cx="91440" cy="91440"/>
          </a:xfrm>
          <a:prstGeom prst="ellipse">
            <a:avLst/>
          </a:prstGeom>
          <a:solidFill>
            <a:srgbClr val="2B2F77"/>
          </a:solidFill>
          <a:ln w="12700">
            <a:solidFill>
              <a:srgbClr val="2B2F77"/>
            </a:solidFill>
            <a:prstDash val="solid"/>
          </a:ln>
        </p:spPr>
      </p:sp>
      <p:sp>
        <p:nvSpPr>
          <p:cNvPr id="39" name="Text 37"/>
          <p:cNvSpPr/>
          <p:nvPr/>
        </p:nvSpPr>
        <p:spPr>
          <a:xfrm>
            <a:off x="3465576" y="33649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Bao quát chủ đề đang được quan tâm</a:t>
            </a:r>
            <a:endParaRPr lang="en-US" sz="1500" dirty="0"/>
          </a:p>
        </p:txBody>
      </p:sp>
      <p:sp>
        <p:nvSpPr>
          <p:cNvPr id="40" name="Shape 38"/>
          <p:cNvSpPr/>
          <p:nvPr/>
        </p:nvSpPr>
        <p:spPr>
          <a:xfrm>
            <a:off x="3319272" y="3913632"/>
            <a:ext cx="91440" cy="91440"/>
          </a:xfrm>
          <a:prstGeom prst="ellipse">
            <a:avLst/>
          </a:prstGeom>
          <a:solidFill>
            <a:srgbClr val="2B2F77"/>
          </a:solidFill>
          <a:ln w="12700">
            <a:solidFill>
              <a:srgbClr val="2B2F77"/>
            </a:solidFill>
            <a:prstDash val="solid"/>
          </a:ln>
        </p:spPr>
      </p:sp>
      <p:sp>
        <p:nvSpPr>
          <p:cNvPr id="41" name="Text 39"/>
          <p:cNvSpPr/>
          <p:nvPr/>
        </p:nvSpPr>
        <p:spPr>
          <a:xfrm>
            <a:off x="3465576" y="38221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Yêu cầu đọc và tổng hợp nhiều tài liệu (thường 50+ bài)</a:t>
            </a:r>
            <a:endParaRPr lang="en-US" sz="1500" dirty="0"/>
          </a:p>
        </p:txBody>
      </p:sp>
      <p:sp>
        <p:nvSpPr>
          <p:cNvPr id="42" name="Shape 40"/>
          <p:cNvSpPr/>
          <p:nvPr/>
        </p:nvSpPr>
        <p:spPr>
          <a:xfrm>
            <a:off x="3319272" y="4370832"/>
            <a:ext cx="91440" cy="91440"/>
          </a:xfrm>
          <a:prstGeom prst="ellipse">
            <a:avLst/>
          </a:prstGeom>
          <a:solidFill>
            <a:srgbClr val="1A7BC1"/>
          </a:solidFill>
          <a:ln w="12700">
            <a:solidFill>
              <a:srgbClr val="1A7BC1"/>
            </a:solidFill>
            <a:prstDash val="solid"/>
          </a:ln>
        </p:spPr>
      </p:sp>
      <p:sp>
        <p:nvSpPr>
          <p:cNvPr id="43" name="Text 41"/>
          <p:cNvSpPr/>
          <p:nvPr/>
        </p:nvSpPr>
        <p:spPr>
          <a:xfrm>
            <a:off x="3465576" y="4279392"/>
            <a:ext cx="2359152" cy="420624"/>
          </a:xfrm>
          <a:prstGeom prst="rect">
            <a:avLst/>
          </a:prstGeom>
          <a:noFill/>
          <a:ln/>
        </p:spPr>
        <p:txBody>
          <a:bodyPr wrap="square" lIns="0" tIns="0" rIns="0" bIns="0" rtlCol="0" anchor="ctr"/>
          <a:lstStyle/>
          <a:p>
            <a:pPr marL="0" indent="0">
              <a:buNone/>
            </a:pPr>
            <a:r>
              <a:rPr lang="en-US" sz="1500" b="1" dirty="0">
                <a:solidFill>
                  <a:srgbClr val="1A7BC1"/>
                </a:solidFill>
                <a:latin typeface="Calibri" pitchFamily="34" charset="0"/>
                <a:ea typeface="Calibri" pitchFamily="34" charset="-122"/>
                <a:cs typeface="Calibri" pitchFamily="34" charset="-120"/>
              </a:rPr>
              <a:t>→ Phù hợp với người có hiểu biết sâu về lĩnh vực</a:t>
            </a:r>
            <a:endParaRPr lang="en-US" sz="1500" dirty="0"/>
          </a:p>
        </p:txBody>
      </p:sp>
      <p:sp>
        <p:nvSpPr>
          <p:cNvPr id="44" name="Shape 42"/>
          <p:cNvSpPr/>
          <p:nvPr/>
        </p:nvSpPr>
        <p:spPr>
          <a:xfrm>
            <a:off x="6035040" y="1572768"/>
            <a:ext cx="2743200" cy="475488"/>
          </a:xfrm>
          <a:prstGeom prst="rect">
            <a:avLst/>
          </a:prstGeom>
          <a:solidFill>
            <a:srgbClr val="F5A623"/>
          </a:solidFill>
          <a:ln w="12700">
            <a:solidFill>
              <a:srgbClr val="F5A623"/>
            </a:solidFill>
            <a:prstDash val="solid"/>
          </a:ln>
        </p:spPr>
      </p:sp>
      <p:sp>
        <p:nvSpPr>
          <p:cNvPr id="45" name="Text 43"/>
          <p:cNvSpPr/>
          <p:nvPr/>
        </p:nvSpPr>
        <p:spPr>
          <a:xfrm>
            <a:off x="6035040" y="157276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46" name="Text 44"/>
          <p:cNvSpPr/>
          <p:nvPr/>
        </p:nvSpPr>
        <p:spPr>
          <a:xfrm>
            <a:off x="6528816" y="1572768"/>
            <a:ext cx="2212848"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Bài viết</a:t>
            </a:r>
            <a:endParaRPr lang="en-US" sz="1600" dirty="0"/>
          </a:p>
          <a:p>
            <a:pPr marL="0" indent="0">
              <a:buNone/>
            </a:pPr>
            <a:r>
              <a:rPr lang="en-US" sz="1600" b="1" dirty="0">
                <a:solidFill>
                  <a:srgbClr val="FFFFFF"/>
                </a:solidFill>
                <a:latin typeface="Calibri" pitchFamily="34" charset="0"/>
                <a:ea typeface="Calibri" pitchFamily="34" charset="-122"/>
                <a:cs typeface="Calibri" pitchFamily="34" charset="-120"/>
              </a:rPr>
              <a:t>thông tin khoa học</a:t>
            </a:r>
            <a:endParaRPr lang="en-US" sz="1600" dirty="0"/>
          </a:p>
        </p:txBody>
      </p:sp>
      <p:sp>
        <p:nvSpPr>
          <p:cNvPr id="47" name="Shape 45"/>
          <p:cNvSpPr/>
          <p:nvPr/>
        </p:nvSpPr>
        <p:spPr>
          <a:xfrm>
            <a:off x="6035040" y="2084832"/>
            <a:ext cx="2743200" cy="274320"/>
          </a:xfrm>
          <a:prstGeom prst="rect">
            <a:avLst/>
          </a:prstGeom>
          <a:solidFill>
            <a:srgbClr val="EEEEEE"/>
          </a:solidFill>
          <a:ln w="6350">
            <a:solidFill>
              <a:srgbClr val="CCCCCC"/>
            </a:solidFill>
            <a:prstDash val="solid"/>
          </a:ln>
        </p:spPr>
      </p:sp>
      <p:sp>
        <p:nvSpPr>
          <p:cNvPr id="48" name="Text 46"/>
          <p:cNvSpPr/>
          <p:nvPr/>
        </p:nvSpPr>
        <p:spPr>
          <a:xfrm>
            <a:off x="6108192" y="2103120"/>
            <a:ext cx="2596896" cy="237744"/>
          </a:xfrm>
          <a:prstGeom prst="rect">
            <a:avLst/>
          </a:prstGeom>
          <a:noFill/>
          <a:ln/>
        </p:spPr>
        <p:txBody>
          <a:bodyPr wrap="square" lIns="0" tIns="0" rIns="0" bIns="0" rtlCol="0" anchor="ctr"/>
          <a:lstStyle/>
          <a:p>
            <a:pPr marL="0" indent="0" algn="ctr">
              <a:buNone/>
            </a:pPr>
            <a:r>
              <a:rPr lang="en-US" sz="1400" dirty="0">
                <a:solidFill>
                  <a:srgbClr val="555555"/>
                </a:solidFill>
                <a:latin typeface="Calibri" pitchFamily="34" charset="0"/>
                <a:ea typeface="Calibri" pitchFamily="34" charset="-122"/>
                <a:cs typeface="Calibri" pitchFamily="34" charset="-120"/>
              </a:rPr>
              <a:t>Science News</a:t>
            </a:r>
            <a:endParaRPr lang="en-US" sz="1400" dirty="0"/>
          </a:p>
        </p:txBody>
      </p:sp>
      <p:sp>
        <p:nvSpPr>
          <p:cNvPr id="49" name="Shape 47"/>
          <p:cNvSpPr/>
          <p:nvPr/>
        </p:nvSpPr>
        <p:spPr>
          <a:xfrm>
            <a:off x="6035040" y="2395728"/>
            <a:ext cx="2743200" cy="2359152"/>
          </a:xfrm>
          <a:prstGeom prst="rect">
            <a:avLst/>
          </a:prstGeom>
          <a:solidFill>
            <a:srgbClr val="F8FBFF"/>
          </a:solidFill>
          <a:ln w="6350">
            <a:solidFill>
              <a:srgbClr val="CCCCCC"/>
            </a:solidFill>
            <a:prstDash val="solid"/>
          </a:ln>
        </p:spPr>
      </p:sp>
      <p:sp>
        <p:nvSpPr>
          <p:cNvPr id="50" name="Shape 48"/>
          <p:cNvSpPr/>
          <p:nvPr/>
        </p:nvSpPr>
        <p:spPr>
          <a:xfrm>
            <a:off x="6035040" y="2395728"/>
            <a:ext cx="91440" cy="2359152"/>
          </a:xfrm>
          <a:prstGeom prst="rect">
            <a:avLst/>
          </a:prstGeom>
          <a:solidFill>
            <a:srgbClr val="F5A623"/>
          </a:solidFill>
          <a:ln w="12700">
            <a:solidFill>
              <a:srgbClr val="F5A623"/>
            </a:solidFill>
            <a:prstDash val="solid"/>
          </a:ln>
        </p:spPr>
      </p:sp>
      <p:sp>
        <p:nvSpPr>
          <p:cNvPr id="51" name="Shape 49"/>
          <p:cNvSpPr/>
          <p:nvPr/>
        </p:nvSpPr>
        <p:spPr>
          <a:xfrm>
            <a:off x="6199632" y="2542032"/>
            <a:ext cx="91440" cy="91440"/>
          </a:xfrm>
          <a:prstGeom prst="ellipse">
            <a:avLst/>
          </a:prstGeom>
          <a:solidFill>
            <a:srgbClr val="2B2F77"/>
          </a:solidFill>
          <a:ln w="12700">
            <a:solidFill>
              <a:srgbClr val="2B2F77"/>
            </a:solidFill>
            <a:prstDash val="solid"/>
          </a:ln>
        </p:spPr>
      </p:sp>
      <p:sp>
        <p:nvSpPr>
          <p:cNvPr id="52" name="Text 50"/>
          <p:cNvSpPr/>
          <p:nvPr/>
        </p:nvSpPr>
        <p:spPr>
          <a:xfrm>
            <a:off x="6345936" y="2450592"/>
            <a:ext cx="2615184"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Trình bày &amp; bình luận các sự kiện KH nổi bật trong/ngoài nước</a:t>
            </a:r>
            <a:endParaRPr lang="en-US" sz="1500" dirty="0"/>
          </a:p>
        </p:txBody>
      </p:sp>
      <p:sp>
        <p:nvSpPr>
          <p:cNvPr id="53" name="Shape 51"/>
          <p:cNvSpPr/>
          <p:nvPr/>
        </p:nvSpPr>
        <p:spPr>
          <a:xfrm>
            <a:off x="6199632" y="2999232"/>
            <a:ext cx="91440" cy="91440"/>
          </a:xfrm>
          <a:prstGeom prst="ellipse">
            <a:avLst/>
          </a:prstGeom>
          <a:solidFill>
            <a:srgbClr val="2B2F77"/>
          </a:solidFill>
          <a:ln w="12700">
            <a:solidFill>
              <a:srgbClr val="2B2F77"/>
            </a:solidFill>
            <a:prstDash val="solid"/>
          </a:ln>
        </p:spPr>
      </p:sp>
      <p:sp>
        <p:nvSpPr>
          <p:cNvPr id="54" name="Text 52"/>
          <p:cNvSpPr/>
          <p:nvPr/>
        </p:nvSpPr>
        <p:spPr>
          <a:xfrm>
            <a:off x="6345936" y="29077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Đánh giá xu hướng phát triển KH quốc tế và Việt Nam</a:t>
            </a:r>
            <a:endParaRPr lang="en-US" sz="1500" dirty="0"/>
          </a:p>
        </p:txBody>
      </p:sp>
      <p:sp>
        <p:nvSpPr>
          <p:cNvPr id="55" name="Shape 53"/>
          <p:cNvSpPr/>
          <p:nvPr/>
        </p:nvSpPr>
        <p:spPr>
          <a:xfrm>
            <a:off x="6199632" y="3456432"/>
            <a:ext cx="91440" cy="91440"/>
          </a:xfrm>
          <a:prstGeom prst="ellipse">
            <a:avLst/>
          </a:prstGeom>
          <a:solidFill>
            <a:srgbClr val="2B2F77"/>
          </a:solidFill>
          <a:ln w="12700">
            <a:solidFill>
              <a:srgbClr val="2B2F77"/>
            </a:solidFill>
            <a:prstDash val="solid"/>
          </a:ln>
        </p:spPr>
      </p:sp>
      <p:sp>
        <p:nvSpPr>
          <p:cNvPr id="56" name="Text 54"/>
          <p:cNvSpPr/>
          <p:nvPr/>
        </p:nvSpPr>
        <p:spPr>
          <a:xfrm>
            <a:off x="6345936" y="33649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Định hướng nghiên cứu trong tương lai cho ngành</a:t>
            </a:r>
            <a:endParaRPr lang="en-US" sz="1500" dirty="0"/>
          </a:p>
        </p:txBody>
      </p:sp>
      <p:sp>
        <p:nvSpPr>
          <p:cNvPr id="57" name="Shape 55"/>
          <p:cNvSpPr/>
          <p:nvPr/>
        </p:nvSpPr>
        <p:spPr>
          <a:xfrm>
            <a:off x="6199632" y="3913632"/>
            <a:ext cx="91440" cy="91440"/>
          </a:xfrm>
          <a:prstGeom prst="ellipse">
            <a:avLst/>
          </a:prstGeom>
          <a:solidFill>
            <a:srgbClr val="2B2F77"/>
          </a:solidFill>
          <a:ln w="12700">
            <a:solidFill>
              <a:srgbClr val="2B2F77"/>
            </a:solidFill>
            <a:prstDash val="solid"/>
          </a:ln>
        </p:spPr>
      </p:sp>
      <p:sp>
        <p:nvSpPr>
          <p:cNvPr id="58" name="Text 56"/>
          <p:cNvSpPr/>
          <p:nvPr/>
        </p:nvSpPr>
        <p:spPr>
          <a:xfrm>
            <a:off x="6345936" y="3822192"/>
            <a:ext cx="2359152" cy="420624"/>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Không cần dữ liệu thực nghiệm riêng</a:t>
            </a:r>
            <a:endParaRPr lang="en-US" sz="1500" dirty="0"/>
          </a:p>
        </p:txBody>
      </p:sp>
      <p:sp>
        <p:nvSpPr>
          <p:cNvPr id="59" name="Shape 57"/>
          <p:cNvSpPr/>
          <p:nvPr/>
        </p:nvSpPr>
        <p:spPr>
          <a:xfrm>
            <a:off x="6199632" y="4370832"/>
            <a:ext cx="91440" cy="91440"/>
          </a:xfrm>
          <a:prstGeom prst="ellipse">
            <a:avLst/>
          </a:prstGeom>
          <a:solidFill>
            <a:srgbClr val="F5A623"/>
          </a:solidFill>
          <a:ln w="12700">
            <a:solidFill>
              <a:srgbClr val="F5A623"/>
            </a:solidFill>
            <a:prstDash val="solid"/>
          </a:ln>
        </p:spPr>
      </p:sp>
      <p:sp>
        <p:nvSpPr>
          <p:cNvPr id="60" name="Text 58"/>
          <p:cNvSpPr/>
          <p:nvPr/>
        </p:nvSpPr>
        <p:spPr>
          <a:xfrm>
            <a:off x="6345936" y="4279392"/>
            <a:ext cx="2359152" cy="420624"/>
          </a:xfrm>
          <a:prstGeom prst="rect">
            <a:avLst/>
          </a:prstGeom>
          <a:noFill/>
          <a:ln/>
        </p:spPr>
        <p:txBody>
          <a:bodyPr wrap="square" lIns="0" tIns="0" rIns="0" bIns="0" rtlCol="0" anchor="ctr"/>
          <a:lstStyle/>
          <a:p>
            <a:pPr marL="0" indent="0">
              <a:buNone/>
            </a:pPr>
            <a:r>
              <a:rPr lang="en-US" sz="1500" b="1" dirty="0">
                <a:solidFill>
                  <a:srgbClr val="F5A623"/>
                </a:solidFill>
                <a:latin typeface="Calibri" pitchFamily="34" charset="0"/>
                <a:ea typeface="Calibri" pitchFamily="34" charset="-122"/>
                <a:cs typeface="Calibri" pitchFamily="34" charset="-120"/>
              </a:rPr>
              <a:t>Giới hạn: tối đa 5 trang (~5.000 từ)</a:t>
            </a:r>
            <a:endParaRPr lang="en-US" sz="1500" dirty="0"/>
          </a:p>
        </p:txBody>
      </p:sp>
      <p:sp>
        <p:nvSpPr>
          <p:cNvPr id="61" name="Shape 59"/>
          <p:cNvSpPr/>
          <p:nvPr/>
        </p:nvSpPr>
        <p:spPr>
          <a:xfrm>
            <a:off x="2011680" y="4846320"/>
            <a:ext cx="7040880" cy="36576"/>
          </a:xfrm>
          <a:prstGeom prst="rect">
            <a:avLst/>
          </a:prstGeom>
          <a:solidFill>
            <a:srgbClr val="F5A623"/>
          </a:solidFill>
          <a:ln w="12700">
            <a:solidFill>
              <a:srgbClr val="F5A623"/>
            </a:solidFill>
            <a:prstDash val="solid"/>
          </a:ln>
        </p:spPr>
      </p:sp>
      <p:pic>
        <p:nvPicPr>
          <p:cNvPr id="62"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63" name="Text 60"/>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64" name="Text 61"/>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Quy trình nộp bài JSTT — 6 bước từ bản thảo đến xuất bản</a:t>
            </a:r>
            <a:endParaRPr lang="en-US" sz="2600" dirty="0"/>
          </a:p>
        </p:txBody>
      </p:sp>
      <p:sp>
        <p:nvSpPr>
          <p:cNvPr id="10" name="Shape 8"/>
          <p:cNvSpPr/>
          <p:nvPr/>
        </p:nvSpPr>
        <p:spPr>
          <a:xfrm>
            <a:off x="274320" y="1572768"/>
            <a:ext cx="502920" cy="502920"/>
          </a:xfrm>
          <a:prstGeom prst="rect">
            <a:avLst/>
          </a:prstGeom>
          <a:solidFill>
            <a:srgbClr val="2B2F77"/>
          </a:solidFill>
          <a:ln w="12700">
            <a:solidFill>
              <a:srgbClr val="2B2F77"/>
            </a:solidFill>
            <a:prstDash val="solid"/>
          </a:ln>
        </p:spPr>
      </p:sp>
      <p:sp>
        <p:nvSpPr>
          <p:cNvPr id="11" name="Text 9"/>
          <p:cNvSpPr/>
          <p:nvPr/>
        </p:nvSpPr>
        <p:spPr>
          <a:xfrm>
            <a:off x="274320" y="1572768"/>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2" name="Shape 10"/>
          <p:cNvSpPr/>
          <p:nvPr/>
        </p:nvSpPr>
        <p:spPr>
          <a:xfrm>
            <a:off x="777240" y="1572768"/>
            <a:ext cx="2331720" cy="502920"/>
          </a:xfrm>
          <a:prstGeom prst="rect">
            <a:avLst/>
          </a:prstGeom>
          <a:solidFill>
            <a:srgbClr val="2B2F77"/>
          </a:solidFill>
          <a:ln w="12700">
            <a:solidFill>
              <a:srgbClr val="2B2F77"/>
            </a:solidFill>
            <a:prstDash val="solid"/>
          </a:ln>
        </p:spPr>
      </p:sp>
      <p:sp>
        <p:nvSpPr>
          <p:cNvPr id="13" name="Text 11"/>
          <p:cNvSpPr/>
          <p:nvPr/>
        </p:nvSpPr>
        <p:spPr>
          <a:xfrm>
            <a:off x="822960" y="1572768"/>
            <a:ext cx="224028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Chuẩn bị bản thảo</a:t>
            </a:r>
            <a:endParaRPr lang="en-US" sz="1600" dirty="0"/>
          </a:p>
        </p:txBody>
      </p:sp>
      <p:sp>
        <p:nvSpPr>
          <p:cNvPr id="14" name="Shape 12"/>
          <p:cNvSpPr/>
          <p:nvPr/>
        </p:nvSpPr>
        <p:spPr>
          <a:xfrm>
            <a:off x="274320" y="2103120"/>
            <a:ext cx="2834640" cy="868680"/>
          </a:xfrm>
          <a:prstGeom prst="rect">
            <a:avLst/>
          </a:prstGeom>
          <a:solidFill>
            <a:srgbClr val="F8FBFF"/>
          </a:solidFill>
          <a:ln w="6350">
            <a:solidFill>
              <a:srgbClr val="CCCCCC"/>
            </a:solidFill>
            <a:prstDash val="solid"/>
          </a:ln>
        </p:spPr>
      </p:sp>
      <p:sp>
        <p:nvSpPr>
          <p:cNvPr id="15" name="Text 13"/>
          <p:cNvSpPr/>
          <p:nvPr/>
        </p:nvSpPr>
        <p:spPr>
          <a:xfrm>
            <a:off x="365760" y="2148840"/>
            <a:ext cx="2651760" cy="777240"/>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Viết theo template JSTT</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Tải template tại jstt.vn</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Điền đầy đủ thông tin </a:t>
            </a:r>
            <a:endParaRPr lang="en-US" sz="1500" dirty="0"/>
          </a:p>
        </p:txBody>
      </p:sp>
      <p:sp>
        <p:nvSpPr>
          <p:cNvPr id="16" name="Shape 14"/>
          <p:cNvSpPr/>
          <p:nvPr/>
        </p:nvSpPr>
        <p:spPr>
          <a:xfrm>
            <a:off x="2286000" y="2103120"/>
            <a:ext cx="822960" cy="868680"/>
          </a:xfrm>
          <a:prstGeom prst="rect">
            <a:avLst/>
          </a:prstGeom>
          <a:solidFill>
            <a:srgbClr val="2B2F77"/>
          </a:solidFill>
          <a:ln w="12700">
            <a:solidFill>
              <a:srgbClr val="2B2F77"/>
            </a:solidFill>
            <a:prstDash val="solid"/>
          </a:ln>
        </p:spPr>
      </p:sp>
      <p:sp>
        <p:nvSpPr>
          <p:cNvPr id="17" name="Text 15"/>
          <p:cNvSpPr/>
          <p:nvPr/>
        </p:nvSpPr>
        <p:spPr>
          <a:xfrm>
            <a:off x="2286000" y="2139696"/>
            <a:ext cx="822960" cy="7955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Vài tuần</a:t>
            </a:r>
            <a:endParaRPr lang="en-US" sz="1300" dirty="0"/>
          </a:p>
        </p:txBody>
      </p:sp>
      <p:sp>
        <p:nvSpPr>
          <p:cNvPr id="18" name="Shape 16"/>
          <p:cNvSpPr/>
          <p:nvPr/>
        </p:nvSpPr>
        <p:spPr>
          <a:xfrm>
            <a:off x="3200400" y="1572768"/>
            <a:ext cx="502920" cy="502920"/>
          </a:xfrm>
          <a:prstGeom prst="rect">
            <a:avLst/>
          </a:prstGeom>
          <a:solidFill>
            <a:srgbClr val="1A7BC1"/>
          </a:solidFill>
          <a:ln w="12700">
            <a:solidFill>
              <a:srgbClr val="1A7BC1"/>
            </a:solidFill>
            <a:prstDash val="solid"/>
          </a:ln>
        </p:spPr>
      </p:sp>
      <p:sp>
        <p:nvSpPr>
          <p:cNvPr id="19" name="Text 17"/>
          <p:cNvSpPr/>
          <p:nvPr/>
        </p:nvSpPr>
        <p:spPr>
          <a:xfrm>
            <a:off x="3200400" y="1572768"/>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20" name="Shape 18"/>
          <p:cNvSpPr/>
          <p:nvPr/>
        </p:nvSpPr>
        <p:spPr>
          <a:xfrm>
            <a:off x="3703320" y="1572768"/>
            <a:ext cx="2331720" cy="502920"/>
          </a:xfrm>
          <a:prstGeom prst="rect">
            <a:avLst/>
          </a:prstGeom>
          <a:solidFill>
            <a:srgbClr val="1A7BC1"/>
          </a:solidFill>
          <a:ln w="12700">
            <a:solidFill>
              <a:srgbClr val="1A7BC1"/>
            </a:solidFill>
            <a:prstDash val="solid"/>
          </a:ln>
        </p:spPr>
      </p:sp>
      <p:sp>
        <p:nvSpPr>
          <p:cNvPr id="21" name="Text 19"/>
          <p:cNvSpPr/>
          <p:nvPr/>
        </p:nvSpPr>
        <p:spPr>
          <a:xfrm>
            <a:off x="3749040" y="1572768"/>
            <a:ext cx="224028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Nộp qua hệ thống</a:t>
            </a:r>
            <a:endParaRPr lang="en-US" sz="1600" dirty="0"/>
          </a:p>
        </p:txBody>
      </p:sp>
      <p:sp>
        <p:nvSpPr>
          <p:cNvPr id="22" name="Shape 20"/>
          <p:cNvSpPr/>
          <p:nvPr/>
        </p:nvSpPr>
        <p:spPr>
          <a:xfrm>
            <a:off x="3200400" y="2103120"/>
            <a:ext cx="2834640" cy="868680"/>
          </a:xfrm>
          <a:prstGeom prst="rect">
            <a:avLst/>
          </a:prstGeom>
          <a:solidFill>
            <a:srgbClr val="F8FBFF"/>
          </a:solidFill>
          <a:ln w="6350">
            <a:solidFill>
              <a:srgbClr val="CCCCCC"/>
            </a:solidFill>
            <a:prstDash val="solid"/>
          </a:ln>
        </p:spPr>
      </p:sp>
      <p:sp>
        <p:nvSpPr>
          <p:cNvPr id="23" name="Text 21"/>
          <p:cNvSpPr/>
          <p:nvPr/>
        </p:nvSpPr>
        <p:spPr>
          <a:xfrm>
            <a:off x="3291840" y="2148840"/>
            <a:ext cx="2651760" cy="777240"/>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Đăng nhập jstt.vn</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Chọn 'Gửi bài'</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Tải file + điền metadata</a:t>
            </a:r>
            <a:endParaRPr lang="en-US" sz="1500" dirty="0"/>
          </a:p>
        </p:txBody>
      </p:sp>
      <p:sp>
        <p:nvSpPr>
          <p:cNvPr id="24" name="Shape 22"/>
          <p:cNvSpPr/>
          <p:nvPr/>
        </p:nvSpPr>
        <p:spPr>
          <a:xfrm>
            <a:off x="5212080" y="2103120"/>
            <a:ext cx="822960" cy="868680"/>
          </a:xfrm>
          <a:prstGeom prst="rect">
            <a:avLst/>
          </a:prstGeom>
          <a:solidFill>
            <a:srgbClr val="1A7BC1"/>
          </a:solidFill>
          <a:ln w="12700">
            <a:solidFill>
              <a:srgbClr val="1A7BC1"/>
            </a:solidFill>
            <a:prstDash val="solid"/>
          </a:ln>
        </p:spPr>
      </p:sp>
      <p:sp>
        <p:nvSpPr>
          <p:cNvPr id="25" name="Text 23"/>
          <p:cNvSpPr/>
          <p:nvPr/>
        </p:nvSpPr>
        <p:spPr>
          <a:xfrm>
            <a:off x="5212080" y="2139696"/>
            <a:ext cx="822960" cy="7955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30 phút</a:t>
            </a:r>
            <a:endParaRPr lang="en-US" sz="1300" dirty="0"/>
          </a:p>
        </p:txBody>
      </p:sp>
      <p:sp>
        <p:nvSpPr>
          <p:cNvPr id="26" name="Shape 24"/>
          <p:cNvSpPr/>
          <p:nvPr/>
        </p:nvSpPr>
        <p:spPr>
          <a:xfrm>
            <a:off x="6126480" y="1572768"/>
            <a:ext cx="502920" cy="502920"/>
          </a:xfrm>
          <a:prstGeom prst="rect">
            <a:avLst/>
          </a:prstGeom>
          <a:solidFill>
            <a:srgbClr val="1A9B5F"/>
          </a:solidFill>
          <a:ln w="12700">
            <a:solidFill>
              <a:srgbClr val="1A9B5F"/>
            </a:solidFill>
            <a:prstDash val="solid"/>
          </a:ln>
        </p:spPr>
      </p:sp>
      <p:sp>
        <p:nvSpPr>
          <p:cNvPr id="27" name="Text 25"/>
          <p:cNvSpPr/>
          <p:nvPr/>
        </p:nvSpPr>
        <p:spPr>
          <a:xfrm>
            <a:off x="6126480" y="1572768"/>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8" name="Shape 26"/>
          <p:cNvSpPr/>
          <p:nvPr/>
        </p:nvSpPr>
        <p:spPr>
          <a:xfrm>
            <a:off x="6629400" y="1572768"/>
            <a:ext cx="2331720" cy="502920"/>
          </a:xfrm>
          <a:prstGeom prst="rect">
            <a:avLst/>
          </a:prstGeom>
          <a:solidFill>
            <a:srgbClr val="1A9B5F"/>
          </a:solidFill>
          <a:ln w="12700">
            <a:solidFill>
              <a:srgbClr val="1A9B5F"/>
            </a:solidFill>
            <a:prstDash val="solid"/>
          </a:ln>
        </p:spPr>
      </p:sp>
      <p:sp>
        <p:nvSpPr>
          <p:cNvPr id="29" name="Text 27"/>
          <p:cNvSpPr/>
          <p:nvPr/>
        </p:nvSpPr>
        <p:spPr>
          <a:xfrm>
            <a:off x="6675120" y="1572768"/>
            <a:ext cx="224028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Kiểm tra sơ bộ</a:t>
            </a:r>
            <a:endParaRPr lang="en-US" sz="1600" dirty="0"/>
          </a:p>
        </p:txBody>
      </p:sp>
      <p:sp>
        <p:nvSpPr>
          <p:cNvPr id="30" name="Shape 28"/>
          <p:cNvSpPr/>
          <p:nvPr/>
        </p:nvSpPr>
        <p:spPr>
          <a:xfrm>
            <a:off x="6126480" y="2103120"/>
            <a:ext cx="2834640" cy="868680"/>
          </a:xfrm>
          <a:prstGeom prst="rect">
            <a:avLst/>
          </a:prstGeom>
          <a:solidFill>
            <a:srgbClr val="F8FBFF"/>
          </a:solidFill>
          <a:ln w="6350">
            <a:solidFill>
              <a:srgbClr val="CCCCCC"/>
            </a:solidFill>
            <a:prstDash val="solid"/>
          </a:ln>
        </p:spPr>
      </p:sp>
      <p:sp>
        <p:nvSpPr>
          <p:cNvPr id="31" name="Text 29"/>
          <p:cNvSpPr/>
          <p:nvPr/>
        </p:nvSpPr>
        <p:spPr>
          <a:xfrm>
            <a:off x="6217920" y="2148840"/>
            <a:ext cx="2651760" cy="777240"/>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Ban biên tập kiểm tra:</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 Đúng định dạng?</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 Đúng phạm vi JSTT?</a:t>
            </a:r>
            <a:endParaRPr lang="en-US" sz="1500" dirty="0"/>
          </a:p>
        </p:txBody>
      </p:sp>
      <p:sp>
        <p:nvSpPr>
          <p:cNvPr id="32" name="Shape 30"/>
          <p:cNvSpPr/>
          <p:nvPr/>
        </p:nvSpPr>
        <p:spPr>
          <a:xfrm>
            <a:off x="8138160" y="2103120"/>
            <a:ext cx="822960" cy="868680"/>
          </a:xfrm>
          <a:prstGeom prst="rect">
            <a:avLst/>
          </a:prstGeom>
          <a:solidFill>
            <a:srgbClr val="1A9B5F"/>
          </a:solidFill>
          <a:ln w="12700">
            <a:solidFill>
              <a:srgbClr val="1A9B5F"/>
            </a:solidFill>
            <a:prstDash val="solid"/>
          </a:ln>
        </p:spPr>
      </p:sp>
      <p:sp>
        <p:nvSpPr>
          <p:cNvPr id="33" name="Text 31"/>
          <p:cNvSpPr/>
          <p:nvPr/>
        </p:nvSpPr>
        <p:spPr>
          <a:xfrm>
            <a:off x="8138160" y="2139696"/>
            <a:ext cx="822960" cy="7955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~1 tuần</a:t>
            </a:r>
            <a:endParaRPr lang="en-US" sz="1300" dirty="0"/>
          </a:p>
        </p:txBody>
      </p:sp>
      <p:sp>
        <p:nvSpPr>
          <p:cNvPr id="34" name="Shape 32"/>
          <p:cNvSpPr/>
          <p:nvPr/>
        </p:nvSpPr>
        <p:spPr>
          <a:xfrm>
            <a:off x="274320" y="3081528"/>
            <a:ext cx="502920" cy="502920"/>
          </a:xfrm>
          <a:prstGeom prst="rect">
            <a:avLst/>
          </a:prstGeom>
          <a:solidFill>
            <a:srgbClr val="F5A623"/>
          </a:solidFill>
          <a:ln w="12700">
            <a:solidFill>
              <a:srgbClr val="F5A623"/>
            </a:solidFill>
            <a:prstDash val="solid"/>
          </a:ln>
        </p:spPr>
      </p:sp>
      <p:sp>
        <p:nvSpPr>
          <p:cNvPr id="35" name="Text 33"/>
          <p:cNvSpPr/>
          <p:nvPr/>
        </p:nvSpPr>
        <p:spPr>
          <a:xfrm>
            <a:off x="274320" y="3081528"/>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6" name="Shape 34"/>
          <p:cNvSpPr/>
          <p:nvPr/>
        </p:nvSpPr>
        <p:spPr>
          <a:xfrm>
            <a:off x="777240" y="3081528"/>
            <a:ext cx="2331720" cy="502920"/>
          </a:xfrm>
          <a:prstGeom prst="rect">
            <a:avLst/>
          </a:prstGeom>
          <a:solidFill>
            <a:srgbClr val="F5A623"/>
          </a:solidFill>
          <a:ln w="12700">
            <a:solidFill>
              <a:srgbClr val="F5A623"/>
            </a:solidFill>
            <a:prstDash val="solid"/>
          </a:ln>
        </p:spPr>
      </p:sp>
      <p:sp>
        <p:nvSpPr>
          <p:cNvPr id="37" name="Text 35"/>
          <p:cNvSpPr/>
          <p:nvPr/>
        </p:nvSpPr>
        <p:spPr>
          <a:xfrm>
            <a:off x="822960" y="3081528"/>
            <a:ext cx="224028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Phản biện kín</a:t>
            </a:r>
            <a:endParaRPr lang="en-US" sz="1600" dirty="0"/>
          </a:p>
          <a:p>
            <a:pPr marL="0" indent="0">
              <a:buNone/>
            </a:pPr>
            <a:r>
              <a:rPr lang="en-US" sz="1600" b="1" dirty="0">
                <a:solidFill>
                  <a:srgbClr val="FFFFFF"/>
                </a:solidFill>
                <a:latin typeface="Calibri" pitchFamily="34" charset="0"/>
                <a:ea typeface="Calibri" pitchFamily="34" charset="-122"/>
                <a:cs typeface="Calibri" pitchFamily="34" charset="-120"/>
              </a:rPr>
              <a:t>(Peer Review)</a:t>
            </a:r>
            <a:endParaRPr lang="en-US" sz="1600" dirty="0"/>
          </a:p>
        </p:txBody>
      </p:sp>
      <p:sp>
        <p:nvSpPr>
          <p:cNvPr id="38" name="Shape 36"/>
          <p:cNvSpPr/>
          <p:nvPr/>
        </p:nvSpPr>
        <p:spPr>
          <a:xfrm>
            <a:off x="274320" y="3611880"/>
            <a:ext cx="2834640" cy="868680"/>
          </a:xfrm>
          <a:prstGeom prst="rect">
            <a:avLst/>
          </a:prstGeom>
          <a:solidFill>
            <a:srgbClr val="F8FBFF"/>
          </a:solidFill>
          <a:ln w="6350">
            <a:solidFill>
              <a:srgbClr val="CCCCCC"/>
            </a:solidFill>
            <a:prstDash val="solid"/>
          </a:ln>
        </p:spPr>
      </p:sp>
      <p:sp>
        <p:nvSpPr>
          <p:cNvPr id="39" name="Text 37"/>
          <p:cNvSpPr/>
          <p:nvPr/>
        </p:nvSpPr>
        <p:spPr>
          <a:xfrm>
            <a:off x="365760" y="3657600"/>
            <a:ext cx="2651760" cy="777240"/>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2–3 chuyên gia độc lập</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Đánh giá ẩn danh</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Có thể yêu cầu sửa đổi</a:t>
            </a:r>
            <a:endParaRPr lang="en-US" sz="1500" dirty="0"/>
          </a:p>
        </p:txBody>
      </p:sp>
      <p:sp>
        <p:nvSpPr>
          <p:cNvPr id="40" name="Shape 38"/>
          <p:cNvSpPr/>
          <p:nvPr/>
        </p:nvSpPr>
        <p:spPr>
          <a:xfrm>
            <a:off x="2286000" y="3611880"/>
            <a:ext cx="822960" cy="868680"/>
          </a:xfrm>
          <a:prstGeom prst="rect">
            <a:avLst/>
          </a:prstGeom>
          <a:solidFill>
            <a:srgbClr val="F5A623"/>
          </a:solidFill>
          <a:ln w="12700">
            <a:solidFill>
              <a:srgbClr val="F5A623"/>
            </a:solidFill>
            <a:prstDash val="solid"/>
          </a:ln>
        </p:spPr>
      </p:sp>
      <p:sp>
        <p:nvSpPr>
          <p:cNvPr id="41" name="Text 39"/>
          <p:cNvSpPr/>
          <p:nvPr/>
        </p:nvSpPr>
        <p:spPr>
          <a:xfrm>
            <a:off x="2286000" y="3648456"/>
            <a:ext cx="822960" cy="7955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4–8 tuần</a:t>
            </a:r>
            <a:endParaRPr lang="en-US" sz="1300" dirty="0"/>
          </a:p>
        </p:txBody>
      </p:sp>
      <p:sp>
        <p:nvSpPr>
          <p:cNvPr id="42" name="Shape 40"/>
          <p:cNvSpPr/>
          <p:nvPr/>
        </p:nvSpPr>
        <p:spPr>
          <a:xfrm>
            <a:off x="3200400" y="3081528"/>
            <a:ext cx="502920" cy="502920"/>
          </a:xfrm>
          <a:prstGeom prst="rect">
            <a:avLst/>
          </a:prstGeom>
          <a:solidFill>
            <a:srgbClr val="8B1A1A"/>
          </a:solidFill>
          <a:ln w="12700">
            <a:solidFill>
              <a:srgbClr val="8B1A1A"/>
            </a:solidFill>
            <a:prstDash val="solid"/>
          </a:ln>
        </p:spPr>
      </p:sp>
      <p:sp>
        <p:nvSpPr>
          <p:cNvPr id="43" name="Text 41"/>
          <p:cNvSpPr/>
          <p:nvPr/>
        </p:nvSpPr>
        <p:spPr>
          <a:xfrm>
            <a:off x="3200400" y="3081528"/>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44" name="Shape 42"/>
          <p:cNvSpPr/>
          <p:nvPr/>
        </p:nvSpPr>
        <p:spPr>
          <a:xfrm>
            <a:off x="3703320" y="3081528"/>
            <a:ext cx="2331720" cy="502920"/>
          </a:xfrm>
          <a:prstGeom prst="rect">
            <a:avLst/>
          </a:prstGeom>
          <a:solidFill>
            <a:srgbClr val="8B1A1A"/>
          </a:solidFill>
          <a:ln w="12700">
            <a:solidFill>
              <a:srgbClr val="8B1A1A"/>
            </a:solidFill>
            <a:prstDash val="solid"/>
          </a:ln>
        </p:spPr>
      </p:sp>
      <p:sp>
        <p:nvSpPr>
          <p:cNvPr id="45" name="Text 43"/>
          <p:cNvSpPr/>
          <p:nvPr/>
        </p:nvSpPr>
        <p:spPr>
          <a:xfrm>
            <a:off x="3749040" y="3081528"/>
            <a:ext cx="224028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Phản hồi &amp; Sửa bài</a:t>
            </a:r>
            <a:endParaRPr lang="en-US" sz="1600" dirty="0"/>
          </a:p>
        </p:txBody>
      </p:sp>
      <p:sp>
        <p:nvSpPr>
          <p:cNvPr id="46" name="Shape 44"/>
          <p:cNvSpPr/>
          <p:nvPr/>
        </p:nvSpPr>
        <p:spPr>
          <a:xfrm>
            <a:off x="3200400" y="3611880"/>
            <a:ext cx="2834640" cy="868680"/>
          </a:xfrm>
          <a:prstGeom prst="rect">
            <a:avLst/>
          </a:prstGeom>
          <a:solidFill>
            <a:srgbClr val="F8FBFF"/>
          </a:solidFill>
          <a:ln w="6350">
            <a:solidFill>
              <a:srgbClr val="CCCCCC"/>
            </a:solidFill>
            <a:prstDash val="solid"/>
          </a:ln>
        </p:spPr>
      </p:sp>
      <p:sp>
        <p:nvSpPr>
          <p:cNvPr id="47" name="Text 45"/>
          <p:cNvSpPr/>
          <p:nvPr/>
        </p:nvSpPr>
        <p:spPr>
          <a:xfrm>
            <a:off x="3291840" y="3657600"/>
            <a:ext cx="2651760" cy="777240"/>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Trả lời TỪNG nhận xét</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Gửi Response Letter</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Kèm bản sửa đổi</a:t>
            </a:r>
            <a:endParaRPr lang="en-US" sz="1500" dirty="0"/>
          </a:p>
        </p:txBody>
      </p:sp>
      <p:sp>
        <p:nvSpPr>
          <p:cNvPr id="48" name="Shape 46"/>
          <p:cNvSpPr/>
          <p:nvPr/>
        </p:nvSpPr>
        <p:spPr>
          <a:xfrm>
            <a:off x="5212080" y="3611880"/>
            <a:ext cx="822960" cy="868680"/>
          </a:xfrm>
          <a:prstGeom prst="rect">
            <a:avLst/>
          </a:prstGeom>
          <a:solidFill>
            <a:srgbClr val="8B1A1A"/>
          </a:solidFill>
          <a:ln w="12700">
            <a:solidFill>
              <a:srgbClr val="8B1A1A"/>
            </a:solidFill>
            <a:prstDash val="solid"/>
          </a:ln>
        </p:spPr>
      </p:sp>
      <p:sp>
        <p:nvSpPr>
          <p:cNvPr id="49" name="Text 47"/>
          <p:cNvSpPr/>
          <p:nvPr/>
        </p:nvSpPr>
        <p:spPr>
          <a:xfrm>
            <a:off x="5212080" y="3648456"/>
            <a:ext cx="822960" cy="7955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1–2 tuần</a:t>
            </a:r>
            <a:endParaRPr lang="en-US" sz="1300" dirty="0"/>
          </a:p>
        </p:txBody>
      </p:sp>
      <p:sp>
        <p:nvSpPr>
          <p:cNvPr id="50" name="Shape 48"/>
          <p:cNvSpPr/>
          <p:nvPr/>
        </p:nvSpPr>
        <p:spPr>
          <a:xfrm>
            <a:off x="6126480" y="3081528"/>
            <a:ext cx="502920" cy="502920"/>
          </a:xfrm>
          <a:prstGeom prst="rect">
            <a:avLst/>
          </a:prstGeom>
          <a:solidFill>
            <a:srgbClr val="2D5016"/>
          </a:solidFill>
          <a:ln w="12700">
            <a:solidFill>
              <a:srgbClr val="2D5016"/>
            </a:solidFill>
            <a:prstDash val="solid"/>
          </a:ln>
        </p:spPr>
      </p:sp>
      <p:sp>
        <p:nvSpPr>
          <p:cNvPr id="51" name="Text 49"/>
          <p:cNvSpPr/>
          <p:nvPr/>
        </p:nvSpPr>
        <p:spPr>
          <a:xfrm>
            <a:off x="6126480" y="3081528"/>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52" name="Shape 50"/>
          <p:cNvSpPr/>
          <p:nvPr/>
        </p:nvSpPr>
        <p:spPr>
          <a:xfrm>
            <a:off x="6629400" y="3081528"/>
            <a:ext cx="2331720" cy="502920"/>
          </a:xfrm>
          <a:prstGeom prst="rect">
            <a:avLst/>
          </a:prstGeom>
          <a:solidFill>
            <a:srgbClr val="2D5016"/>
          </a:solidFill>
          <a:ln w="12700">
            <a:solidFill>
              <a:srgbClr val="2D5016"/>
            </a:solidFill>
            <a:prstDash val="solid"/>
          </a:ln>
        </p:spPr>
      </p:sp>
      <p:sp>
        <p:nvSpPr>
          <p:cNvPr id="53" name="Text 51"/>
          <p:cNvSpPr/>
          <p:nvPr/>
        </p:nvSpPr>
        <p:spPr>
          <a:xfrm>
            <a:off x="6675120" y="3081528"/>
            <a:ext cx="224028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Chấp nhận &amp; Đăng</a:t>
            </a:r>
            <a:endParaRPr lang="en-US" sz="1600" dirty="0"/>
          </a:p>
        </p:txBody>
      </p:sp>
      <p:sp>
        <p:nvSpPr>
          <p:cNvPr id="54" name="Shape 52"/>
          <p:cNvSpPr/>
          <p:nvPr/>
        </p:nvSpPr>
        <p:spPr>
          <a:xfrm>
            <a:off x="6126480" y="3611880"/>
            <a:ext cx="2834640" cy="868680"/>
          </a:xfrm>
          <a:prstGeom prst="rect">
            <a:avLst/>
          </a:prstGeom>
          <a:solidFill>
            <a:srgbClr val="F8FBFF"/>
          </a:solidFill>
          <a:ln w="6350">
            <a:solidFill>
              <a:srgbClr val="CCCCCC"/>
            </a:solidFill>
            <a:prstDash val="solid"/>
          </a:ln>
        </p:spPr>
      </p:sp>
      <p:sp>
        <p:nvSpPr>
          <p:cNvPr id="55" name="Text 53"/>
          <p:cNvSpPr/>
          <p:nvPr/>
        </p:nvSpPr>
        <p:spPr>
          <a:xfrm>
            <a:off x="6217920" y="3657600"/>
            <a:ext cx="2651760" cy="777240"/>
          </a:xfrm>
          <a:prstGeom prst="rect">
            <a:avLst/>
          </a:prstGeom>
          <a:noFill/>
          <a:ln/>
        </p:spPr>
        <p:txBody>
          <a:bodyPr wrap="square" lIns="0" tIns="0" rIns="0" bIns="0" rtlCol="0" anchor="ctr"/>
          <a:lstStyle/>
          <a:p>
            <a:pPr marL="0" indent="0">
              <a:buNone/>
            </a:pPr>
            <a:r>
              <a:rPr lang="en-US" sz="1500" dirty="0" err="1">
                <a:solidFill>
                  <a:srgbClr val="2B2F77"/>
                </a:solidFill>
                <a:latin typeface="Calibri" pitchFamily="34" charset="0"/>
                <a:ea typeface="Calibri" pitchFamily="34" charset="-122"/>
                <a:cs typeface="Calibri" pitchFamily="34" charset="-120"/>
              </a:rPr>
              <a:t>Biên</a:t>
            </a:r>
            <a:r>
              <a:rPr lang="en-US" sz="1500" dirty="0">
                <a:solidFill>
                  <a:srgbClr val="2B2F77"/>
                </a:solidFill>
                <a:latin typeface="Calibri" pitchFamily="34" charset="0"/>
                <a:ea typeface="Calibri" pitchFamily="34" charset="-122"/>
                <a:cs typeface="Calibri" pitchFamily="34" charset="-120"/>
              </a:rPr>
              <a:t> </a:t>
            </a:r>
            <a:r>
              <a:rPr lang="en-US" sz="1500" dirty="0" err="1">
                <a:solidFill>
                  <a:srgbClr val="2B2F77"/>
                </a:solidFill>
                <a:latin typeface="Calibri" pitchFamily="34" charset="0"/>
                <a:ea typeface="Calibri" pitchFamily="34" charset="-122"/>
                <a:cs typeface="Calibri" pitchFamily="34" charset="-120"/>
              </a:rPr>
              <a:t>tập</a:t>
            </a:r>
            <a:r>
              <a:rPr lang="en-US" sz="1500" dirty="0">
                <a:solidFill>
                  <a:srgbClr val="2B2F77"/>
                </a:solidFill>
                <a:latin typeface="Calibri" pitchFamily="34" charset="0"/>
                <a:ea typeface="Calibri" pitchFamily="34" charset="-122"/>
                <a:cs typeface="Calibri" pitchFamily="34" charset="-120"/>
              </a:rPr>
              <a:t> </a:t>
            </a:r>
            <a:r>
              <a:rPr lang="en-US" sz="1500" dirty="0" err="1">
                <a:solidFill>
                  <a:srgbClr val="2B2F77"/>
                </a:solidFill>
                <a:latin typeface="Calibri" pitchFamily="34" charset="0"/>
                <a:ea typeface="Calibri" pitchFamily="34" charset="-122"/>
                <a:cs typeface="Calibri" pitchFamily="34" charset="-120"/>
              </a:rPr>
              <a:t>bản</a:t>
            </a:r>
            <a:r>
              <a:rPr lang="en-US" sz="1500" dirty="0">
                <a:solidFill>
                  <a:srgbClr val="2B2F77"/>
                </a:solidFill>
                <a:latin typeface="Calibri" pitchFamily="34" charset="0"/>
                <a:ea typeface="Calibri" pitchFamily="34" charset="-122"/>
                <a:cs typeface="Calibri" pitchFamily="34" charset="-120"/>
              </a:rPr>
              <a:t> </a:t>
            </a:r>
            <a:r>
              <a:rPr lang="en-US" sz="1500" dirty="0" err="1">
                <a:solidFill>
                  <a:srgbClr val="2B2F77"/>
                </a:solidFill>
                <a:latin typeface="Calibri" pitchFamily="34" charset="0"/>
                <a:ea typeface="Calibri" pitchFamily="34" charset="-122"/>
                <a:cs typeface="Calibri" pitchFamily="34" charset="-120"/>
              </a:rPr>
              <a:t>thảo</a:t>
            </a:r>
            <a:r>
              <a:rPr lang="en-US" sz="1500" dirty="0">
                <a:solidFill>
                  <a:srgbClr val="2B2F77"/>
                </a:solidFill>
                <a:latin typeface="Calibri" pitchFamily="34" charset="0"/>
                <a:ea typeface="Calibri" pitchFamily="34" charset="-122"/>
                <a:cs typeface="Calibri" pitchFamily="34" charset="-120"/>
              </a:rPr>
              <a:t>, </a:t>
            </a:r>
          </a:p>
          <a:p>
            <a:pPr marL="0" indent="0">
              <a:buNone/>
            </a:pPr>
            <a:r>
              <a:rPr lang="en-US" sz="1500" dirty="0" err="1">
                <a:solidFill>
                  <a:srgbClr val="2B2F77"/>
                </a:solidFill>
                <a:latin typeface="Calibri" pitchFamily="34" charset="0"/>
                <a:ea typeface="Calibri" pitchFamily="34" charset="-122"/>
                <a:cs typeface="Calibri" pitchFamily="34" charset="-120"/>
              </a:rPr>
              <a:t>cấp</a:t>
            </a:r>
            <a:r>
              <a:rPr lang="en-US" sz="1500" dirty="0">
                <a:solidFill>
                  <a:srgbClr val="2B2F77"/>
                </a:solidFill>
                <a:latin typeface="Calibri" pitchFamily="34" charset="0"/>
                <a:ea typeface="Calibri" pitchFamily="34" charset="-122"/>
                <a:cs typeface="Calibri" pitchFamily="34" charset="-120"/>
              </a:rPr>
              <a:t> DOI</a:t>
            </a:r>
            <a:endParaRPr lang="en-US" sz="1500" dirty="0"/>
          </a:p>
          <a:p>
            <a:pPr marL="0" indent="0">
              <a:buNone/>
            </a:pPr>
            <a:r>
              <a:rPr lang="en-US" sz="1500" dirty="0">
                <a:solidFill>
                  <a:srgbClr val="2B2F77"/>
                </a:solidFill>
                <a:latin typeface="Calibri" pitchFamily="34" charset="0"/>
                <a:ea typeface="Calibri" pitchFamily="34" charset="-122"/>
                <a:cs typeface="Calibri" pitchFamily="34" charset="-120"/>
              </a:rPr>
              <a:t>Xuất bản online</a:t>
            </a:r>
            <a:endParaRPr lang="en-US" sz="1500" dirty="0"/>
          </a:p>
        </p:txBody>
      </p:sp>
      <p:sp>
        <p:nvSpPr>
          <p:cNvPr id="56" name="Shape 54"/>
          <p:cNvSpPr/>
          <p:nvPr/>
        </p:nvSpPr>
        <p:spPr>
          <a:xfrm>
            <a:off x="8138160" y="3611880"/>
            <a:ext cx="822960" cy="868680"/>
          </a:xfrm>
          <a:prstGeom prst="rect">
            <a:avLst/>
          </a:prstGeom>
          <a:solidFill>
            <a:srgbClr val="2D5016"/>
          </a:solidFill>
          <a:ln w="12700">
            <a:solidFill>
              <a:srgbClr val="2D5016"/>
            </a:solidFill>
            <a:prstDash val="solid"/>
          </a:ln>
        </p:spPr>
      </p:sp>
      <p:sp>
        <p:nvSpPr>
          <p:cNvPr id="57" name="Text 55"/>
          <p:cNvSpPr/>
          <p:nvPr/>
        </p:nvSpPr>
        <p:spPr>
          <a:xfrm>
            <a:off x="8138160" y="3648456"/>
            <a:ext cx="822960" cy="7955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~2 tuần</a:t>
            </a:r>
            <a:endParaRPr lang="en-US" sz="1300" dirty="0"/>
          </a:p>
        </p:txBody>
      </p:sp>
      <p:sp>
        <p:nvSpPr>
          <p:cNvPr id="58" name="Shape 56"/>
          <p:cNvSpPr/>
          <p:nvPr/>
        </p:nvSpPr>
        <p:spPr>
          <a:xfrm>
            <a:off x="2011680" y="4846320"/>
            <a:ext cx="7040880" cy="36576"/>
          </a:xfrm>
          <a:prstGeom prst="rect">
            <a:avLst/>
          </a:prstGeom>
          <a:solidFill>
            <a:srgbClr val="F5A623"/>
          </a:solidFill>
          <a:ln w="12700">
            <a:solidFill>
              <a:srgbClr val="F5A623"/>
            </a:solidFill>
            <a:prstDash val="solid"/>
          </a:ln>
        </p:spPr>
      </p:sp>
      <p:pic>
        <p:nvPicPr>
          <p:cNvPr id="59"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60" name="Text 57"/>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61" name="Text 58"/>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2B2F77"/>
          </a:solidFill>
          <a:ln w="12700">
            <a:solidFill>
              <a:srgbClr val="2B2F77"/>
            </a:solidFill>
            <a:prstDash val="solid"/>
          </a:ln>
        </p:spPr>
      </p:sp>
      <p:sp>
        <p:nvSpPr>
          <p:cNvPr id="3" name="Shape 1"/>
          <p:cNvSpPr/>
          <p:nvPr/>
        </p:nvSpPr>
        <p:spPr>
          <a:xfrm>
            <a:off x="0" y="4846320"/>
            <a:ext cx="3200400" cy="297180"/>
          </a:xfrm>
          <a:prstGeom prst="rect">
            <a:avLst/>
          </a:prstGeom>
          <a:solidFill>
            <a:srgbClr val="F5A623"/>
          </a:solidFill>
          <a:ln w="12700">
            <a:solidFill>
              <a:srgbClr val="F5A623"/>
            </a:solidFill>
            <a:prstDash val="solid"/>
          </a:ln>
        </p:spPr>
      </p:sp>
      <p:sp>
        <p:nvSpPr>
          <p:cNvPr id="4" name="Text 2"/>
          <p:cNvSpPr/>
          <p:nvPr/>
        </p:nvSpPr>
        <p:spPr>
          <a:xfrm>
            <a:off x="182880" y="1371600"/>
            <a:ext cx="2743200" cy="914400"/>
          </a:xfrm>
          <a:prstGeom prst="rect">
            <a:avLst/>
          </a:prstGeom>
          <a:noFill/>
          <a:ln/>
        </p:spPr>
        <p:txBody>
          <a:bodyPr wrap="square" lIns="0" tIns="0" rIns="0" bIns="0" rtlCol="0" anchor="ctr"/>
          <a:lstStyle/>
          <a:p>
            <a:pPr marL="0" indent="0" algn="ctr">
              <a:buNone/>
            </a:pPr>
            <a:r>
              <a:rPr lang="en-US" sz="6400" b="1" dirty="0">
                <a:solidFill>
                  <a:srgbClr val="F5A623"/>
                </a:solidFill>
                <a:latin typeface="Calibri" pitchFamily="34" charset="0"/>
                <a:ea typeface="Calibri" pitchFamily="34" charset="-122"/>
                <a:cs typeface="Calibri" pitchFamily="34" charset="-120"/>
              </a:rPr>
              <a:t>05</a:t>
            </a:r>
            <a:endParaRPr lang="en-US" sz="6400" dirty="0"/>
          </a:p>
        </p:txBody>
      </p:sp>
      <p:sp>
        <p:nvSpPr>
          <p:cNvPr id="5" name="Text 3"/>
          <p:cNvSpPr/>
          <p:nvPr/>
        </p:nvSpPr>
        <p:spPr>
          <a:xfrm>
            <a:off x="137160" y="2468880"/>
            <a:ext cx="2926080" cy="1645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Thực hành</a:t>
            </a:r>
            <a:endParaRPr lang="en-US" sz="2400" dirty="0"/>
          </a:p>
          <a:p>
            <a:pPr marL="0" indent="0" algn="ctr">
              <a:buNone/>
            </a:pPr>
            <a:r>
              <a:rPr lang="en-US" sz="2400" b="1" dirty="0">
                <a:solidFill>
                  <a:srgbClr val="FFFFFF"/>
                </a:solidFill>
                <a:latin typeface="Calibri" pitchFamily="34" charset="0"/>
                <a:ea typeface="Calibri" pitchFamily="34" charset="-122"/>
                <a:cs typeface="Calibri" pitchFamily="34" charset="-120"/>
              </a:rPr>
              <a:t>Xây dựng</a:t>
            </a:r>
            <a:endParaRPr lang="en-US" sz="2400" dirty="0"/>
          </a:p>
          <a:p>
            <a:pPr marL="0" indent="0" algn="ctr">
              <a:buNone/>
            </a:pPr>
            <a:r>
              <a:rPr lang="en-US" sz="2400" b="1" dirty="0">
                <a:solidFill>
                  <a:srgbClr val="FFFFFF"/>
                </a:solidFill>
                <a:latin typeface="Calibri" pitchFamily="34" charset="0"/>
                <a:ea typeface="Calibri" pitchFamily="34" charset="-122"/>
                <a:cs typeface="Calibri" pitchFamily="34" charset="-120"/>
              </a:rPr>
              <a:t>khung bài báo</a:t>
            </a:r>
            <a:endParaRPr lang="en-US" sz="2400" dirty="0"/>
          </a:p>
        </p:txBody>
      </p:sp>
      <p:sp>
        <p:nvSpPr>
          <p:cNvPr id="6" name="Text 4"/>
          <p:cNvSpPr/>
          <p:nvPr/>
        </p:nvSpPr>
        <p:spPr>
          <a:xfrm>
            <a:off x="3474720" y="2011680"/>
            <a:ext cx="5303520" cy="914400"/>
          </a:xfrm>
          <a:prstGeom prst="rect">
            <a:avLst/>
          </a:prstGeom>
          <a:noFill/>
          <a:ln/>
        </p:spPr>
        <p:txBody>
          <a:bodyPr wrap="square" lIns="0" tIns="0" rIns="0" bIns="0" rtlCol="0" anchor="ctr"/>
          <a:lstStyle/>
          <a:p>
            <a:pPr marL="0" indent="0" algn="l">
              <a:buNone/>
            </a:pPr>
            <a:r>
              <a:rPr lang="en-US" sz="2000" dirty="0">
                <a:solidFill>
                  <a:srgbClr val="2B2F77"/>
                </a:solidFill>
                <a:latin typeface="Calibri" pitchFamily="34" charset="0"/>
                <a:ea typeface="Calibri" pitchFamily="34" charset="-122"/>
                <a:cs typeface="Calibri" pitchFamily="34" charset="-120"/>
              </a:rPr>
              <a:t>35 phút — Làm việc cá nhân</a:t>
            </a:r>
            <a:endParaRPr lang="en-US" sz="2000" dirty="0"/>
          </a:p>
        </p:txBody>
      </p:sp>
      <p:sp>
        <p:nvSpPr>
          <p:cNvPr id="7" name="Text 5"/>
          <p:cNvSpPr/>
          <p:nvPr/>
        </p:nvSpPr>
        <p:spPr>
          <a:xfrm>
            <a:off x="3474720" y="4846320"/>
            <a:ext cx="5303520" cy="228600"/>
          </a:xfrm>
          <a:prstGeom prst="rect">
            <a:avLst/>
          </a:prstGeom>
          <a:noFill/>
          <a:ln/>
        </p:spPr>
        <p:txBody>
          <a:bodyPr wrap="square" lIns="0" tIns="0" rIns="0" bIns="0" rtlCol="0" anchor="ctr"/>
          <a:lstStyle/>
          <a:p>
            <a:pPr marL="0" indent="0" algn="r">
              <a:buNone/>
            </a:pPr>
            <a:r>
              <a:rPr lang="en-US" sz="1100" dirty="0">
                <a:solidFill>
                  <a:srgbClr val="CCCCCC"/>
                </a:solidFill>
                <a:latin typeface="Calibri" pitchFamily="34" charset="0"/>
                <a:ea typeface="Calibri" pitchFamily="34" charset="-122"/>
                <a:cs typeface="Calibri" pitchFamily="34" charset="-120"/>
              </a:rPr>
              <a:t>jstt.vn</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Hướng dẫn thực hành — 5 bước xây dựng khung bài báo</a:t>
            </a:r>
            <a:endParaRPr lang="en-US" sz="2600" dirty="0"/>
          </a:p>
        </p:txBody>
      </p:sp>
      <p:sp>
        <p:nvSpPr>
          <p:cNvPr id="10" name="Shape 8"/>
          <p:cNvSpPr/>
          <p:nvPr/>
        </p:nvSpPr>
        <p:spPr>
          <a:xfrm>
            <a:off x="274320" y="1572768"/>
            <a:ext cx="502920" cy="530352"/>
          </a:xfrm>
          <a:prstGeom prst="rect">
            <a:avLst/>
          </a:prstGeom>
          <a:solidFill>
            <a:srgbClr val="2B2F77"/>
          </a:solidFill>
          <a:ln w="12700">
            <a:solidFill>
              <a:srgbClr val="2B2F77"/>
            </a:solidFill>
            <a:prstDash val="solid"/>
          </a:ln>
        </p:spPr>
      </p:sp>
      <p:sp>
        <p:nvSpPr>
          <p:cNvPr id="11" name="Text 9"/>
          <p:cNvSpPr/>
          <p:nvPr/>
        </p:nvSpPr>
        <p:spPr>
          <a:xfrm>
            <a:off x="274320" y="1572768"/>
            <a:ext cx="502920"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2" name="Shape 10"/>
          <p:cNvSpPr/>
          <p:nvPr/>
        </p:nvSpPr>
        <p:spPr>
          <a:xfrm>
            <a:off x="822960" y="1572768"/>
            <a:ext cx="1920240" cy="530352"/>
          </a:xfrm>
          <a:prstGeom prst="rect">
            <a:avLst/>
          </a:prstGeom>
          <a:solidFill>
            <a:srgbClr val="2B2F77"/>
          </a:solidFill>
          <a:ln w="12700">
            <a:solidFill>
              <a:srgbClr val="2B2F77"/>
            </a:solidFill>
            <a:prstDash val="solid"/>
          </a:ln>
        </p:spPr>
      </p:sp>
      <p:sp>
        <p:nvSpPr>
          <p:cNvPr id="13" name="Text 11"/>
          <p:cNvSpPr/>
          <p:nvPr/>
        </p:nvSpPr>
        <p:spPr>
          <a:xfrm>
            <a:off x="868680" y="1572768"/>
            <a:ext cx="1828800" cy="53035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Câu Thesis (5 phút)</a:t>
            </a:r>
            <a:endParaRPr lang="en-US" sz="1700" dirty="0"/>
          </a:p>
        </p:txBody>
      </p:sp>
      <p:sp>
        <p:nvSpPr>
          <p:cNvPr id="14" name="Shape 12"/>
          <p:cNvSpPr/>
          <p:nvPr/>
        </p:nvSpPr>
        <p:spPr>
          <a:xfrm>
            <a:off x="2788920" y="1572768"/>
            <a:ext cx="6080760" cy="530352"/>
          </a:xfrm>
          <a:prstGeom prst="rect">
            <a:avLst/>
          </a:prstGeom>
          <a:solidFill>
            <a:srgbClr val="F8FBFF"/>
          </a:solidFill>
          <a:ln w="6350">
            <a:solidFill>
              <a:srgbClr val="CCCCCC"/>
            </a:solidFill>
            <a:prstDash val="solid"/>
          </a:ln>
        </p:spPr>
      </p:sp>
      <p:sp>
        <p:nvSpPr>
          <p:cNvPr id="15" name="Text 13"/>
          <p:cNvSpPr/>
          <p:nvPr/>
        </p:nvSpPr>
        <p:spPr>
          <a:xfrm>
            <a:off x="2880360" y="1618488"/>
            <a:ext cx="5897880" cy="438912"/>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Viết 1 câu:</a:t>
            </a:r>
            <a:endParaRPr lang="en-US" sz="1600" dirty="0"/>
          </a:p>
          <a:p>
            <a:pPr marL="0" indent="0">
              <a:buNone/>
            </a:pPr>
            <a:r>
              <a:rPr lang="en-US" sz="1600" dirty="0">
                <a:solidFill>
                  <a:srgbClr val="2B2F77"/>
                </a:solidFill>
                <a:latin typeface="Calibri" pitchFamily="34" charset="0"/>
                <a:ea typeface="Calibri" pitchFamily="34" charset="-122"/>
                <a:cs typeface="Calibri" pitchFamily="34" charset="-120"/>
              </a:rPr>
              <a:t>'Bài báo này chứng minh / đề xuất / đánh giá rằng...'</a:t>
            </a:r>
            <a:endParaRPr lang="en-US" sz="1600" dirty="0"/>
          </a:p>
        </p:txBody>
      </p:sp>
      <p:sp>
        <p:nvSpPr>
          <p:cNvPr id="16" name="Shape 14"/>
          <p:cNvSpPr/>
          <p:nvPr/>
        </p:nvSpPr>
        <p:spPr>
          <a:xfrm>
            <a:off x="274320" y="2194560"/>
            <a:ext cx="502920" cy="530352"/>
          </a:xfrm>
          <a:prstGeom prst="rect">
            <a:avLst/>
          </a:prstGeom>
          <a:solidFill>
            <a:srgbClr val="1A7BC1"/>
          </a:solidFill>
          <a:ln w="12700">
            <a:solidFill>
              <a:srgbClr val="1A7BC1"/>
            </a:solidFill>
            <a:prstDash val="solid"/>
          </a:ln>
        </p:spPr>
      </p:sp>
      <p:sp>
        <p:nvSpPr>
          <p:cNvPr id="17" name="Text 15"/>
          <p:cNvSpPr/>
          <p:nvPr/>
        </p:nvSpPr>
        <p:spPr>
          <a:xfrm>
            <a:off x="274320" y="2194560"/>
            <a:ext cx="502920"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8" name="Shape 16"/>
          <p:cNvSpPr/>
          <p:nvPr/>
        </p:nvSpPr>
        <p:spPr>
          <a:xfrm>
            <a:off x="822960" y="2194560"/>
            <a:ext cx="1920240" cy="530352"/>
          </a:xfrm>
          <a:prstGeom prst="rect">
            <a:avLst/>
          </a:prstGeom>
          <a:solidFill>
            <a:srgbClr val="1A7BC1"/>
          </a:solidFill>
          <a:ln w="12700">
            <a:solidFill>
              <a:srgbClr val="1A7BC1"/>
            </a:solidFill>
            <a:prstDash val="solid"/>
          </a:ln>
        </p:spPr>
      </p:sp>
      <p:sp>
        <p:nvSpPr>
          <p:cNvPr id="19" name="Text 17"/>
          <p:cNvSpPr/>
          <p:nvPr/>
        </p:nvSpPr>
        <p:spPr>
          <a:xfrm>
            <a:off x="868680" y="2194560"/>
            <a:ext cx="1828800" cy="53035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Tiêu đề (5 phút)</a:t>
            </a:r>
            <a:endParaRPr lang="en-US" sz="1700" dirty="0"/>
          </a:p>
        </p:txBody>
      </p:sp>
      <p:sp>
        <p:nvSpPr>
          <p:cNvPr id="20" name="Shape 18"/>
          <p:cNvSpPr/>
          <p:nvPr/>
        </p:nvSpPr>
        <p:spPr>
          <a:xfrm>
            <a:off x="2788920" y="2194560"/>
            <a:ext cx="6080760" cy="530352"/>
          </a:xfrm>
          <a:prstGeom prst="rect">
            <a:avLst/>
          </a:prstGeom>
          <a:solidFill>
            <a:srgbClr val="FFFFFF"/>
          </a:solidFill>
          <a:ln w="6350">
            <a:solidFill>
              <a:srgbClr val="CCCCCC"/>
            </a:solidFill>
            <a:prstDash val="solid"/>
          </a:ln>
        </p:spPr>
      </p:sp>
      <p:sp>
        <p:nvSpPr>
          <p:cNvPr id="21" name="Text 19"/>
          <p:cNvSpPr/>
          <p:nvPr/>
        </p:nvSpPr>
        <p:spPr>
          <a:xfrm>
            <a:off x="2880360" y="2240280"/>
            <a:ext cx="5897880" cy="438912"/>
          </a:xfrm>
          <a:prstGeom prst="rect">
            <a:avLst/>
          </a:prstGeom>
          <a:noFill/>
          <a:ln/>
        </p:spPr>
        <p:txBody>
          <a:bodyPr wrap="square" lIns="0" tIns="0" rIns="0" bIns="0" rtlCol="0" anchor="ctr"/>
          <a:lstStyle/>
          <a:p>
            <a:pPr marL="0" indent="0">
              <a:buNone/>
            </a:pPr>
            <a:r>
              <a:rPr lang="en-US" sz="1600" dirty="0" err="1">
                <a:solidFill>
                  <a:srgbClr val="2B2F77"/>
                </a:solidFill>
                <a:latin typeface="Calibri" pitchFamily="34" charset="0"/>
                <a:ea typeface="Calibri" pitchFamily="34" charset="-122"/>
                <a:cs typeface="Calibri" pitchFamily="34" charset="-120"/>
              </a:rPr>
              <a:t>Viết</a:t>
            </a:r>
            <a:r>
              <a:rPr lang="en-US" sz="1600" dirty="0">
                <a:solidFill>
                  <a:srgbClr val="2B2F77"/>
                </a:solidFill>
                <a:latin typeface="Calibri" pitchFamily="34" charset="0"/>
                <a:ea typeface="Calibri" pitchFamily="34" charset="-122"/>
                <a:cs typeface="Calibri" pitchFamily="34" charset="-120"/>
              </a:rPr>
              <a:t> </a:t>
            </a:r>
            <a:r>
              <a:rPr lang="en-US" sz="1600" dirty="0" err="1">
                <a:solidFill>
                  <a:srgbClr val="2B2F77"/>
                </a:solidFill>
                <a:latin typeface="Calibri" pitchFamily="34" charset="0"/>
                <a:ea typeface="Calibri" pitchFamily="34" charset="-122"/>
                <a:cs typeface="Calibri" pitchFamily="34" charset="-120"/>
              </a:rPr>
              <a:t>tiêu</a:t>
            </a:r>
            <a:r>
              <a:rPr lang="en-US" sz="1600" dirty="0">
                <a:solidFill>
                  <a:srgbClr val="2B2F77"/>
                </a:solidFill>
                <a:latin typeface="Calibri" pitchFamily="34" charset="0"/>
                <a:ea typeface="Calibri" pitchFamily="34" charset="-122"/>
                <a:cs typeface="Calibri" pitchFamily="34" charset="-120"/>
              </a:rPr>
              <a:t> đề 10–15 từ</a:t>
            </a:r>
            <a:endParaRPr lang="en-US" sz="1600" dirty="0"/>
          </a:p>
          <a:p>
            <a:pPr marL="0" indent="0">
              <a:buNone/>
            </a:pPr>
            <a:r>
              <a:rPr lang="en-US" sz="1600" dirty="0">
                <a:solidFill>
                  <a:srgbClr val="2B2F77"/>
                </a:solidFill>
                <a:latin typeface="Calibri" pitchFamily="34" charset="0"/>
                <a:ea typeface="Calibri" pitchFamily="34" charset="-122"/>
                <a:cs typeface="Calibri" pitchFamily="34" charset="-120"/>
              </a:rPr>
              <a:t>Áp dụng công thức: [PP/Đối tượng] + [Hiện tượng] + [Bối cảnh]</a:t>
            </a:r>
            <a:endParaRPr lang="en-US" sz="1600" dirty="0"/>
          </a:p>
        </p:txBody>
      </p:sp>
      <p:sp>
        <p:nvSpPr>
          <p:cNvPr id="22" name="Shape 20"/>
          <p:cNvSpPr/>
          <p:nvPr/>
        </p:nvSpPr>
        <p:spPr>
          <a:xfrm>
            <a:off x="274320" y="2816352"/>
            <a:ext cx="502920" cy="530352"/>
          </a:xfrm>
          <a:prstGeom prst="rect">
            <a:avLst/>
          </a:prstGeom>
          <a:solidFill>
            <a:srgbClr val="F5A623"/>
          </a:solidFill>
          <a:ln w="12700">
            <a:solidFill>
              <a:srgbClr val="F5A623"/>
            </a:solidFill>
            <a:prstDash val="solid"/>
          </a:ln>
        </p:spPr>
      </p:sp>
      <p:sp>
        <p:nvSpPr>
          <p:cNvPr id="23" name="Text 21"/>
          <p:cNvSpPr/>
          <p:nvPr/>
        </p:nvSpPr>
        <p:spPr>
          <a:xfrm>
            <a:off x="274320" y="2816352"/>
            <a:ext cx="502920"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Shape 22"/>
          <p:cNvSpPr/>
          <p:nvPr/>
        </p:nvSpPr>
        <p:spPr>
          <a:xfrm>
            <a:off x="822960" y="2816352"/>
            <a:ext cx="1920240" cy="530352"/>
          </a:xfrm>
          <a:prstGeom prst="rect">
            <a:avLst/>
          </a:prstGeom>
          <a:solidFill>
            <a:srgbClr val="F5A623"/>
          </a:solidFill>
          <a:ln w="12700">
            <a:solidFill>
              <a:srgbClr val="F5A623"/>
            </a:solidFill>
            <a:prstDash val="solid"/>
          </a:ln>
        </p:spPr>
      </p:sp>
      <p:sp>
        <p:nvSpPr>
          <p:cNvPr id="25" name="Text 23"/>
          <p:cNvSpPr/>
          <p:nvPr/>
        </p:nvSpPr>
        <p:spPr>
          <a:xfrm>
            <a:off x="868680" y="2816352"/>
            <a:ext cx="1828800" cy="530352"/>
          </a:xfrm>
          <a:prstGeom prst="rect">
            <a:avLst/>
          </a:prstGeom>
          <a:noFill/>
          <a:ln/>
        </p:spPr>
        <p:txBody>
          <a:bodyPr wrap="square" lIns="0" tIns="0" rIns="0" bIns="0" rtlCol="0" anchor="ctr"/>
          <a:lstStyle/>
          <a:p>
            <a:pPr marL="0" indent="0">
              <a:buNone/>
            </a:pPr>
            <a:r>
              <a:rPr lang="en-US" sz="1700" b="1" dirty="0" err="1">
                <a:solidFill>
                  <a:srgbClr val="FFFFFF"/>
                </a:solidFill>
                <a:latin typeface="Calibri" pitchFamily="34" charset="0"/>
                <a:ea typeface="Calibri" pitchFamily="34" charset="-122"/>
                <a:cs typeface="Calibri" pitchFamily="34" charset="-120"/>
              </a:rPr>
              <a:t>Tóm</a:t>
            </a:r>
            <a:r>
              <a:rPr lang="en-US" sz="1700" b="1" dirty="0">
                <a:solidFill>
                  <a:srgbClr val="FFFFFF"/>
                </a:solidFill>
                <a:latin typeface="Calibri" pitchFamily="34" charset="0"/>
                <a:ea typeface="Calibri" pitchFamily="34" charset="-122"/>
                <a:cs typeface="Calibri" pitchFamily="34" charset="-120"/>
              </a:rPr>
              <a:t> </a:t>
            </a:r>
            <a:r>
              <a:rPr lang="en-US" sz="1700" b="1" dirty="0" err="1">
                <a:solidFill>
                  <a:srgbClr val="FFFFFF"/>
                </a:solidFill>
                <a:latin typeface="Calibri" pitchFamily="34" charset="0"/>
                <a:ea typeface="Calibri" pitchFamily="34" charset="-122"/>
                <a:cs typeface="Calibri" pitchFamily="34" charset="-120"/>
              </a:rPr>
              <a:t>tắt</a:t>
            </a:r>
            <a:r>
              <a:rPr lang="en-US" sz="1700" b="1" dirty="0">
                <a:solidFill>
                  <a:srgbClr val="FFFFFF"/>
                </a:solidFill>
                <a:latin typeface="Calibri" pitchFamily="34" charset="0"/>
                <a:ea typeface="Calibri" pitchFamily="34" charset="-122"/>
                <a:cs typeface="Calibri" pitchFamily="34" charset="-120"/>
              </a:rPr>
              <a:t> 5 câu (10 phút)</a:t>
            </a:r>
            <a:endParaRPr lang="en-US" sz="1700" dirty="0"/>
          </a:p>
        </p:txBody>
      </p:sp>
      <p:sp>
        <p:nvSpPr>
          <p:cNvPr id="26" name="Shape 24"/>
          <p:cNvSpPr/>
          <p:nvPr/>
        </p:nvSpPr>
        <p:spPr>
          <a:xfrm>
            <a:off x="2788920" y="2816352"/>
            <a:ext cx="6080760" cy="530352"/>
          </a:xfrm>
          <a:prstGeom prst="rect">
            <a:avLst/>
          </a:prstGeom>
          <a:solidFill>
            <a:srgbClr val="F8FBFF"/>
          </a:solidFill>
          <a:ln w="6350">
            <a:solidFill>
              <a:srgbClr val="CCCCCC"/>
            </a:solidFill>
            <a:prstDash val="solid"/>
          </a:ln>
        </p:spPr>
      </p:sp>
      <p:sp>
        <p:nvSpPr>
          <p:cNvPr id="27" name="Text 25"/>
          <p:cNvSpPr/>
          <p:nvPr/>
        </p:nvSpPr>
        <p:spPr>
          <a:xfrm>
            <a:off x="2880360" y="2862072"/>
            <a:ext cx="5897880" cy="438912"/>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Viết 5 câu theo công thức:</a:t>
            </a:r>
            <a:endParaRPr lang="en-US" sz="1600" dirty="0"/>
          </a:p>
          <a:p>
            <a:pPr marL="0" indent="0">
              <a:buNone/>
            </a:pPr>
            <a:r>
              <a:rPr lang="en-US" sz="1600" dirty="0">
                <a:solidFill>
                  <a:srgbClr val="2B2F77"/>
                </a:solidFill>
                <a:latin typeface="Calibri" pitchFamily="34" charset="0"/>
                <a:ea typeface="Calibri" pitchFamily="34" charset="-122"/>
                <a:cs typeface="Calibri" pitchFamily="34" charset="-120"/>
              </a:rPr>
              <a:t>Bối cảnh → Khoảng trống → Mục tiêu → PP+Kết quả → Ý nghĩa</a:t>
            </a:r>
            <a:endParaRPr lang="en-US" sz="1600" dirty="0"/>
          </a:p>
        </p:txBody>
      </p:sp>
      <p:sp>
        <p:nvSpPr>
          <p:cNvPr id="28" name="Shape 26"/>
          <p:cNvSpPr/>
          <p:nvPr/>
        </p:nvSpPr>
        <p:spPr>
          <a:xfrm>
            <a:off x="274320" y="3438144"/>
            <a:ext cx="502920" cy="530352"/>
          </a:xfrm>
          <a:prstGeom prst="rect">
            <a:avLst/>
          </a:prstGeom>
          <a:solidFill>
            <a:srgbClr val="1A9B5F"/>
          </a:solidFill>
          <a:ln w="12700">
            <a:solidFill>
              <a:srgbClr val="1A9B5F"/>
            </a:solidFill>
            <a:prstDash val="solid"/>
          </a:ln>
        </p:spPr>
      </p:sp>
      <p:sp>
        <p:nvSpPr>
          <p:cNvPr id="29" name="Text 27"/>
          <p:cNvSpPr/>
          <p:nvPr/>
        </p:nvSpPr>
        <p:spPr>
          <a:xfrm>
            <a:off x="274320" y="3438144"/>
            <a:ext cx="502920"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0" name="Shape 28"/>
          <p:cNvSpPr/>
          <p:nvPr/>
        </p:nvSpPr>
        <p:spPr>
          <a:xfrm>
            <a:off x="822960" y="3438144"/>
            <a:ext cx="1920240" cy="530352"/>
          </a:xfrm>
          <a:prstGeom prst="rect">
            <a:avLst/>
          </a:prstGeom>
          <a:solidFill>
            <a:srgbClr val="1A9B5F"/>
          </a:solidFill>
          <a:ln w="12700">
            <a:solidFill>
              <a:srgbClr val="1A9B5F"/>
            </a:solidFill>
            <a:prstDash val="solid"/>
          </a:ln>
        </p:spPr>
      </p:sp>
      <p:sp>
        <p:nvSpPr>
          <p:cNvPr id="31" name="Text 29"/>
          <p:cNvSpPr/>
          <p:nvPr/>
        </p:nvSpPr>
        <p:spPr>
          <a:xfrm>
            <a:off x="868680" y="3438144"/>
            <a:ext cx="1828800" cy="53035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Từ khóa (5 phút)</a:t>
            </a:r>
            <a:endParaRPr lang="en-US" sz="1700" dirty="0"/>
          </a:p>
        </p:txBody>
      </p:sp>
      <p:sp>
        <p:nvSpPr>
          <p:cNvPr id="32" name="Shape 30"/>
          <p:cNvSpPr/>
          <p:nvPr/>
        </p:nvSpPr>
        <p:spPr>
          <a:xfrm>
            <a:off x="2788920" y="3438144"/>
            <a:ext cx="6080760" cy="530352"/>
          </a:xfrm>
          <a:prstGeom prst="rect">
            <a:avLst/>
          </a:prstGeom>
          <a:solidFill>
            <a:srgbClr val="FFFFFF"/>
          </a:solidFill>
          <a:ln w="6350">
            <a:solidFill>
              <a:srgbClr val="CCCCCC"/>
            </a:solidFill>
            <a:prstDash val="solid"/>
          </a:ln>
        </p:spPr>
      </p:sp>
      <p:sp>
        <p:nvSpPr>
          <p:cNvPr id="33" name="Text 31"/>
          <p:cNvSpPr/>
          <p:nvPr/>
        </p:nvSpPr>
        <p:spPr>
          <a:xfrm>
            <a:off x="2880360" y="3483864"/>
            <a:ext cx="5897880" cy="438912"/>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Chọn 5–7 từ khóa</a:t>
            </a:r>
            <a:endParaRPr lang="en-US" sz="1600" dirty="0"/>
          </a:p>
          <a:p>
            <a:pPr marL="0" indent="0">
              <a:buNone/>
            </a:pPr>
            <a:r>
              <a:rPr lang="en-US" sz="1600" dirty="0">
                <a:solidFill>
                  <a:srgbClr val="2B2F77"/>
                </a:solidFill>
                <a:latin typeface="Calibri" pitchFamily="34" charset="0"/>
                <a:ea typeface="Calibri" pitchFamily="34" charset="-122"/>
                <a:cs typeface="Calibri" pitchFamily="34" charset="-120"/>
              </a:rPr>
              <a:t>Không trùng tiêu đề</a:t>
            </a:r>
            <a:endParaRPr lang="en-US" sz="1600" dirty="0"/>
          </a:p>
          <a:p>
            <a:pPr marL="0" indent="0">
              <a:buNone/>
            </a:pPr>
            <a:r>
              <a:rPr lang="en-US" sz="1600" dirty="0">
                <a:solidFill>
                  <a:srgbClr val="2B2F77"/>
                </a:solidFill>
                <a:latin typeface="Calibri" pitchFamily="34" charset="0"/>
                <a:ea typeface="Calibri" pitchFamily="34" charset="-122"/>
                <a:cs typeface="Calibri" pitchFamily="34" charset="-120"/>
              </a:rPr>
              <a:t>Kiểm tra thử trên Google Scholar</a:t>
            </a:r>
            <a:endParaRPr lang="en-US" sz="1600" dirty="0"/>
          </a:p>
        </p:txBody>
      </p:sp>
      <p:sp>
        <p:nvSpPr>
          <p:cNvPr id="34" name="Shape 32"/>
          <p:cNvSpPr/>
          <p:nvPr/>
        </p:nvSpPr>
        <p:spPr>
          <a:xfrm>
            <a:off x="274320" y="4059936"/>
            <a:ext cx="502920" cy="530352"/>
          </a:xfrm>
          <a:prstGeom prst="rect">
            <a:avLst/>
          </a:prstGeom>
          <a:solidFill>
            <a:srgbClr val="8B1A1A"/>
          </a:solidFill>
          <a:ln w="12700">
            <a:solidFill>
              <a:srgbClr val="8B1A1A"/>
            </a:solidFill>
            <a:prstDash val="solid"/>
          </a:ln>
        </p:spPr>
      </p:sp>
      <p:sp>
        <p:nvSpPr>
          <p:cNvPr id="35" name="Text 33"/>
          <p:cNvSpPr/>
          <p:nvPr/>
        </p:nvSpPr>
        <p:spPr>
          <a:xfrm>
            <a:off x="274320" y="4059936"/>
            <a:ext cx="502920"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6" name="Shape 34"/>
          <p:cNvSpPr/>
          <p:nvPr/>
        </p:nvSpPr>
        <p:spPr>
          <a:xfrm>
            <a:off x="822960" y="4059936"/>
            <a:ext cx="1920240" cy="530352"/>
          </a:xfrm>
          <a:prstGeom prst="rect">
            <a:avLst/>
          </a:prstGeom>
          <a:solidFill>
            <a:srgbClr val="8B1A1A"/>
          </a:solidFill>
          <a:ln w="12700">
            <a:solidFill>
              <a:srgbClr val="8B1A1A"/>
            </a:solidFill>
            <a:prstDash val="solid"/>
          </a:ln>
        </p:spPr>
      </p:sp>
      <p:sp>
        <p:nvSpPr>
          <p:cNvPr id="37" name="Text 35"/>
          <p:cNvSpPr/>
          <p:nvPr/>
        </p:nvSpPr>
        <p:spPr>
          <a:xfrm>
            <a:off x="868680" y="4059936"/>
            <a:ext cx="1828800" cy="53035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Khung đầy đủ (10 phút)</a:t>
            </a:r>
            <a:endParaRPr lang="en-US" sz="1700" dirty="0"/>
          </a:p>
        </p:txBody>
      </p:sp>
      <p:sp>
        <p:nvSpPr>
          <p:cNvPr id="38" name="Shape 36"/>
          <p:cNvSpPr/>
          <p:nvPr/>
        </p:nvSpPr>
        <p:spPr>
          <a:xfrm>
            <a:off x="2788920" y="4059936"/>
            <a:ext cx="6080760" cy="530352"/>
          </a:xfrm>
          <a:prstGeom prst="rect">
            <a:avLst/>
          </a:prstGeom>
          <a:solidFill>
            <a:srgbClr val="F8FBFF"/>
          </a:solidFill>
          <a:ln w="6350">
            <a:solidFill>
              <a:srgbClr val="CCCCCC"/>
            </a:solidFill>
            <a:prstDash val="solid"/>
          </a:ln>
        </p:spPr>
      </p:sp>
      <p:sp>
        <p:nvSpPr>
          <p:cNvPr id="39" name="Text 37"/>
          <p:cNvSpPr/>
          <p:nvPr/>
        </p:nvSpPr>
        <p:spPr>
          <a:xfrm>
            <a:off x="2880360" y="4105656"/>
            <a:ext cx="5897880" cy="438912"/>
          </a:xfrm>
          <a:prstGeom prst="rect">
            <a:avLst/>
          </a:prstGeom>
          <a:noFill/>
          <a:ln/>
        </p:spPr>
        <p:txBody>
          <a:bodyPr wrap="squar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Điền đầy đủ vào mẫu biểu:</a:t>
            </a:r>
            <a:endParaRPr lang="en-US" sz="1600" dirty="0"/>
          </a:p>
          <a:p>
            <a:pPr marL="0" indent="0">
              <a:buNone/>
            </a:pPr>
            <a:r>
              <a:rPr lang="en-US" sz="1600" dirty="0">
                <a:solidFill>
                  <a:srgbClr val="2B2F77"/>
                </a:solidFill>
                <a:latin typeface="Calibri" pitchFamily="34" charset="0"/>
                <a:ea typeface="Calibri" pitchFamily="34" charset="-122"/>
                <a:cs typeface="Calibri" pitchFamily="34" charset="-120"/>
              </a:rPr>
              <a:t>Giới thiệu / Phương pháp / Kết quả / Đóng góp mới</a:t>
            </a:r>
            <a:endParaRPr lang="en-US" sz="1600" dirty="0"/>
          </a:p>
        </p:txBody>
      </p:sp>
      <p:sp>
        <p:nvSpPr>
          <p:cNvPr id="40" name="Shape 38"/>
          <p:cNvSpPr/>
          <p:nvPr/>
        </p:nvSpPr>
        <p:spPr>
          <a:xfrm>
            <a:off x="274320" y="4681728"/>
            <a:ext cx="8595360" cy="347472"/>
          </a:xfrm>
          <a:prstGeom prst="rect">
            <a:avLst/>
          </a:prstGeom>
          <a:solidFill>
            <a:srgbClr val="FFF8EE"/>
          </a:solidFill>
          <a:ln w="25400">
            <a:solidFill>
              <a:srgbClr val="F5A623"/>
            </a:solidFill>
            <a:prstDash val="solid"/>
          </a:ln>
        </p:spPr>
      </p:sp>
      <p:sp>
        <p:nvSpPr>
          <p:cNvPr id="41" name="Shape 39"/>
          <p:cNvSpPr/>
          <p:nvPr/>
        </p:nvSpPr>
        <p:spPr>
          <a:xfrm>
            <a:off x="274320" y="4681728"/>
            <a:ext cx="109728" cy="347472"/>
          </a:xfrm>
          <a:prstGeom prst="rect">
            <a:avLst/>
          </a:prstGeom>
          <a:solidFill>
            <a:srgbClr val="F5A623"/>
          </a:solidFill>
          <a:ln w="12700">
            <a:solidFill>
              <a:srgbClr val="F5A623"/>
            </a:solidFill>
            <a:prstDash val="solid"/>
          </a:ln>
        </p:spPr>
      </p:sp>
      <p:sp>
        <p:nvSpPr>
          <p:cNvPr id="43" name="Shape 41"/>
          <p:cNvSpPr/>
          <p:nvPr/>
        </p:nvSpPr>
        <p:spPr>
          <a:xfrm>
            <a:off x="2011680" y="4846320"/>
            <a:ext cx="7040880" cy="36576"/>
          </a:xfrm>
          <a:prstGeom prst="rect">
            <a:avLst/>
          </a:prstGeom>
          <a:solidFill>
            <a:srgbClr val="F5A623"/>
          </a:solidFill>
          <a:ln w="12700">
            <a:solidFill>
              <a:srgbClr val="F5A623"/>
            </a:solidFill>
            <a:prstDash val="solid"/>
          </a:ln>
        </p:spPr>
      </p:sp>
      <p:pic>
        <p:nvPicPr>
          <p:cNvPr id="44" name="Image 0" descr="preencoded.png"/>
          <p:cNvPicPr>
            <a:picLocks noChangeAspect="1"/>
          </p:cNvPicPr>
          <p:nvPr/>
        </p:nvPicPr>
        <p:blipFill>
          <a:blip r:embed="rId3"/>
          <a:stretch>
            <a:fillRect/>
          </a:stretch>
        </p:blipFill>
        <p:spPr>
          <a:xfrm>
            <a:off x="525780" y="4681728"/>
            <a:ext cx="804672" cy="384048"/>
          </a:xfrm>
          <a:prstGeom prst="rect">
            <a:avLst/>
          </a:prstGeom>
        </p:spPr>
      </p:pic>
      <p:sp>
        <p:nvSpPr>
          <p:cNvPr id="46" name="Text 43"/>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Checklist 15 mục — Kiểm tra trước khi nộp bài</a:t>
            </a:r>
            <a:endParaRPr lang="en-US" sz="2600" dirty="0"/>
          </a:p>
        </p:txBody>
      </p:sp>
      <p:sp>
        <p:nvSpPr>
          <p:cNvPr id="10" name="Shape 8"/>
          <p:cNvSpPr/>
          <p:nvPr/>
        </p:nvSpPr>
        <p:spPr>
          <a:xfrm>
            <a:off x="274320" y="1572768"/>
            <a:ext cx="4114800" cy="310896"/>
          </a:xfrm>
          <a:prstGeom prst="rect">
            <a:avLst/>
          </a:prstGeom>
          <a:solidFill>
            <a:srgbClr val="F4F6FA"/>
          </a:solidFill>
          <a:ln w="6350">
            <a:solidFill>
              <a:srgbClr val="CCCCCC"/>
            </a:solidFill>
            <a:prstDash val="solid"/>
          </a:ln>
        </p:spPr>
      </p:sp>
      <p:sp>
        <p:nvSpPr>
          <p:cNvPr id="11" name="Shape 9"/>
          <p:cNvSpPr/>
          <p:nvPr/>
        </p:nvSpPr>
        <p:spPr>
          <a:xfrm>
            <a:off x="274320" y="1572768"/>
            <a:ext cx="320040" cy="310896"/>
          </a:xfrm>
          <a:prstGeom prst="rect">
            <a:avLst/>
          </a:prstGeom>
          <a:solidFill>
            <a:srgbClr val="F5A623"/>
          </a:solidFill>
          <a:ln w="12700">
            <a:solidFill>
              <a:srgbClr val="F5A623"/>
            </a:solidFill>
            <a:prstDash val="solid"/>
          </a:ln>
        </p:spPr>
      </p:sp>
      <p:sp>
        <p:nvSpPr>
          <p:cNvPr id="12" name="Text 10"/>
          <p:cNvSpPr/>
          <p:nvPr/>
        </p:nvSpPr>
        <p:spPr>
          <a:xfrm>
            <a:off x="274320" y="1572768"/>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640080" y="1600200"/>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Tiêu đề 10–15 từ, rõ ràng, có từ khóa</a:t>
            </a:r>
            <a:endParaRPr lang="en-US" sz="1600" dirty="0"/>
          </a:p>
        </p:txBody>
      </p:sp>
      <p:sp>
        <p:nvSpPr>
          <p:cNvPr id="14" name="Shape 12"/>
          <p:cNvSpPr/>
          <p:nvPr/>
        </p:nvSpPr>
        <p:spPr>
          <a:xfrm>
            <a:off x="274320" y="1929384"/>
            <a:ext cx="4114800" cy="310896"/>
          </a:xfrm>
          <a:prstGeom prst="rect">
            <a:avLst/>
          </a:prstGeom>
          <a:solidFill>
            <a:srgbClr val="FFFFFF"/>
          </a:solidFill>
          <a:ln w="6350">
            <a:solidFill>
              <a:srgbClr val="CCCCCC"/>
            </a:solidFill>
            <a:prstDash val="solid"/>
          </a:ln>
        </p:spPr>
      </p:sp>
      <p:sp>
        <p:nvSpPr>
          <p:cNvPr id="15" name="Shape 13"/>
          <p:cNvSpPr/>
          <p:nvPr/>
        </p:nvSpPr>
        <p:spPr>
          <a:xfrm>
            <a:off x="274320" y="1929384"/>
            <a:ext cx="320040" cy="310896"/>
          </a:xfrm>
          <a:prstGeom prst="rect">
            <a:avLst/>
          </a:prstGeom>
          <a:solidFill>
            <a:srgbClr val="F5A623"/>
          </a:solidFill>
          <a:ln w="12700">
            <a:solidFill>
              <a:srgbClr val="F5A623"/>
            </a:solidFill>
            <a:prstDash val="solid"/>
          </a:ln>
        </p:spPr>
      </p:sp>
      <p:sp>
        <p:nvSpPr>
          <p:cNvPr id="16" name="Text 14"/>
          <p:cNvSpPr/>
          <p:nvPr/>
        </p:nvSpPr>
        <p:spPr>
          <a:xfrm>
            <a:off x="274320" y="1929384"/>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640080" y="1956816"/>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Abstract đủ 5 thành phần, có số liệu kết quả</a:t>
            </a:r>
            <a:endParaRPr lang="en-US" sz="1600" dirty="0"/>
          </a:p>
        </p:txBody>
      </p:sp>
      <p:sp>
        <p:nvSpPr>
          <p:cNvPr id="18" name="Shape 16"/>
          <p:cNvSpPr/>
          <p:nvPr/>
        </p:nvSpPr>
        <p:spPr>
          <a:xfrm>
            <a:off x="274320" y="2286000"/>
            <a:ext cx="4114800" cy="310896"/>
          </a:xfrm>
          <a:prstGeom prst="rect">
            <a:avLst/>
          </a:prstGeom>
          <a:solidFill>
            <a:srgbClr val="F4F6FA"/>
          </a:solidFill>
          <a:ln w="6350">
            <a:solidFill>
              <a:srgbClr val="CCCCCC"/>
            </a:solidFill>
            <a:prstDash val="solid"/>
          </a:ln>
        </p:spPr>
      </p:sp>
      <p:sp>
        <p:nvSpPr>
          <p:cNvPr id="19" name="Shape 17"/>
          <p:cNvSpPr/>
          <p:nvPr/>
        </p:nvSpPr>
        <p:spPr>
          <a:xfrm>
            <a:off x="274320" y="2286000"/>
            <a:ext cx="320040" cy="310896"/>
          </a:xfrm>
          <a:prstGeom prst="rect">
            <a:avLst/>
          </a:prstGeom>
          <a:solidFill>
            <a:srgbClr val="F5A623"/>
          </a:solidFill>
          <a:ln w="12700">
            <a:solidFill>
              <a:srgbClr val="F5A623"/>
            </a:solidFill>
            <a:prstDash val="solid"/>
          </a:ln>
        </p:spPr>
      </p:sp>
      <p:sp>
        <p:nvSpPr>
          <p:cNvPr id="20" name="Text 18"/>
          <p:cNvSpPr/>
          <p:nvPr/>
        </p:nvSpPr>
        <p:spPr>
          <a:xfrm>
            <a:off x="274320" y="2286000"/>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640080" y="2313432"/>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Có 5–7 từ khóa phù hợp, không trùng tiêu đề</a:t>
            </a:r>
            <a:endParaRPr lang="en-US" sz="1600" dirty="0"/>
          </a:p>
        </p:txBody>
      </p:sp>
      <p:sp>
        <p:nvSpPr>
          <p:cNvPr id="22" name="Shape 20"/>
          <p:cNvSpPr/>
          <p:nvPr/>
        </p:nvSpPr>
        <p:spPr>
          <a:xfrm>
            <a:off x="274320" y="2642616"/>
            <a:ext cx="4114800" cy="310896"/>
          </a:xfrm>
          <a:prstGeom prst="rect">
            <a:avLst/>
          </a:prstGeom>
          <a:solidFill>
            <a:srgbClr val="FFFFFF"/>
          </a:solidFill>
          <a:ln w="6350">
            <a:solidFill>
              <a:srgbClr val="CCCCCC"/>
            </a:solidFill>
            <a:prstDash val="solid"/>
          </a:ln>
        </p:spPr>
      </p:sp>
      <p:sp>
        <p:nvSpPr>
          <p:cNvPr id="23" name="Shape 21"/>
          <p:cNvSpPr/>
          <p:nvPr/>
        </p:nvSpPr>
        <p:spPr>
          <a:xfrm>
            <a:off x="274320" y="2642616"/>
            <a:ext cx="320040" cy="310896"/>
          </a:xfrm>
          <a:prstGeom prst="rect">
            <a:avLst/>
          </a:prstGeom>
          <a:solidFill>
            <a:srgbClr val="F5A623"/>
          </a:solidFill>
          <a:ln w="12700">
            <a:solidFill>
              <a:srgbClr val="F5A623"/>
            </a:solidFill>
            <a:prstDash val="solid"/>
          </a:ln>
        </p:spPr>
      </p:sp>
      <p:sp>
        <p:nvSpPr>
          <p:cNvPr id="24" name="Text 22"/>
          <p:cNvSpPr/>
          <p:nvPr/>
        </p:nvSpPr>
        <p:spPr>
          <a:xfrm>
            <a:off x="274320" y="2642616"/>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640080" y="2670048"/>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Introduction: cấu trúc CARS đầy đủ, mục tiêu rõ</a:t>
            </a:r>
            <a:endParaRPr lang="en-US" sz="1600" dirty="0"/>
          </a:p>
        </p:txBody>
      </p:sp>
      <p:sp>
        <p:nvSpPr>
          <p:cNvPr id="26" name="Shape 24"/>
          <p:cNvSpPr/>
          <p:nvPr/>
        </p:nvSpPr>
        <p:spPr>
          <a:xfrm>
            <a:off x="274320" y="2999232"/>
            <a:ext cx="4114800" cy="310896"/>
          </a:xfrm>
          <a:prstGeom prst="rect">
            <a:avLst/>
          </a:prstGeom>
          <a:solidFill>
            <a:srgbClr val="F4F6FA"/>
          </a:solidFill>
          <a:ln w="6350">
            <a:solidFill>
              <a:srgbClr val="CCCCCC"/>
            </a:solidFill>
            <a:prstDash val="solid"/>
          </a:ln>
        </p:spPr>
      </p:sp>
      <p:sp>
        <p:nvSpPr>
          <p:cNvPr id="27" name="Shape 25"/>
          <p:cNvSpPr/>
          <p:nvPr/>
        </p:nvSpPr>
        <p:spPr>
          <a:xfrm>
            <a:off x="274320" y="2999232"/>
            <a:ext cx="320040" cy="310896"/>
          </a:xfrm>
          <a:prstGeom prst="rect">
            <a:avLst/>
          </a:prstGeom>
          <a:solidFill>
            <a:srgbClr val="F5A623"/>
          </a:solidFill>
          <a:ln w="12700">
            <a:solidFill>
              <a:srgbClr val="F5A623"/>
            </a:solidFill>
            <a:prstDash val="solid"/>
          </a:ln>
        </p:spPr>
      </p:sp>
      <p:sp>
        <p:nvSpPr>
          <p:cNvPr id="28" name="Text 26"/>
          <p:cNvSpPr/>
          <p:nvPr/>
        </p:nvSpPr>
        <p:spPr>
          <a:xfrm>
            <a:off x="274320" y="2999232"/>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640080" y="3026664"/>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Methods: n mẫu, thời gian, địa điểm, công cụ</a:t>
            </a:r>
            <a:endParaRPr lang="en-US" sz="1600" dirty="0"/>
          </a:p>
        </p:txBody>
      </p:sp>
      <p:sp>
        <p:nvSpPr>
          <p:cNvPr id="30" name="Shape 28"/>
          <p:cNvSpPr/>
          <p:nvPr/>
        </p:nvSpPr>
        <p:spPr>
          <a:xfrm>
            <a:off x="274320" y="3355848"/>
            <a:ext cx="4114800" cy="310896"/>
          </a:xfrm>
          <a:prstGeom prst="rect">
            <a:avLst/>
          </a:prstGeom>
          <a:solidFill>
            <a:srgbClr val="FFFFFF"/>
          </a:solidFill>
          <a:ln w="6350">
            <a:solidFill>
              <a:srgbClr val="CCCCCC"/>
            </a:solidFill>
            <a:prstDash val="solid"/>
          </a:ln>
        </p:spPr>
      </p:sp>
      <p:sp>
        <p:nvSpPr>
          <p:cNvPr id="31" name="Shape 29"/>
          <p:cNvSpPr/>
          <p:nvPr/>
        </p:nvSpPr>
        <p:spPr>
          <a:xfrm>
            <a:off x="274320" y="3355848"/>
            <a:ext cx="320040" cy="310896"/>
          </a:xfrm>
          <a:prstGeom prst="rect">
            <a:avLst/>
          </a:prstGeom>
          <a:solidFill>
            <a:srgbClr val="F5A623"/>
          </a:solidFill>
          <a:ln w="12700">
            <a:solidFill>
              <a:srgbClr val="F5A623"/>
            </a:solidFill>
            <a:prstDash val="solid"/>
          </a:ln>
        </p:spPr>
      </p:sp>
      <p:sp>
        <p:nvSpPr>
          <p:cNvPr id="32" name="Text 30"/>
          <p:cNvSpPr/>
          <p:nvPr/>
        </p:nvSpPr>
        <p:spPr>
          <a:xfrm>
            <a:off x="274320" y="3355848"/>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640080" y="3383280"/>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Results: khách quan, có bảng/hình chất lượng</a:t>
            </a:r>
            <a:endParaRPr lang="en-US" sz="1600" dirty="0"/>
          </a:p>
        </p:txBody>
      </p:sp>
      <p:sp>
        <p:nvSpPr>
          <p:cNvPr id="34" name="Shape 32"/>
          <p:cNvSpPr/>
          <p:nvPr/>
        </p:nvSpPr>
        <p:spPr>
          <a:xfrm>
            <a:off x="274320" y="3712464"/>
            <a:ext cx="4114800" cy="310896"/>
          </a:xfrm>
          <a:prstGeom prst="rect">
            <a:avLst/>
          </a:prstGeom>
          <a:solidFill>
            <a:srgbClr val="F4F6FA"/>
          </a:solidFill>
          <a:ln w="6350">
            <a:solidFill>
              <a:srgbClr val="CCCCCC"/>
            </a:solidFill>
            <a:prstDash val="solid"/>
          </a:ln>
        </p:spPr>
      </p:sp>
      <p:sp>
        <p:nvSpPr>
          <p:cNvPr id="35" name="Shape 33"/>
          <p:cNvSpPr/>
          <p:nvPr/>
        </p:nvSpPr>
        <p:spPr>
          <a:xfrm>
            <a:off x="274320" y="3712464"/>
            <a:ext cx="320040" cy="310896"/>
          </a:xfrm>
          <a:prstGeom prst="rect">
            <a:avLst/>
          </a:prstGeom>
          <a:solidFill>
            <a:srgbClr val="F5A623"/>
          </a:solidFill>
          <a:ln w="12700">
            <a:solidFill>
              <a:srgbClr val="F5A623"/>
            </a:solidFill>
            <a:prstDash val="solid"/>
          </a:ln>
        </p:spPr>
      </p:sp>
      <p:sp>
        <p:nvSpPr>
          <p:cNvPr id="36" name="Text 34"/>
          <p:cNvSpPr/>
          <p:nvPr/>
        </p:nvSpPr>
        <p:spPr>
          <a:xfrm>
            <a:off x="274320" y="3712464"/>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7" name="Text 35"/>
          <p:cNvSpPr/>
          <p:nvPr/>
        </p:nvSpPr>
        <p:spPr>
          <a:xfrm>
            <a:off x="640080" y="3739896"/>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Discussion: giải thích ý nghĩa, so sánh TLTK</a:t>
            </a:r>
            <a:endParaRPr lang="en-US" sz="1600" dirty="0"/>
          </a:p>
        </p:txBody>
      </p:sp>
      <p:sp>
        <p:nvSpPr>
          <p:cNvPr id="38" name="Shape 36"/>
          <p:cNvSpPr/>
          <p:nvPr/>
        </p:nvSpPr>
        <p:spPr>
          <a:xfrm>
            <a:off x="274320" y="4069080"/>
            <a:ext cx="4114800" cy="310896"/>
          </a:xfrm>
          <a:prstGeom prst="rect">
            <a:avLst/>
          </a:prstGeom>
          <a:solidFill>
            <a:srgbClr val="FFFFFF"/>
          </a:solidFill>
          <a:ln w="6350">
            <a:solidFill>
              <a:srgbClr val="CCCCCC"/>
            </a:solidFill>
            <a:prstDash val="solid"/>
          </a:ln>
        </p:spPr>
      </p:sp>
      <p:sp>
        <p:nvSpPr>
          <p:cNvPr id="39" name="Shape 37"/>
          <p:cNvSpPr/>
          <p:nvPr/>
        </p:nvSpPr>
        <p:spPr>
          <a:xfrm>
            <a:off x="274320" y="4069080"/>
            <a:ext cx="320040" cy="310896"/>
          </a:xfrm>
          <a:prstGeom prst="rect">
            <a:avLst/>
          </a:prstGeom>
          <a:solidFill>
            <a:srgbClr val="F5A623"/>
          </a:solidFill>
          <a:ln w="12700">
            <a:solidFill>
              <a:srgbClr val="F5A623"/>
            </a:solidFill>
            <a:prstDash val="solid"/>
          </a:ln>
        </p:spPr>
      </p:sp>
      <p:sp>
        <p:nvSpPr>
          <p:cNvPr id="40" name="Text 38"/>
          <p:cNvSpPr/>
          <p:nvPr/>
        </p:nvSpPr>
        <p:spPr>
          <a:xfrm>
            <a:off x="274320" y="4069080"/>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1" name="Text 39"/>
          <p:cNvSpPr/>
          <p:nvPr/>
        </p:nvSpPr>
        <p:spPr>
          <a:xfrm>
            <a:off x="640080" y="4096512"/>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Conclusion: đóng góp, hạn chế, hướng tiếp theo</a:t>
            </a:r>
            <a:endParaRPr lang="en-US" sz="1600" dirty="0"/>
          </a:p>
        </p:txBody>
      </p:sp>
      <p:sp>
        <p:nvSpPr>
          <p:cNvPr id="42" name="Shape 40"/>
          <p:cNvSpPr/>
          <p:nvPr/>
        </p:nvSpPr>
        <p:spPr>
          <a:xfrm>
            <a:off x="4709160" y="1572768"/>
            <a:ext cx="4114800" cy="310896"/>
          </a:xfrm>
          <a:prstGeom prst="rect">
            <a:avLst/>
          </a:prstGeom>
          <a:solidFill>
            <a:srgbClr val="F4F6FA"/>
          </a:solidFill>
          <a:ln w="6350">
            <a:solidFill>
              <a:srgbClr val="CCCCCC"/>
            </a:solidFill>
            <a:prstDash val="solid"/>
          </a:ln>
        </p:spPr>
      </p:sp>
      <p:sp>
        <p:nvSpPr>
          <p:cNvPr id="43" name="Shape 41"/>
          <p:cNvSpPr/>
          <p:nvPr/>
        </p:nvSpPr>
        <p:spPr>
          <a:xfrm>
            <a:off x="4709160" y="1572768"/>
            <a:ext cx="320040" cy="310896"/>
          </a:xfrm>
          <a:prstGeom prst="rect">
            <a:avLst/>
          </a:prstGeom>
          <a:solidFill>
            <a:srgbClr val="F5A623"/>
          </a:solidFill>
          <a:ln w="12700">
            <a:solidFill>
              <a:srgbClr val="F5A623"/>
            </a:solidFill>
            <a:prstDash val="solid"/>
          </a:ln>
        </p:spPr>
      </p:sp>
      <p:sp>
        <p:nvSpPr>
          <p:cNvPr id="44" name="Text 42"/>
          <p:cNvSpPr/>
          <p:nvPr/>
        </p:nvSpPr>
        <p:spPr>
          <a:xfrm>
            <a:off x="4709160" y="1572768"/>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5" name="Text 43"/>
          <p:cNvSpPr/>
          <p:nvPr/>
        </p:nvSpPr>
        <p:spPr>
          <a:xfrm>
            <a:off x="5074920" y="1600200"/>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Tài liệu tham khảo đúng format (APA 7th Ed.)</a:t>
            </a:r>
            <a:endParaRPr lang="en-US" sz="1600" dirty="0"/>
          </a:p>
        </p:txBody>
      </p:sp>
      <p:sp>
        <p:nvSpPr>
          <p:cNvPr id="46" name="Shape 44"/>
          <p:cNvSpPr/>
          <p:nvPr/>
        </p:nvSpPr>
        <p:spPr>
          <a:xfrm>
            <a:off x="4709160" y="1929384"/>
            <a:ext cx="4114800" cy="310896"/>
          </a:xfrm>
          <a:prstGeom prst="rect">
            <a:avLst/>
          </a:prstGeom>
          <a:solidFill>
            <a:srgbClr val="FFFFFF"/>
          </a:solidFill>
          <a:ln w="6350">
            <a:solidFill>
              <a:srgbClr val="CCCCCC"/>
            </a:solidFill>
            <a:prstDash val="solid"/>
          </a:ln>
        </p:spPr>
      </p:sp>
      <p:sp>
        <p:nvSpPr>
          <p:cNvPr id="47" name="Shape 45"/>
          <p:cNvSpPr/>
          <p:nvPr/>
        </p:nvSpPr>
        <p:spPr>
          <a:xfrm>
            <a:off x="4709160" y="1929384"/>
            <a:ext cx="320040" cy="310896"/>
          </a:xfrm>
          <a:prstGeom prst="rect">
            <a:avLst/>
          </a:prstGeom>
          <a:solidFill>
            <a:srgbClr val="F5A623"/>
          </a:solidFill>
          <a:ln w="12700">
            <a:solidFill>
              <a:srgbClr val="F5A623"/>
            </a:solidFill>
            <a:prstDash val="solid"/>
          </a:ln>
        </p:spPr>
      </p:sp>
      <p:sp>
        <p:nvSpPr>
          <p:cNvPr id="48" name="Text 46"/>
          <p:cNvSpPr/>
          <p:nvPr/>
        </p:nvSpPr>
        <p:spPr>
          <a:xfrm>
            <a:off x="4709160" y="1929384"/>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9" name="Text 47"/>
          <p:cNvSpPr/>
          <p:nvPr/>
        </p:nvSpPr>
        <p:spPr>
          <a:xfrm>
            <a:off x="5074920" y="1956816"/>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Mọi bảng/hình có số, tiêu đề, nguồn, đơn vị</a:t>
            </a:r>
            <a:endParaRPr lang="en-US" sz="1600" dirty="0"/>
          </a:p>
        </p:txBody>
      </p:sp>
      <p:sp>
        <p:nvSpPr>
          <p:cNvPr id="50" name="Shape 48"/>
          <p:cNvSpPr/>
          <p:nvPr/>
        </p:nvSpPr>
        <p:spPr>
          <a:xfrm>
            <a:off x="4709160" y="2286000"/>
            <a:ext cx="4114800" cy="310896"/>
          </a:xfrm>
          <a:prstGeom prst="rect">
            <a:avLst/>
          </a:prstGeom>
          <a:solidFill>
            <a:srgbClr val="F4F6FA"/>
          </a:solidFill>
          <a:ln w="6350">
            <a:solidFill>
              <a:srgbClr val="CCCCCC"/>
            </a:solidFill>
            <a:prstDash val="solid"/>
          </a:ln>
        </p:spPr>
      </p:sp>
      <p:sp>
        <p:nvSpPr>
          <p:cNvPr id="51" name="Shape 49"/>
          <p:cNvSpPr/>
          <p:nvPr/>
        </p:nvSpPr>
        <p:spPr>
          <a:xfrm>
            <a:off x="4709160" y="2286000"/>
            <a:ext cx="320040" cy="310896"/>
          </a:xfrm>
          <a:prstGeom prst="rect">
            <a:avLst/>
          </a:prstGeom>
          <a:solidFill>
            <a:srgbClr val="F5A623"/>
          </a:solidFill>
          <a:ln w="12700">
            <a:solidFill>
              <a:srgbClr val="F5A623"/>
            </a:solidFill>
            <a:prstDash val="solid"/>
          </a:ln>
        </p:spPr>
      </p:sp>
      <p:sp>
        <p:nvSpPr>
          <p:cNvPr id="52" name="Text 50"/>
          <p:cNvSpPr/>
          <p:nvPr/>
        </p:nvSpPr>
        <p:spPr>
          <a:xfrm>
            <a:off x="4709160" y="2286000"/>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53" name="Text 51"/>
          <p:cNvSpPr/>
          <p:nvPr/>
        </p:nvSpPr>
        <p:spPr>
          <a:xfrm>
            <a:off x="5074920" y="2313432"/>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Kiểm tra trùng lặp nội dung (plagiarism) &lt; 20%</a:t>
            </a:r>
            <a:endParaRPr lang="en-US" sz="1600" dirty="0"/>
          </a:p>
        </p:txBody>
      </p:sp>
      <p:sp>
        <p:nvSpPr>
          <p:cNvPr id="54" name="Shape 52"/>
          <p:cNvSpPr/>
          <p:nvPr/>
        </p:nvSpPr>
        <p:spPr>
          <a:xfrm>
            <a:off x="4709160" y="2642616"/>
            <a:ext cx="4114800" cy="310896"/>
          </a:xfrm>
          <a:prstGeom prst="rect">
            <a:avLst/>
          </a:prstGeom>
          <a:solidFill>
            <a:srgbClr val="FFFFFF"/>
          </a:solidFill>
          <a:ln w="6350">
            <a:solidFill>
              <a:srgbClr val="CCCCCC"/>
            </a:solidFill>
            <a:prstDash val="solid"/>
          </a:ln>
        </p:spPr>
      </p:sp>
      <p:sp>
        <p:nvSpPr>
          <p:cNvPr id="55" name="Shape 53"/>
          <p:cNvSpPr/>
          <p:nvPr/>
        </p:nvSpPr>
        <p:spPr>
          <a:xfrm>
            <a:off x="4709160" y="2642616"/>
            <a:ext cx="320040" cy="310896"/>
          </a:xfrm>
          <a:prstGeom prst="rect">
            <a:avLst/>
          </a:prstGeom>
          <a:solidFill>
            <a:srgbClr val="F5A623"/>
          </a:solidFill>
          <a:ln w="12700">
            <a:solidFill>
              <a:srgbClr val="F5A623"/>
            </a:solidFill>
            <a:prstDash val="solid"/>
          </a:ln>
        </p:spPr>
      </p:sp>
      <p:sp>
        <p:nvSpPr>
          <p:cNvPr id="56" name="Text 54"/>
          <p:cNvSpPr/>
          <p:nvPr/>
        </p:nvSpPr>
        <p:spPr>
          <a:xfrm>
            <a:off x="4709160" y="2642616"/>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57" name="Text 55"/>
          <p:cNvSpPr/>
          <p:nvPr/>
        </p:nvSpPr>
        <p:spPr>
          <a:xfrm>
            <a:off x="5074920" y="2670048"/>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Grammarly / kiểm tra ngữ pháp tiếng Anh</a:t>
            </a:r>
            <a:endParaRPr lang="en-US" sz="1600" dirty="0"/>
          </a:p>
        </p:txBody>
      </p:sp>
      <p:sp>
        <p:nvSpPr>
          <p:cNvPr id="58" name="Shape 56"/>
          <p:cNvSpPr/>
          <p:nvPr/>
        </p:nvSpPr>
        <p:spPr>
          <a:xfrm>
            <a:off x="4709160" y="2999232"/>
            <a:ext cx="4114800" cy="310896"/>
          </a:xfrm>
          <a:prstGeom prst="rect">
            <a:avLst/>
          </a:prstGeom>
          <a:solidFill>
            <a:srgbClr val="F4F6FA"/>
          </a:solidFill>
          <a:ln w="6350">
            <a:solidFill>
              <a:srgbClr val="CCCCCC"/>
            </a:solidFill>
            <a:prstDash val="solid"/>
          </a:ln>
        </p:spPr>
      </p:sp>
      <p:sp>
        <p:nvSpPr>
          <p:cNvPr id="59" name="Shape 57"/>
          <p:cNvSpPr/>
          <p:nvPr/>
        </p:nvSpPr>
        <p:spPr>
          <a:xfrm>
            <a:off x="4709160" y="2999232"/>
            <a:ext cx="320040" cy="310896"/>
          </a:xfrm>
          <a:prstGeom prst="rect">
            <a:avLst/>
          </a:prstGeom>
          <a:solidFill>
            <a:srgbClr val="F5A623"/>
          </a:solidFill>
          <a:ln w="12700">
            <a:solidFill>
              <a:srgbClr val="F5A623"/>
            </a:solidFill>
            <a:prstDash val="solid"/>
          </a:ln>
        </p:spPr>
      </p:sp>
      <p:sp>
        <p:nvSpPr>
          <p:cNvPr id="60" name="Text 58"/>
          <p:cNvSpPr/>
          <p:nvPr/>
        </p:nvSpPr>
        <p:spPr>
          <a:xfrm>
            <a:off x="4709160" y="2999232"/>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61" name="Text 59"/>
          <p:cNvSpPr/>
          <p:nvPr/>
        </p:nvSpPr>
        <p:spPr>
          <a:xfrm>
            <a:off x="5074920" y="3026664"/>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File đúng định dạng template JSTT (.docx)</a:t>
            </a:r>
            <a:endParaRPr lang="en-US" sz="1600" dirty="0"/>
          </a:p>
        </p:txBody>
      </p:sp>
      <p:sp>
        <p:nvSpPr>
          <p:cNvPr id="62" name="Shape 60"/>
          <p:cNvSpPr/>
          <p:nvPr/>
        </p:nvSpPr>
        <p:spPr>
          <a:xfrm>
            <a:off x="4709160" y="3355848"/>
            <a:ext cx="4114800" cy="310896"/>
          </a:xfrm>
          <a:prstGeom prst="rect">
            <a:avLst/>
          </a:prstGeom>
          <a:solidFill>
            <a:srgbClr val="FFFFFF"/>
          </a:solidFill>
          <a:ln w="6350">
            <a:solidFill>
              <a:srgbClr val="CCCCCC"/>
            </a:solidFill>
            <a:prstDash val="solid"/>
          </a:ln>
        </p:spPr>
      </p:sp>
      <p:sp>
        <p:nvSpPr>
          <p:cNvPr id="63" name="Shape 61"/>
          <p:cNvSpPr/>
          <p:nvPr/>
        </p:nvSpPr>
        <p:spPr>
          <a:xfrm>
            <a:off x="4709160" y="3355848"/>
            <a:ext cx="320040" cy="310896"/>
          </a:xfrm>
          <a:prstGeom prst="rect">
            <a:avLst/>
          </a:prstGeom>
          <a:solidFill>
            <a:srgbClr val="F5A623"/>
          </a:solidFill>
          <a:ln w="12700">
            <a:solidFill>
              <a:srgbClr val="F5A623"/>
            </a:solidFill>
            <a:prstDash val="solid"/>
          </a:ln>
        </p:spPr>
      </p:sp>
      <p:sp>
        <p:nvSpPr>
          <p:cNvPr id="64" name="Text 62"/>
          <p:cNvSpPr/>
          <p:nvPr/>
        </p:nvSpPr>
        <p:spPr>
          <a:xfrm>
            <a:off x="4709160" y="3355848"/>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65" name="Text 63"/>
          <p:cNvSpPr/>
          <p:nvPr/>
        </p:nvSpPr>
        <p:spPr>
          <a:xfrm>
            <a:off x="5074920" y="3383280"/>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Thông tin tác giả đầy đủ (tên, đơn vị, email)</a:t>
            </a:r>
            <a:endParaRPr lang="en-US" sz="1600" dirty="0"/>
          </a:p>
        </p:txBody>
      </p:sp>
      <p:sp>
        <p:nvSpPr>
          <p:cNvPr id="66" name="Shape 64"/>
          <p:cNvSpPr/>
          <p:nvPr/>
        </p:nvSpPr>
        <p:spPr>
          <a:xfrm>
            <a:off x="4709160" y="3712464"/>
            <a:ext cx="4114800" cy="310896"/>
          </a:xfrm>
          <a:prstGeom prst="rect">
            <a:avLst/>
          </a:prstGeom>
          <a:solidFill>
            <a:srgbClr val="F4F6FA"/>
          </a:solidFill>
          <a:ln w="6350">
            <a:solidFill>
              <a:srgbClr val="CCCCCC"/>
            </a:solidFill>
            <a:prstDash val="solid"/>
          </a:ln>
        </p:spPr>
      </p:sp>
      <p:sp>
        <p:nvSpPr>
          <p:cNvPr id="67" name="Shape 65"/>
          <p:cNvSpPr/>
          <p:nvPr/>
        </p:nvSpPr>
        <p:spPr>
          <a:xfrm>
            <a:off x="4709160" y="3712464"/>
            <a:ext cx="320040" cy="310896"/>
          </a:xfrm>
          <a:prstGeom prst="rect">
            <a:avLst/>
          </a:prstGeom>
          <a:solidFill>
            <a:srgbClr val="F5A623"/>
          </a:solidFill>
          <a:ln w="12700">
            <a:solidFill>
              <a:srgbClr val="F5A623"/>
            </a:solidFill>
            <a:prstDash val="solid"/>
          </a:ln>
        </p:spPr>
      </p:sp>
      <p:sp>
        <p:nvSpPr>
          <p:cNvPr id="68" name="Text 66"/>
          <p:cNvSpPr/>
          <p:nvPr/>
        </p:nvSpPr>
        <p:spPr>
          <a:xfrm>
            <a:off x="4709160" y="3712464"/>
            <a:ext cx="3200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69" name="Text 67"/>
          <p:cNvSpPr/>
          <p:nvPr/>
        </p:nvSpPr>
        <p:spPr>
          <a:xfrm>
            <a:off x="5074920" y="3739896"/>
            <a:ext cx="3639312" cy="256032"/>
          </a:xfrm>
          <a:prstGeom prst="rect">
            <a:avLst/>
          </a:prstGeom>
          <a:noFill/>
          <a:ln/>
        </p:spPr>
        <p:txBody>
          <a:bodyPr wrap="none" lIns="0" tIns="0" rIns="0" bIns="0" rtlCol="0" anchor="ctr"/>
          <a:lstStyle/>
          <a:p>
            <a:pPr marL="0" indent="0">
              <a:buNone/>
            </a:pPr>
            <a:r>
              <a:rPr lang="en-US" sz="1600" dirty="0">
                <a:solidFill>
                  <a:srgbClr val="2B2F77"/>
                </a:solidFill>
                <a:latin typeface="Calibri" pitchFamily="34" charset="0"/>
                <a:ea typeface="Calibri" pitchFamily="34" charset="-122"/>
                <a:cs typeface="Calibri" pitchFamily="34" charset="-120"/>
              </a:rPr>
              <a:t>☐  Đã tạo tài khoản tại jstt.vn để nộp bài</a:t>
            </a:r>
            <a:endParaRPr lang="en-US" sz="1600" dirty="0"/>
          </a:p>
        </p:txBody>
      </p:sp>
      <p:sp>
        <p:nvSpPr>
          <p:cNvPr id="70" name="Shape 68"/>
          <p:cNvSpPr/>
          <p:nvPr/>
        </p:nvSpPr>
        <p:spPr>
          <a:xfrm>
            <a:off x="2011680" y="4846320"/>
            <a:ext cx="7040880" cy="36576"/>
          </a:xfrm>
          <a:prstGeom prst="rect">
            <a:avLst/>
          </a:prstGeom>
          <a:solidFill>
            <a:srgbClr val="F5A623"/>
          </a:solidFill>
          <a:ln w="12700">
            <a:solidFill>
              <a:srgbClr val="F5A623"/>
            </a:solidFill>
            <a:prstDash val="solid"/>
          </a:ln>
        </p:spPr>
      </p:sp>
      <p:pic>
        <p:nvPicPr>
          <p:cNvPr id="71"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72" name="Text 69"/>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73" name="Text 70"/>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B2F77"/>
          </a:solidFill>
          <a:ln w="12700">
            <a:solidFill>
              <a:srgbClr val="2B2F77"/>
            </a:solidFill>
            <a:prstDash val="solid"/>
          </a:ln>
        </p:spPr>
      </p:sp>
      <p:sp>
        <p:nvSpPr>
          <p:cNvPr id="3" name="Shape 1"/>
          <p:cNvSpPr/>
          <p:nvPr/>
        </p:nvSpPr>
        <p:spPr>
          <a:xfrm>
            <a:off x="109728" y="118872"/>
            <a:ext cx="530352" cy="502920"/>
          </a:xfrm>
          <a:prstGeom prst="rect">
            <a:avLst/>
          </a:prstGeom>
          <a:solidFill>
            <a:srgbClr val="F5A623"/>
          </a:solidFill>
          <a:ln w="12700">
            <a:solidFill>
              <a:srgbClr val="F5A623"/>
            </a:solidFill>
            <a:prstDash val="solid"/>
          </a:ln>
        </p:spPr>
      </p:sp>
      <p:sp>
        <p:nvSpPr>
          <p:cNvPr id="4" name="Text 2"/>
          <p:cNvSpPr/>
          <p:nvPr/>
        </p:nvSpPr>
        <p:spPr>
          <a:xfrm>
            <a:off x="109728" y="118872"/>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UTT</a:t>
            </a:r>
            <a:endParaRPr lang="en-US" sz="1400" dirty="0"/>
          </a:p>
        </p:txBody>
      </p:sp>
      <p:sp>
        <p:nvSpPr>
          <p:cNvPr id="5" name="Text 3"/>
          <p:cNvSpPr/>
          <p:nvPr/>
        </p:nvSpPr>
        <p:spPr>
          <a:xfrm>
            <a:off x="749808"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Shape 5"/>
          <p:cNvSpPr/>
          <p:nvPr/>
        </p:nvSpPr>
        <p:spPr>
          <a:xfrm>
            <a:off x="0" y="777240"/>
            <a:ext cx="9144000" cy="658368"/>
          </a:xfrm>
          <a:prstGeom prst="rect">
            <a:avLst/>
          </a:prstGeom>
          <a:solidFill>
            <a:srgbClr val="2B2F77"/>
          </a:solidFill>
          <a:ln w="12700">
            <a:solidFill>
              <a:srgbClr val="2B2F77"/>
            </a:solidFill>
            <a:prstDash val="solid"/>
          </a:ln>
        </p:spPr>
      </p:sp>
      <p:sp>
        <p:nvSpPr>
          <p:cNvPr id="8" name="Shape 6"/>
          <p:cNvSpPr/>
          <p:nvPr/>
        </p:nvSpPr>
        <p:spPr>
          <a:xfrm>
            <a:off x="0" y="777240"/>
            <a:ext cx="164592" cy="658368"/>
          </a:xfrm>
          <a:prstGeom prst="rect">
            <a:avLst/>
          </a:prstGeom>
          <a:solidFill>
            <a:srgbClr val="F5A623"/>
          </a:solidFill>
          <a:ln w="12700">
            <a:solidFill>
              <a:srgbClr val="F5A623"/>
            </a:solidFill>
            <a:prstDash val="solid"/>
          </a:ln>
        </p:spPr>
      </p:sp>
      <p:sp>
        <p:nvSpPr>
          <p:cNvPr id="9" name="Text 7"/>
          <p:cNvSpPr/>
          <p:nvPr/>
        </p:nvSpPr>
        <p:spPr>
          <a:xfrm>
            <a:off x="256032" y="777240"/>
            <a:ext cx="877824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Công cụ miễn phí — Sinh viên cần dùng ngay</a:t>
            </a:r>
            <a:endParaRPr lang="en-US" sz="2600" dirty="0"/>
          </a:p>
        </p:txBody>
      </p:sp>
      <p:sp>
        <p:nvSpPr>
          <p:cNvPr id="10" name="Shape 8"/>
          <p:cNvSpPr/>
          <p:nvPr/>
        </p:nvSpPr>
        <p:spPr>
          <a:xfrm>
            <a:off x="274320" y="1572768"/>
            <a:ext cx="2743200" cy="475488"/>
          </a:xfrm>
          <a:prstGeom prst="rect">
            <a:avLst/>
          </a:prstGeom>
          <a:solidFill>
            <a:srgbClr val="2B2F77"/>
          </a:solidFill>
          <a:ln w="12700">
            <a:solidFill>
              <a:srgbClr val="2B2F77"/>
            </a:solidFill>
            <a:prstDash val="solid"/>
          </a:ln>
        </p:spPr>
      </p:sp>
      <p:sp>
        <p:nvSpPr>
          <p:cNvPr id="11" name="Text 9"/>
          <p:cNvSpPr/>
          <p:nvPr/>
        </p:nvSpPr>
        <p:spPr>
          <a:xfrm>
            <a:off x="365760" y="1572768"/>
            <a:ext cx="2560320" cy="47548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  Zotero</a:t>
            </a:r>
            <a:endParaRPr lang="en-US" sz="1900" dirty="0"/>
          </a:p>
        </p:txBody>
      </p:sp>
      <p:sp>
        <p:nvSpPr>
          <p:cNvPr id="12" name="Shape 10"/>
          <p:cNvSpPr/>
          <p:nvPr/>
        </p:nvSpPr>
        <p:spPr>
          <a:xfrm>
            <a:off x="274320" y="2048256"/>
            <a:ext cx="2743200" cy="256032"/>
          </a:xfrm>
          <a:prstGeom prst="rect">
            <a:avLst/>
          </a:prstGeom>
          <a:solidFill>
            <a:srgbClr val="F0F0F0"/>
          </a:solidFill>
          <a:ln w="6350">
            <a:solidFill>
              <a:srgbClr val="CCCCCC"/>
            </a:solidFill>
            <a:prstDash val="solid"/>
          </a:ln>
        </p:spPr>
      </p:sp>
      <p:sp>
        <p:nvSpPr>
          <p:cNvPr id="13" name="Text 11"/>
          <p:cNvSpPr/>
          <p:nvPr/>
        </p:nvSpPr>
        <p:spPr>
          <a:xfrm>
            <a:off x="347472" y="2066544"/>
            <a:ext cx="2596896" cy="219456"/>
          </a:xfrm>
          <a:prstGeom prst="rect">
            <a:avLst/>
          </a:prstGeom>
          <a:noFill/>
          <a:ln/>
        </p:spPr>
        <p:txBody>
          <a:bodyPr wrap="square" lIns="0" tIns="0" rIns="0" bIns="0" rtlCol="0" anchor="ctr"/>
          <a:lstStyle/>
          <a:p>
            <a:pPr marL="0" indent="0" algn="ctr">
              <a:buNone/>
            </a:pPr>
            <a:r>
              <a:rPr lang="en-US" sz="1400" dirty="0">
                <a:solidFill>
                  <a:srgbClr val="2B2F77"/>
                </a:solidFill>
                <a:latin typeface="Calibri" pitchFamily="34" charset="0"/>
                <a:ea typeface="Calibri" pitchFamily="34" charset="-122"/>
                <a:cs typeface="Calibri" pitchFamily="34" charset="-120"/>
              </a:rPr>
              <a:t>zotero.org</a:t>
            </a:r>
            <a:endParaRPr lang="en-US" sz="1400" dirty="0"/>
          </a:p>
        </p:txBody>
      </p:sp>
      <p:sp>
        <p:nvSpPr>
          <p:cNvPr id="14" name="Shape 12"/>
          <p:cNvSpPr/>
          <p:nvPr/>
        </p:nvSpPr>
        <p:spPr>
          <a:xfrm>
            <a:off x="274320" y="2322576"/>
            <a:ext cx="2743200" cy="777240"/>
          </a:xfrm>
          <a:prstGeom prst="rect">
            <a:avLst/>
          </a:prstGeom>
          <a:solidFill>
            <a:srgbClr val="F8FBFF"/>
          </a:solidFill>
          <a:ln w="6350">
            <a:solidFill>
              <a:srgbClr val="CCCCCC"/>
            </a:solidFill>
            <a:prstDash val="solid"/>
          </a:ln>
        </p:spPr>
      </p:sp>
      <p:sp>
        <p:nvSpPr>
          <p:cNvPr id="15" name="Text 13"/>
          <p:cNvSpPr/>
          <p:nvPr/>
        </p:nvSpPr>
        <p:spPr>
          <a:xfrm>
            <a:off x="365760" y="2377440"/>
            <a:ext cx="2560320" cy="6675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Quản lý tài liệu tham khảo, tự xuất TLTK đúng format APA/IEEE. Plugin Word tích hợp trực tiếp.</a:t>
            </a:r>
            <a:endParaRPr lang="en-US" sz="1500" dirty="0"/>
          </a:p>
        </p:txBody>
      </p:sp>
      <p:sp>
        <p:nvSpPr>
          <p:cNvPr id="16" name="Shape 14"/>
          <p:cNvSpPr/>
          <p:nvPr/>
        </p:nvSpPr>
        <p:spPr>
          <a:xfrm>
            <a:off x="3200400" y="1572768"/>
            <a:ext cx="2743200" cy="475488"/>
          </a:xfrm>
          <a:prstGeom prst="rect">
            <a:avLst/>
          </a:prstGeom>
          <a:solidFill>
            <a:srgbClr val="1A7BC1"/>
          </a:solidFill>
          <a:ln w="12700">
            <a:solidFill>
              <a:srgbClr val="1A7BC1"/>
            </a:solidFill>
            <a:prstDash val="solid"/>
          </a:ln>
        </p:spPr>
      </p:sp>
      <p:sp>
        <p:nvSpPr>
          <p:cNvPr id="17" name="Text 15"/>
          <p:cNvSpPr/>
          <p:nvPr/>
        </p:nvSpPr>
        <p:spPr>
          <a:xfrm>
            <a:off x="3291840" y="1572768"/>
            <a:ext cx="2560320" cy="47548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  Grammarly</a:t>
            </a:r>
            <a:endParaRPr lang="en-US" sz="1900" dirty="0"/>
          </a:p>
        </p:txBody>
      </p:sp>
      <p:sp>
        <p:nvSpPr>
          <p:cNvPr id="18" name="Shape 16"/>
          <p:cNvSpPr/>
          <p:nvPr/>
        </p:nvSpPr>
        <p:spPr>
          <a:xfrm>
            <a:off x="3200400" y="2048256"/>
            <a:ext cx="2743200" cy="256032"/>
          </a:xfrm>
          <a:prstGeom prst="rect">
            <a:avLst/>
          </a:prstGeom>
          <a:solidFill>
            <a:srgbClr val="F0F0F0"/>
          </a:solidFill>
          <a:ln w="6350">
            <a:solidFill>
              <a:srgbClr val="CCCCCC"/>
            </a:solidFill>
            <a:prstDash val="solid"/>
          </a:ln>
        </p:spPr>
      </p:sp>
      <p:sp>
        <p:nvSpPr>
          <p:cNvPr id="19" name="Text 17"/>
          <p:cNvSpPr/>
          <p:nvPr/>
        </p:nvSpPr>
        <p:spPr>
          <a:xfrm>
            <a:off x="3273552" y="2066544"/>
            <a:ext cx="2596896" cy="219456"/>
          </a:xfrm>
          <a:prstGeom prst="rect">
            <a:avLst/>
          </a:prstGeom>
          <a:noFill/>
          <a:ln/>
        </p:spPr>
        <p:txBody>
          <a:bodyPr wrap="square" lIns="0" tIns="0" rIns="0" bIns="0" rtlCol="0" anchor="ctr"/>
          <a:lstStyle/>
          <a:p>
            <a:pPr marL="0" indent="0" algn="ctr">
              <a:buNone/>
            </a:pPr>
            <a:r>
              <a:rPr lang="en-US" sz="1400" dirty="0">
                <a:solidFill>
                  <a:srgbClr val="1A7BC1"/>
                </a:solidFill>
                <a:latin typeface="Calibri" pitchFamily="34" charset="0"/>
                <a:ea typeface="Calibri" pitchFamily="34" charset="-122"/>
                <a:cs typeface="Calibri" pitchFamily="34" charset="-120"/>
              </a:rPr>
              <a:t>grammarly.com</a:t>
            </a:r>
            <a:endParaRPr lang="en-US" sz="1400" dirty="0"/>
          </a:p>
        </p:txBody>
      </p:sp>
      <p:sp>
        <p:nvSpPr>
          <p:cNvPr id="20" name="Shape 18"/>
          <p:cNvSpPr/>
          <p:nvPr/>
        </p:nvSpPr>
        <p:spPr>
          <a:xfrm>
            <a:off x="3200400" y="2322576"/>
            <a:ext cx="2743200" cy="777240"/>
          </a:xfrm>
          <a:prstGeom prst="rect">
            <a:avLst/>
          </a:prstGeom>
          <a:solidFill>
            <a:srgbClr val="F8FBFF"/>
          </a:solidFill>
          <a:ln w="6350">
            <a:solidFill>
              <a:srgbClr val="CCCCCC"/>
            </a:solidFill>
            <a:prstDash val="solid"/>
          </a:ln>
        </p:spPr>
      </p:sp>
      <p:sp>
        <p:nvSpPr>
          <p:cNvPr id="21" name="Text 19"/>
          <p:cNvSpPr/>
          <p:nvPr/>
        </p:nvSpPr>
        <p:spPr>
          <a:xfrm>
            <a:off x="3291840" y="2377440"/>
            <a:ext cx="2560320" cy="6675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Kiểm tra ngữ pháp tiếng Anh tự động. Phiên bản cơ bản MIỄN PHÍ, dùng trên web hoặc extension.</a:t>
            </a:r>
            <a:endParaRPr lang="en-US" sz="1500" dirty="0"/>
          </a:p>
        </p:txBody>
      </p:sp>
      <p:sp>
        <p:nvSpPr>
          <p:cNvPr id="22" name="Shape 20"/>
          <p:cNvSpPr/>
          <p:nvPr/>
        </p:nvSpPr>
        <p:spPr>
          <a:xfrm>
            <a:off x="6126480" y="1572768"/>
            <a:ext cx="2743200" cy="475488"/>
          </a:xfrm>
          <a:prstGeom prst="rect">
            <a:avLst/>
          </a:prstGeom>
          <a:solidFill>
            <a:srgbClr val="1A9B5F"/>
          </a:solidFill>
          <a:ln w="12700">
            <a:solidFill>
              <a:srgbClr val="1A9B5F"/>
            </a:solidFill>
            <a:prstDash val="solid"/>
          </a:ln>
        </p:spPr>
      </p:sp>
      <p:sp>
        <p:nvSpPr>
          <p:cNvPr id="23" name="Text 21"/>
          <p:cNvSpPr/>
          <p:nvPr/>
        </p:nvSpPr>
        <p:spPr>
          <a:xfrm>
            <a:off x="6217920" y="1572768"/>
            <a:ext cx="2560320" cy="47548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  Google Scholar</a:t>
            </a:r>
            <a:endParaRPr lang="en-US" sz="1900" dirty="0"/>
          </a:p>
        </p:txBody>
      </p:sp>
      <p:sp>
        <p:nvSpPr>
          <p:cNvPr id="24" name="Shape 22"/>
          <p:cNvSpPr/>
          <p:nvPr/>
        </p:nvSpPr>
        <p:spPr>
          <a:xfrm>
            <a:off x="6126480" y="2048256"/>
            <a:ext cx="2743200" cy="256032"/>
          </a:xfrm>
          <a:prstGeom prst="rect">
            <a:avLst/>
          </a:prstGeom>
          <a:solidFill>
            <a:srgbClr val="F0F0F0"/>
          </a:solidFill>
          <a:ln w="6350">
            <a:solidFill>
              <a:srgbClr val="CCCCCC"/>
            </a:solidFill>
            <a:prstDash val="solid"/>
          </a:ln>
        </p:spPr>
      </p:sp>
      <p:sp>
        <p:nvSpPr>
          <p:cNvPr id="25" name="Text 23"/>
          <p:cNvSpPr/>
          <p:nvPr/>
        </p:nvSpPr>
        <p:spPr>
          <a:xfrm>
            <a:off x="6199632" y="2066544"/>
            <a:ext cx="2596896" cy="219456"/>
          </a:xfrm>
          <a:prstGeom prst="rect">
            <a:avLst/>
          </a:prstGeom>
          <a:noFill/>
          <a:ln/>
        </p:spPr>
        <p:txBody>
          <a:bodyPr wrap="square" lIns="0" tIns="0" rIns="0" bIns="0" rtlCol="0" anchor="ctr"/>
          <a:lstStyle/>
          <a:p>
            <a:pPr marL="0" indent="0" algn="ctr">
              <a:buNone/>
            </a:pPr>
            <a:r>
              <a:rPr lang="en-US" sz="1400" dirty="0">
                <a:solidFill>
                  <a:srgbClr val="1A9B5F"/>
                </a:solidFill>
                <a:latin typeface="Calibri" pitchFamily="34" charset="0"/>
                <a:ea typeface="Calibri" pitchFamily="34" charset="-122"/>
                <a:cs typeface="Calibri" pitchFamily="34" charset="-120"/>
              </a:rPr>
              <a:t>scholar.google.com</a:t>
            </a:r>
            <a:endParaRPr lang="en-US" sz="1400" dirty="0"/>
          </a:p>
        </p:txBody>
      </p:sp>
      <p:sp>
        <p:nvSpPr>
          <p:cNvPr id="26" name="Shape 24"/>
          <p:cNvSpPr/>
          <p:nvPr/>
        </p:nvSpPr>
        <p:spPr>
          <a:xfrm>
            <a:off x="6126480" y="2322576"/>
            <a:ext cx="2743200" cy="777240"/>
          </a:xfrm>
          <a:prstGeom prst="rect">
            <a:avLst/>
          </a:prstGeom>
          <a:solidFill>
            <a:srgbClr val="F8FBFF"/>
          </a:solidFill>
          <a:ln w="6350">
            <a:solidFill>
              <a:srgbClr val="CCCCCC"/>
            </a:solidFill>
            <a:prstDash val="solid"/>
          </a:ln>
        </p:spPr>
      </p:sp>
      <p:sp>
        <p:nvSpPr>
          <p:cNvPr id="27" name="Text 25"/>
          <p:cNvSpPr/>
          <p:nvPr/>
        </p:nvSpPr>
        <p:spPr>
          <a:xfrm>
            <a:off x="6217920" y="2377440"/>
            <a:ext cx="2560320" cy="6675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Tìm kiếm bài báo học thuật, xem số trích dẫn, tải PDF miễn phí, tạo TLTK tự động.</a:t>
            </a:r>
            <a:endParaRPr lang="en-US" sz="1500" dirty="0"/>
          </a:p>
        </p:txBody>
      </p:sp>
      <p:sp>
        <p:nvSpPr>
          <p:cNvPr id="28" name="Shape 26"/>
          <p:cNvSpPr/>
          <p:nvPr/>
        </p:nvSpPr>
        <p:spPr>
          <a:xfrm>
            <a:off x="274320" y="3145536"/>
            <a:ext cx="2743200" cy="475488"/>
          </a:xfrm>
          <a:prstGeom prst="rect">
            <a:avLst/>
          </a:prstGeom>
          <a:solidFill>
            <a:srgbClr val="F5A623"/>
          </a:solidFill>
          <a:ln w="12700">
            <a:solidFill>
              <a:srgbClr val="F5A623"/>
            </a:solidFill>
            <a:prstDash val="solid"/>
          </a:ln>
        </p:spPr>
      </p:sp>
      <p:sp>
        <p:nvSpPr>
          <p:cNvPr id="29" name="Text 27"/>
          <p:cNvSpPr/>
          <p:nvPr/>
        </p:nvSpPr>
        <p:spPr>
          <a:xfrm>
            <a:off x="365760" y="3145536"/>
            <a:ext cx="2560320" cy="47548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  iThenticate</a:t>
            </a:r>
            <a:endParaRPr lang="en-US" sz="1900" dirty="0"/>
          </a:p>
        </p:txBody>
      </p:sp>
      <p:sp>
        <p:nvSpPr>
          <p:cNvPr id="30" name="Shape 28"/>
          <p:cNvSpPr/>
          <p:nvPr/>
        </p:nvSpPr>
        <p:spPr>
          <a:xfrm>
            <a:off x="274320" y="3621024"/>
            <a:ext cx="2743200" cy="256032"/>
          </a:xfrm>
          <a:prstGeom prst="rect">
            <a:avLst/>
          </a:prstGeom>
          <a:solidFill>
            <a:srgbClr val="F0F0F0"/>
          </a:solidFill>
          <a:ln w="6350">
            <a:solidFill>
              <a:srgbClr val="CCCCCC"/>
            </a:solidFill>
            <a:prstDash val="solid"/>
          </a:ln>
        </p:spPr>
      </p:sp>
      <p:sp>
        <p:nvSpPr>
          <p:cNvPr id="31" name="Text 29"/>
          <p:cNvSpPr/>
          <p:nvPr/>
        </p:nvSpPr>
        <p:spPr>
          <a:xfrm>
            <a:off x="347472" y="3639312"/>
            <a:ext cx="2596896" cy="219456"/>
          </a:xfrm>
          <a:prstGeom prst="rect">
            <a:avLst/>
          </a:prstGeom>
          <a:noFill/>
          <a:ln/>
        </p:spPr>
        <p:txBody>
          <a:bodyPr wrap="square" lIns="0" tIns="0" rIns="0" bIns="0" rtlCol="0" anchor="ctr"/>
          <a:lstStyle/>
          <a:p>
            <a:pPr marL="0" indent="0" algn="ctr">
              <a:buNone/>
            </a:pPr>
            <a:r>
              <a:rPr lang="en-US" sz="1400" dirty="0">
                <a:solidFill>
                  <a:srgbClr val="F5A623"/>
                </a:solidFill>
                <a:latin typeface="Calibri" pitchFamily="34" charset="0"/>
                <a:ea typeface="Calibri" pitchFamily="34" charset="-122"/>
                <a:cs typeface="Calibri" pitchFamily="34" charset="-120"/>
              </a:rPr>
              <a:t>Qua Thư viện UTT</a:t>
            </a:r>
            <a:endParaRPr lang="en-US" sz="1400" dirty="0"/>
          </a:p>
        </p:txBody>
      </p:sp>
      <p:sp>
        <p:nvSpPr>
          <p:cNvPr id="32" name="Shape 30"/>
          <p:cNvSpPr/>
          <p:nvPr/>
        </p:nvSpPr>
        <p:spPr>
          <a:xfrm>
            <a:off x="274320" y="3895344"/>
            <a:ext cx="2743200" cy="777240"/>
          </a:xfrm>
          <a:prstGeom prst="rect">
            <a:avLst/>
          </a:prstGeom>
          <a:solidFill>
            <a:srgbClr val="F8FBFF"/>
          </a:solidFill>
          <a:ln w="6350">
            <a:solidFill>
              <a:srgbClr val="CCCCCC"/>
            </a:solidFill>
            <a:prstDash val="solid"/>
          </a:ln>
        </p:spPr>
      </p:sp>
      <p:sp>
        <p:nvSpPr>
          <p:cNvPr id="33" name="Text 31"/>
          <p:cNvSpPr/>
          <p:nvPr/>
        </p:nvSpPr>
        <p:spPr>
          <a:xfrm>
            <a:off x="365760" y="3950208"/>
            <a:ext cx="2560320" cy="6675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Kiểm tra trùng lặp nội dung (plagiarism). JSTT yêu cầu &lt; 20%. Liên hệ thư viện UTT.</a:t>
            </a:r>
            <a:endParaRPr lang="en-US" sz="1500" dirty="0"/>
          </a:p>
        </p:txBody>
      </p:sp>
      <p:sp>
        <p:nvSpPr>
          <p:cNvPr id="34" name="Shape 32"/>
          <p:cNvSpPr/>
          <p:nvPr/>
        </p:nvSpPr>
        <p:spPr>
          <a:xfrm>
            <a:off x="3200400" y="3145536"/>
            <a:ext cx="2743200" cy="475488"/>
          </a:xfrm>
          <a:prstGeom prst="rect">
            <a:avLst/>
          </a:prstGeom>
          <a:solidFill>
            <a:srgbClr val="8B1A1A"/>
          </a:solidFill>
          <a:ln w="12700">
            <a:solidFill>
              <a:srgbClr val="8B1A1A"/>
            </a:solidFill>
            <a:prstDash val="solid"/>
          </a:ln>
        </p:spPr>
      </p:sp>
      <p:sp>
        <p:nvSpPr>
          <p:cNvPr id="35" name="Text 33"/>
          <p:cNvSpPr/>
          <p:nvPr/>
        </p:nvSpPr>
        <p:spPr>
          <a:xfrm>
            <a:off x="3291840" y="3145536"/>
            <a:ext cx="2560320" cy="47548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  Template JSTT</a:t>
            </a:r>
            <a:endParaRPr lang="en-US" sz="1900" dirty="0"/>
          </a:p>
        </p:txBody>
      </p:sp>
      <p:sp>
        <p:nvSpPr>
          <p:cNvPr id="36" name="Shape 34"/>
          <p:cNvSpPr/>
          <p:nvPr/>
        </p:nvSpPr>
        <p:spPr>
          <a:xfrm>
            <a:off x="3200400" y="3621024"/>
            <a:ext cx="2743200" cy="256032"/>
          </a:xfrm>
          <a:prstGeom prst="rect">
            <a:avLst/>
          </a:prstGeom>
          <a:solidFill>
            <a:srgbClr val="F0F0F0"/>
          </a:solidFill>
          <a:ln w="6350">
            <a:solidFill>
              <a:srgbClr val="CCCCCC"/>
            </a:solidFill>
            <a:prstDash val="solid"/>
          </a:ln>
        </p:spPr>
      </p:sp>
      <p:sp>
        <p:nvSpPr>
          <p:cNvPr id="37" name="Text 35"/>
          <p:cNvSpPr/>
          <p:nvPr/>
        </p:nvSpPr>
        <p:spPr>
          <a:xfrm>
            <a:off x="3273552" y="3639312"/>
            <a:ext cx="2596896" cy="219456"/>
          </a:xfrm>
          <a:prstGeom prst="rect">
            <a:avLst/>
          </a:prstGeom>
          <a:noFill/>
          <a:ln/>
        </p:spPr>
        <p:txBody>
          <a:bodyPr wrap="square" lIns="0" tIns="0" rIns="0" bIns="0" rtlCol="0" anchor="ctr"/>
          <a:lstStyle/>
          <a:p>
            <a:pPr marL="0" indent="0" algn="ctr">
              <a:buNone/>
            </a:pPr>
            <a:r>
              <a:rPr lang="en-US" sz="1400" dirty="0">
                <a:solidFill>
                  <a:srgbClr val="8B1A1A"/>
                </a:solidFill>
                <a:latin typeface="Calibri" pitchFamily="34" charset="0"/>
                <a:ea typeface="Calibri" pitchFamily="34" charset="-122"/>
                <a:cs typeface="Calibri" pitchFamily="34" charset="-120"/>
              </a:rPr>
              <a:t>jstt.vn → Hướng dẫn gửi</a:t>
            </a:r>
            <a:endParaRPr lang="en-US" sz="1400" dirty="0"/>
          </a:p>
        </p:txBody>
      </p:sp>
      <p:sp>
        <p:nvSpPr>
          <p:cNvPr id="38" name="Shape 36"/>
          <p:cNvSpPr/>
          <p:nvPr/>
        </p:nvSpPr>
        <p:spPr>
          <a:xfrm>
            <a:off x="3200400" y="3895344"/>
            <a:ext cx="2743200" cy="777240"/>
          </a:xfrm>
          <a:prstGeom prst="rect">
            <a:avLst/>
          </a:prstGeom>
          <a:solidFill>
            <a:srgbClr val="F8FBFF"/>
          </a:solidFill>
          <a:ln w="6350">
            <a:solidFill>
              <a:srgbClr val="CCCCCC"/>
            </a:solidFill>
            <a:prstDash val="solid"/>
          </a:ln>
        </p:spPr>
      </p:sp>
      <p:sp>
        <p:nvSpPr>
          <p:cNvPr id="39" name="Text 37"/>
          <p:cNvSpPr/>
          <p:nvPr/>
        </p:nvSpPr>
        <p:spPr>
          <a:xfrm>
            <a:off x="3291840" y="3950208"/>
            <a:ext cx="2560320" cy="6675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Bắt buộc dùng khi nộp bài. File .docx, tải miễn phí trên website JSTT.</a:t>
            </a:r>
            <a:endParaRPr lang="en-US" sz="1500" dirty="0"/>
          </a:p>
        </p:txBody>
      </p:sp>
      <p:sp>
        <p:nvSpPr>
          <p:cNvPr id="40" name="Shape 38"/>
          <p:cNvSpPr/>
          <p:nvPr/>
        </p:nvSpPr>
        <p:spPr>
          <a:xfrm>
            <a:off x="6126480" y="3145536"/>
            <a:ext cx="2743200" cy="475488"/>
          </a:xfrm>
          <a:prstGeom prst="rect">
            <a:avLst/>
          </a:prstGeom>
          <a:solidFill>
            <a:srgbClr val="555555"/>
          </a:solidFill>
          <a:ln w="12700">
            <a:solidFill>
              <a:srgbClr val="555555"/>
            </a:solidFill>
            <a:prstDash val="solid"/>
          </a:ln>
        </p:spPr>
      </p:sp>
      <p:sp>
        <p:nvSpPr>
          <p:cNvPr id="41" name="Text 39"/>
          <p:cNvSpPr/>
          <p:nvPr/>
        </p:nvSpPr>
        <p:spPr>
          <a:xfrm>
            <a:off x="6217920" y="3145536"/>
            <a:ext cx="2560320" cy="47548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  DeepL / ChatGPT</a:t>
            </a:r>
            <a:endParaRPr lang="en-US" sz="1900" dirty="0"/>
          </a:p>
        </p:txBody>
      </p:sp>
      <p:sp>
        <p:nvSpPr>
          <p:cNvPr id="42" name="Shape 40"/>
          <p:cNvSpPr/>
          <p:nvPr/>
        </p:nvSpPr>
        <p:spPr>
          <a:xfrm>
            <a:off x="6126480" y="3621024"/>
            <a:ext cx="2743200" cy="256032"/>
          </a:xfrm>
          <a:prstGeom prst="rect">
            <a:avLst/>
          </a:prstGeom>
          <a:solidFill>
            <a:srgbClr val="F0F0F0"/>
          </a:solidFill>
          <a:ln w="6350">
            <a:solidFill>
              <a:srgbClr val="CCCCCC"/>
            </a:solidFill>
            <a:prstDash val="solid"/>
          </a:ln>
        </p:spPr>
      </p:sp>
      <p:sp>
        <p:nvSpPr>
          <p:cNvPr id="43" name="Text 41"/>
          <p:cNvSpPr/>
          <p:nvPr/>
        </p:nvSpPr>
        <p:spPr>
          <a:xfrm>
            <a:off x="6199632" y="3639312"/>
            <a:ext cx="2596896" cy="219456"/>
          </a:xfrm>
          <a:prstGeom prst="rect">
            <a:avLst/>
          </a:prstGeom>
          <a:noFill/>
          <a:ln/>
        </p:spPr>
        <p:txBody>
          <a:bodyPr wrap="square" lIns="0" tIns="0" rIns="0" bIns="0" rtlCol="0" anchor="ctr"/>
          <a:lstStyle/>
          <a:p>
            <a:pPr marL="0" indent="0" algn="ctr">
              <a:buNone/>
            </a:pPr>
            <a:r>
              <a:rPr lang="en-US" sz="1400" dirty="0">
                <a:solidFill>
                  <a:srgbClr val="555555"/>
                </a:solidFill>
                <a:latin typeface="Calibri" pitchFamily="34" charset="0"/>
                <a:ea typeface="Calibri" pitchFamily="34" charset="-122"/>
                <a:cs typeface="Calibri" pitchFamily="34" charset="-120"/>
              </a:rPr>
              <a:t>deepl.com</a:t>
            </a:r>
            <a:endParaRPr lang="en-US" sz="1400" dirty="0"/>
          </a:p>
        </p:txBody>
      </p:sp>
      <p:sp>
        <p:nvSpPr>
          <p:cNvPr id="44" name="Shape 42"/>
          <p:cNvSpPr/>
          <p:nvPr/>
        </p:nvSpPr>
        <p:spPr>
          <a:xfrm>
            <a:off x="6126480" y="3895344"/>
            <a:ext cx="2743200" cy="777240"/>
          </a:xfrm>
          <a:prstGeom prst="rect">
            <a:avLst/>
          </a:prstGeom>
          <a:solidFill>
            <a:srgbClr val="F8FBFF"/>
          </a:solidFill>
          <a:ln w="6350">
            <a:solidFill>
              <a:srgbClr val="CCCCCC"/>
            </a:solidFill>
            <a:prstDash val="solid"/>
          </a:ln>
        </p:spPr>
      </p:sp>
      <p:sp>
        <p:nvSpPr>
          <p:cNvPr id="45" name="Text 43"/>
          <p:cNvSpPr/>
          <p:nvPr/>
        </p:nvSpPr>
        <p:spPr>
          <a:xfrm>
            <a:off x="6217920" y="3950208"/>
            <a:ext cx="2560320" cy="667512"/>
          </a:xfrm>
          <a:prstGeom prst="rect">
            <a:avLst/>
          </a:prstGeom>
          <a:noFill/>
          <a:ln/>
        </p:spPr>
        <p:txBody>
          <a:bodyPr wrap="square" lIns="0" tIns="0" rIns="0" bIns="0" rtlCol="0" anchor="ctr"/>
          <a:lstStyle/>
          <a:p>
            <a:pPr marL="0" indent="0">
              <a:buNone/>
            </a:pPr>
            <a:r>
              <a:rPr lang="en-US" sz="1500" dirty="0">
                <a:solidFill>
                  <a:srgbClr val="2B2F77"/>
                </a:solidFill>
                <a:latin typeface="Calibri" pitchFamily="34" charset="0"/>
                <a:ea typeface="Calibri" pitchFamily="34" charset="-122"/>
                <a:cs typeface="Calibri" pitchFamily="34" charset="-120"/>
              </a:rPr>
              <a:t>Hỗ trợ dịch và cải thiện tiếng Anh học thuật. Dùng để tham khảo — không copy nguyên văn.</a:t>
            </a:r>
            <a:endParaRPr lang="en-US" sz="1500" dirty="0"/>
          </a:p>
        </p:txBody>
      </p:sp>
      <p:sp>
        <p:nvSpPr>
          <p:cNvPr id="46" name="Shape 44"/>
          <p:cNvSpPr/>
          <p:nvPr/>
        </p:nvSpPr>
        <p:spPr>
          <a:xfrm>
            <a:off x="2011680" y="4846320"/>
            <a:ext cx="7040880" cy="36576"/>
          </a:xfrm>
          <a:prstGeom prst="rect">
            <a:avLst/>
          </a:prstGeom>
          <a:solidFill>
            <a:srgbClr val="F5A623"/>
          </a:solidFill>
          <a:ln w="12700">
            <a:solidFill>
              <a:srgbClr val="F5A623"/>
            </a:solidFill>
            <a:prstDash val="solid"/>
          </a:ln>
        </p:spPr>
      </p:sp>
      <p:pic>
        <p:nvPicPr>
          <p:cNvPr id="47" name="Image 0" descr="preencoded.png"/>
          <p:cNvPicPr>
            <a:picLocks noChangeAspect="1"/>
          </p:cNvPicPr>
          <p:nvPr/>
        </p:nvPicPr>
        <p:blipFill>
          <a:blip r:embed="rId3"/>
          <a:stretch>
            <a:fillRect/>
          </a:stretch>
        </p:blipFill>
        <p:spPr>
          <a:xfrm>
            <a:off x="137160" y="4709160"/>
            <a:ext cx="804672" cy="384048"/>
          </a:xfrm>
          <a:prstGeom prst="rect">
            <a:avLst/>
          </a:prstGeom>
        </p:spPr>
      </p:pic>
      <p:sp>
        <p:nvSpPr>
          <p:cNvPr id="48" name="Text 45"/>
          <p:cNvSpPr/>
          <p:nvPr/>
        </p:nvSpPr>
        <p:spPr>
          <a:xfrm>
            <a:off x="1024128" y="4700016"/>
            <a:ext cx="5303520" cy="420624"/>
          </a:xfrm>
          <a:prstGeom prst="rect">
            <a:avLst/>
          </a:prstGeom>
          <a:noFill/>
          <a:ln/>
        </p:spPr>
        <p:txBody>
          <a:bodyPr wrap="square" lIns="0" tIns="0" rIns="0" bIns="0" rtlCol="0" anchor="ctr"/>
          <a:lstStyle/>
          <a:p>
            <a:pPr marL="0" indent="0">
              <a:buNone/>
            </a:pPr>
            <a:r>
              <a:rPr lang="en-US" sz="1100" b="1" dirty="0">
                <a:solidFill>
                  <a:srgbClr val="2B2F77"/>
                </a:solidFill>
                <a:latin typeface="Calibri" pitchFamily="34" charset="0"/>
                <a:ea typeface="Calibri" pitchFamily="34" charset="-122"/>
                <a:cs typeface="Calibri" pitchFamily="34" charset="-120"/>
              </a:rPr>
              <a:t>TRƯỜNG ĐẠI HỌC CÔNG NGHỆ GIAO THÔNG VẬN TẢI</a:t>
            </a:r>
            <a:endParaRPr lang="en-US" sz="1100" dirty="0"/>
          </a:p>
          <a:p>
            <a:pPr marL="0" indent="0">
              <a:buNone/>
            </a:pPr>
            <a:r>
              <a:rPr lang="en-US" sz="1100" dirty="0">
                <a:solidFill>
                  <a:srgbClr val="2B2F77"/>
                </a:solidFill>
                <a:latin typeface="Calibri" pitchFamily="34" charset="0"/>
                <a:ea typeface="Calibri" pitchFamily="34" charset="-122"/>
                <a:cs typeface="Calibri" pitchFamily="34" charset="-120"/>
              </a:rPr>
              <a:t>University Of Transport Technology</a:t>
            </a:r>
            <a:endParaRPr lang="en-US" sz="1100" dirty="0"/>
          </a:p>
        </p:txBody>
      </p:sp>
      <p:sp>
        <p:nvSpPr>
          <p:cNvPr id="49" name="Text 46"/>
          <p:cNvSpPr/>
          <p:nvPr/>
        </p:nvSpPr>
        <p:spPr>
          <a:xfrm>
            <a:off x="7498080" y="4818888"/>
            <a:ext cx="1463040" cy="228600"/>
          </a:xfrm>
          <a:prstGeom prst="rect">
            <a:avLst/>
          </a:prstGeom>
          <a:noFill/>
          <a:ln/>
        </p:spPr>
        <p:txBody>
          <a:bodyPr wrap="square" lIns="0" tIns="0" rIns="0" bIns="0" rtlCol="0" anchor="ctr"/>
          <a:lstStyle/>
          <a:p>
            <a:pPr marL="0" indent="0" algn="r">
              <a:buNone/>
            </a:pPr>
            <a:r>
              <a:rPr lang="en-US" sz="1100" dirty="0">
                <a:solidFill>
                  <a:srgbClr val="2B2F77"/>
                </a:solidFill>
                <a:latin typeface="Calibri" pitchFamily="34" charset="0"/>
                <a:ea typeface="Calibri" pitchFamily="34" charset="-122"/>
                <a:cs typeface="Calibri" pitchFamily="34" charset="-120"/>
              </a:rPr>
              <a:t>https://utt.edu.vn</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B2F7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5A623"/>
          </a:solidFill>
          <a:ln w="12700">
            <a:solidFill>
              <a:srgbClr val="F5A623"/>
            </a:solidFill>
            <a:prstDash val="solid"/>
          </a:ln>
        </p:spPr>
      </p:sp>
      <p:sp>
        <p:nvSpPr>
          <p:cNvPr id="3" name="Shape 1"/>
          <p:cNvSpPr/>
          <p:nvPr/>
        </p:nvSpPr>
        <p:spPr>
          <a:xfrm>
            <a:off x="109728" y="91440"/>
            <a:ext cx="566928" cy="566928"/>
          </a:xfrm>
          <a:prstGeom prst="rect">
            <a:avLst/>
          </a:prstGeom>
          <a:solidFill>
            <a:srgbClr val="FFFFFF"/>
          </a:solidFill>
          <a:ln w="12700">
            <a:solidFill>
              <a:srgbClr val="FFFFFF"/>
            </a:solidFill>
            <a:prstDash val="solid"/>
          </a:ln>
        </p:spPr>
      </p:sp>
      <p:sp>
        <p:nvSpPr>
          <p:cNvPr id="4" name="Text 2"/>
          <p:cNvSpPr/>
          <p:nvPr/>
        </p:nvSpPr>
        <p:spPr>
          <a:xfrm>
            <a:off x="109728" y="91440"/>
            <a:ext cx="566928" cy="566928"/>
          </a:xfrm>
          <a:prstGeom prst="rect">
            <a:avLst/>
          </a:prstGeom>
          <a:noFill/>
          <a:ln/>
        </p:spPr>
        <p:txBody>
          <a:bodyPr wrap="square" lIns="0" tIns="0" rIns="0" bIns="0" rtlCol="0" anchor="ctr"/>
          <a:lstStyle/>
          <a:p>
            <a:pPr marL="0" indent="0" algn="ctr">
              <a:buNone/>
            </a:pPr>
            <a:r>
              <a:rPr lang="en-US" sz="1600" b="1" dirty="0">
                <a:solidFill>
                  <a:srgbClr val="F5A623"/>
                </a:solidFill>
                <a:latin typeface="Calibri" pitchFamily="34" charset="0"/>
                <a:ea typeface="Calibri" pitchFamily="34" charset="-122"/>
                <a:cs typeface="Calibri" pitchFamily="34" charset="-120"/>
              </a:rPr>
              <a:t>UTT</a:t>
            </a:r>
            <a:endParaRPr lang="en-US" sz="1600" dirty="0"/>
          </a:p>
        </p:txBody>
      </p:sp>
      <p:sp>
        <p:nvSpPr>
          <p:cNvPr id="5" name="Text 3"/>
          <p:cNvSpPr/>
          <p:nvPr/>
        </p:nvSpPr>
        <p:spPr>
          <a:xfrm>
            <a:off x="777240"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Text 5"/>
          <p:cNvSpPr/>
          <p:nvPr/>
        </p:nvSpPr>
        <p:spPr>
          <a:xfrm>
            <a:off x="457200" y="868680"/>
            <a:ext cx="822960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NHỮNG ĐIỀU BẠN MANG VỀ HÔM NAY</a:t>
            </a:r>
            <a:endParaRPr lang="en-US" sz="2600" dirty="0"/>
          </a:p>
        </p:txBody>
      </p:sp>
      <p:sp>
        <p:nvSpPr>
          <p:cNvPr id="8" name="Shape 6"/>
          <p:cNvSpPr/>
          <p:nvPr/>
        </p:nvSpPr>
        <p:spPr>
          <a:xfrm>
            <a:off x="365760" y="1490472"/>
            <a:ext cx="457200" cy="457200"/>
          </a:xfrm>
          <a:prstGeom prst="rect">
            <a:avLst/>
          </a:prstGeom>
          <a:solidFill>
            <a:srgbClr val="F5A623"/>
          </a:solidFill>
          <a:ln w="12700">
            <a:solidFill>
              <a:srgbClr val="F5A623"/>
            </a:solidFill>
            <a:prstDash val="solid"/>
          </a:ln>
        </p:spPr>
      </p:sp>
      <p:sp>
        <p:nvSpPr>
          <p:cNvPr id="9" name="Text 7"/>
          <p:cNvSpPr/>
          <p:nvPr/>
        </p:nvSpPr>
        <p:spPr>
          <a:xfrm>
            <a:off x="365760" y="1490472"/>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Shape 8"/>
          <p:cNvSpPr/>
          <p:nvPr/>
        </p:nvSpPr>
        <p:spPr>
          <a:xfrm>
            <a:off x="868680" y="1490472"/>
            <a:ext cx="7955280" cy="457200"/>
          </a:xfrm>
          <a:prstGeom prst="rect">
            <a:avLst/>
          </a:prstGeom>
          <a:solidFill>
            <a:srgbClr val="FFFFFF"/>
          </a:solidFill>
          <a:ln w="6350">
            <a:solidFill>
              <a:srgbClr val="CCCCCC"/>
            </a:solidFill>
            <a:prstDash val="solid"/>
          </a:ln>
        </p:spPr>
      </p:sp>
      <p:sp>
        <p:nvSpPr>
          <p:cNvPr id="11" name="Text 9"/>
          <p:cNvSpPr/>
          <p:nvPr/>
        </p:nvSpPr>
        <p:spPr>
          <a:xfrm>
            <a:off x="868680" y="1545336"/>
            <a:ext cx="786384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  Bài báo khoa học khác báo cáo NCKH — có cấu trúc IMRAD, có đóng góp mới</a:t>
            </a:r>
            <a:endParaRPr lang="en-US" sz="1800" dirty="0"/>
          </a:p>
        </p:txBody>
      </p:sp>
      <p:sp>
        <p:nvSpPr>
          <p:cNvPr id="12" name="Shape 10"/>
          <p:cNvSpPr/>
          <p:nvPr/>
        </p:nvSpPr>
        <p:spPr>
          <a:xfrm>
            <a:off x="365760" y="2020824"/>
            <a:ext cx="457200" cy="457200"/>
          </a:xfrm>
          <a:prstGeom prst="rect">
            <a:avLst/>
          </a:prstGeom>
          <a:solidFill>
            <a:srgbClr val="F5A623"/>
          </a:solidFill>
          <a:ln w="12700">
            <a:solidFill>
              <a:srgbClr val="F5A623"/>
            </a:solidFill>
            <a:prstDash val="solid"/>
          </a:ln>
        </p:spPr>
      </p:sp>
      <p:sp>
        <p:nvSpPr>
          <p:cNvPr id="13" name="Text 11"/>
          <p:cNvSpPr/>
          <p:nvPr/>
        </p:nvSpPr>
        <p:spPr>
          <a:xfrm>
            <a:off x="365760" y="2020824"/>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Shape 12"/>
          <p:cNvSpPr/>
          <p:nvPr/>
        </p:nvSpPr>
        <p:spPr>
          <a:xfrm>
            <a:off x="868680" y="2020824"/>
            <a:ext cx="7955280" cy="457200"/>
          </a:xfrm>
          <a:prstGeom prst="rect">
            <a:avLst/>
          </a:prstGeom>
          <a:solidFill>
            <a:srgbClr val="FFFFFF"/>
          </a:solidFill>
          <a:ln w="6350">
            <a:solidFill>
              <a:srgbClr val="CCCCCC"/>
            </a:solidFill>
            <a:prstDash val="solid"/>
          </a:ln>
        </p:spPr>
      </p:sp>
      <p:sp>
        <p:nvSpPr>
          <p:cNvPr id="15" name="Text 13"/>
          <p:cNvSpPr/>
          <p:nvPr/>
        </p:nvSpPr>
        <p:spPr>
          <a:xfrm>
            <a:off x="868680" y="2075688"/>
            <a:ext cx="786384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  Thứ tự viết tối ưu: Phương pháp → Kết quả → Discussion → Introduction → Abstract → Tiêu đề</a:t>
            </a:r>
            <a:endParaRPr lang="en-US" sz="1800" dirty="0"/>
          </a:p>
        </p:txBody>
      </p:sp>
      <p:sp>
        <p:nvSpPr>
          <p:cNvPr id="16" name="Shape 14"/>
          <p:cNvSpPr/>
          <p:nvPr/>
        </p:nvSpPr>
        <p:spPr>
          <a:xfrm>
            <a:off x="365760" y="2551176"/>
            <a:ext cx="457200" cy="457200"/>
          </a:xfrm>
          <a:prstGeom prst="rect">
            <a:avLst/>
          </a:prstGeom>
          <a:solidFill>
            <a:srgbClr val="F5A623"/>
          </a:solidFill>
          <a:ln w="12700">
            <a:solidFill>
              <a:srgbClr val="F5A623"/>
            </a:solidFill>
            <a:prstDash val="solid"/>
          </a:ln>
        </p:spPr>
      </p:sp>
      <p:sp>
        <p:nvSpPr>
          <p:cNvPr id="17" name="Text 15"/>
          <p:cNvSpPr/>
          <p:nvPr/>
        </p:nvSpPr>
        <p:spPr>
          <a:xfrm>
            <a:off x="365760" y="2551176"/>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Shape 16"/>
          <p:cNvSpPr/>
          <p:nvPr/>
        </p:nvSpPr>
        <p:spPr>
          <a:xfrm>
            <a:off x="868680" y="2551176"/>
            <a:ext cx="7955280" cy="457200"/>
          </a:xfrm>
          <a:prstGeom prst="rect">
            <a:avLst/>
          </a:prstGeom>
          <a:solidFill>
            <a:srgbClr val="FFFFFF"/>
          </a:solidFill>
          <a:ln w="6350">
            <a:solidFill>
              <a:srgbClr val="CCCCCC"/>
            </a:solidFill>
            <a:prstDash val="solid"/>
          </a:ln>
        </p:spPr>
      </p:sp>
      <p:sp>
        <p:nvSpPr>
          <p:cNvPr id="19" name="Text 17"/>
          <p:cNvSpPr/>
          <p:nvPr/>
        </p:nvSpPr>
        <p:spPr>
          <a:xfrm>
            <a:off x="868680" y="2606040"/>
            <a:ext cx="786384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  Công thức Abstract 5 câu với số liệu kết quả cụ thể</a:t>
            </a:r>
            <a:endParaRPr lang="en-US" sz="1800" dirty="0"/>
          </a:p>
        </p:txBody>
      </p:sp>
      <p:sp>
        <p:nvSpPr>
          <p:cNvPr id="20" name="Shape 18"/>
          <p:cNvSpPr/>
          <p:nvPr/>
        </p:nvSpPr>
        <p:spPr>
          <a:xfrm>
            <a:off x="365760" y="3081528"/>
            <a:ext cx="457200" cy="457200"/>
          </a:xfrm>
          <a:prstGeom prst="rect">
            <a:avLst/>
          </a:prstGeom>
          <a:solidFill>
            <a:srgbClr val="F5A623"/>
          </a:solidFill>
          <a:ln w="12700">
            <a:solidFill>
              <a:srgbClr val="F5A623"/>
            </a:solidFill>
            <a:prstDash val="solid"/>
          </a:ln>
        </p:spPr>
      </p:sp>
      <p:sp>
        <p:nvSpPr>
          <p:cNvPr id="21" name="Text 19"/>
          <p:cNvSpPr/>
          <p:nvPr/>
        </p:nvSpPr>
        <p:spPr>
          <a:xfrm>
            <a:off x="365760" y="3081528"/>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Shape 20"/>
          <p:cNvSpPr/>
          <p:nvPr/>
        </p:nvSpPr>
        <p:spPr>
          <a:xfrm>
            <a:off x="868680" y="3081528"/>
            <a:ext cx="7955280" cy="457200"/>
          </a:xfrm>
          <a:prstGeom prst="rect">
            <a:avLst/>
          </a:prstGeom>
          <a:solidFill>
            <a:srgbClr val="FFFFFF"/>
          </a:solidFill>
          <a:ln w="6350">
            <a:solidFill>
              <a:srgbClr val="CCCCCC"/>
            </a:solidFill>
            <a:prstDash val="solid"/>
          </a:ln>
        </p:spPr>
      </p:sp>
      <p:sp>
        <p:nvSpPr>
          <p:cNvPr id="23" name="Text 21"/>
          <p:cNvSpPr/>
          <p:nvPr/>
        </p:nvSpPr>
        <p:spPr>
          <a:xfrm>
            <a:off x="868680" y="3136392"/>
            <a:ext cx="786384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  Checklist 15 mục để tránh lỗi phổ biến trước khi nộp bài</a:t>
            </a:r>
            <a:endParaRPr lang="en-US" sz="1800" dirty="0"/>
          </a:p>
        </p:txBody>
      </p:sp>
      <p:sp>
        <p:nvSpPr>
          <p:cNvPr id="24" name="Shape 22"/>
          <p:cNvSpPr/>
          <p:nvPr/>
        </p:nvSpPr>
        <p:spPr>
          <a:xfrm>
            <a:off x="365760" y="3611880"/>
            <a:ext cx="457200" cy="457200"/>
          </a:xfrm>
          <a:prstGeom prst="rect">
            <a:avLst/>
          </a:prstGeom>
          <a:solidFill>
            <a:srgbClr val="F5A623"/>
          </a:solidFill>
          <a:ln w="12700">
            <a:solidFill>
              <a:srgbClr val="F5A623"/>
            </a:solidFill>
            <a:prstDash val="solid"/>
          </a:ln>
        </p:spPr>
      </p:sp>
      <p:sp>
        <p:nvSpPr>
          <p:cNvPr id="25" name="Text 23"/>
          <p:cNvSpPr/>
          <p:nvPr/>
        </p:nvSpPr>
        <p:spPr>
          <a:xfrm>
            <a:off x="365760" y="361188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6" name="Shape 24"/>
          <p:cNvSpPr/>
          <p:nvPr/>
        </p:nvSpPr>
        <p:spPr>
          <a:xfrm>
            <a:off x="868680" y="3611880"/>
            <a:ext cx="7955280" cy="457200"/>
          </a:xfrm>
          <a:prstGeom prst="rect">
            <a:avLst/>
          </a:prstGeom>
          <a:solidFill>
            <a:srgbClr val="FFFFFF"/>
          </a:solidFill>
          <a:ln w="6350">
            <a:solidFill>
              <a:srgbClr val="CCCCCC"/>
            </a:solidFill>
            <a:prstDash val="solid"/>
          </a:ln>
        </p:spPr>
      </p:sp>
      <p:sp>
        <p:nvSpPr>
          <p:cNvPr id="27" name="Text 25"/>
          <p:cNvSpPr/>
          <p:nvPr/>
        </p:nvSpPr>
        <p:spPr>
          <a:xfrm>
            <a:off x="868680" y="3666744"/>
            <a:ext cx="786384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  Khung bài báo đầu tiên từ đề tài NCKH của chính mình</a:t>
            </a:r>
            <a:endParaRPr lang="en-US" sz="1800" dirty="0"/>
          </a:p>
        </p:txBody>
      </p:sp>
      <p:sp>
        <p:nvSpPr>
          <p:cNvPr id="28" name="Shape 26"/>
          <p:cNvSpPr/>
          <p:nvPr/>
        </p:nvSpPr>
        <p:spPr>
          <a:xfrm>
            <a:off x="365760" y="4142232"/>
            <a:ext cx="457200" cy="457200"/>
          </a:xfrm>
          <a:prstGeom prst="rect">
            <a:avLst/>
          </a:prstGeom>
          <a:solidFill>
            <a:srgbClr val="F5A623"/>
          </a:solidFill>
          <a:ln w="12700">
            <a:solidFill>
              <a:srgbClr val="F5A623"/>
            </a:solidFill>
            <a:prstDash val="solid"/>
          </a:ln>
        </p:spPr>
      </p:sp>
      <p:sp>
        <p:nvSpPr>
          <p:cNvPr id="29" name="Text 27"/>
          <p:cNvSpPr/>
          <p:nvPr/>
        </p:nvSpPr>
        <p:spPr>
          <a:xfrm>
            <a:off x="365760" y="4142232"/>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0" name="Shape 28"/>
          <p:cNvSpPr/>
          <p:nvPr/>
        </p:nvSpPr>
        <p:spPr>
          <a:xfrm>
            <a:off x="868680" y="4142232"/>
            <a:ext cx="7955280" cy="457200"/>
          </a:xfrm>
          <a:prstGeom prst="rect">
            <a:avLst/>
          </a:prstGeom>
          <a:solidFill>
            <a:srgbClr val="FFFFFF"/>
          </a:solidFill>
          <a:ln w="6350">
            <a:solidFill>
              <a:srgbClr val="CCCCCC"/>
            </a:solidFill>
            <a:prstDash val="solid"/>
          </a:ln>
        </p:spPr>
      </p:sp>
      <p:sp>
        <p:nvSpPr>
          <p:cNvPr id="31" name="Text 29"/>
          <p:cNvSpPr/>
          <p:nvPr/>
        </p:nvSpPr>
        <p:spPr>
          <a:xfrm>
            <a:off x="868680" y="4197096"/>
            <a:ext cx="7863840" cy="347472"/>
          </a:xfrm>
          <a:prstGeom prst="rect">
            <a:avLst/>
          </a:prstGeom>
          <a:noFill/>
          <a:ln/>
        </p:spPr>
        <p:txBody>
          <a:bodyPr wrap="square" lIns="0" tIns="0" rIns="0" bIns="0" rtlCol="0" anchor="ctr"/>
          <a:lstStyle/>
          <a:p>
            <a:pPr marL="0" indent="0">
              <a:buNone/>
            </a:pPr>
            <a:r>
              <a:rPr lang="en-US" sz="1800" dirty="0">
                <a:solidFill>
                  <a:srgbClr val="2B2F77"/>
                </a:solidFill>
                <a:latin typeface="Calibri" pitchFamily="34" charset="0"/>
                <a:ea typeface="Calibri" pitchFamily="34" charset="-122"/>
                <a:cs typeface="Calibri" pitchFamily="34" charset="-120"/>
              </a:rPr>
              <a:t>  Quy trình 6 bước nộp bài tại jstt.vn — nộp qua </a:t>
            </a:r>
            <a:r>
              <a:rPr lang="en-US" sz="1800" dirty="0" err="1">
                <a:solidFill>
                  <a:srgbClr val="2B2F77"/>
                </a:solidFill>
                <a:latin typeface="Calibri" pitchFamily="34" charset="0"/>
                <a:ea typeface="Calibri" pitchFamily="34" charset="-122"/>
                <a:cs typeface="Calibri" pitchFamily="34" charset="-120"/>
              </a:rPr>
              <a:t>hệ</a:t>
            </a:r>
            <a:r>
              <a:rPr lang="en-US" sz="1800" dirty="0">
                <a:solidFill>
                  <a:srgbClr val="2B2F77"/>
                </a:solidFill>
                <a:latin typeface="Calibri" pitchFamily="34" charset="0"/>
                <a:ea typeface="Calibri" pitchFamily="34" charset="-122"/>
                <a:cs typeface="Calibri" pitchFamily="34" charset="-120"/>
              </a:rPr>
              <a:t> </a:t>
            </a:r>
            <a:r>
              <a:rPr lang="en-US" sz="1800" dirty="0" err="1">
                <a:solidFill>
                  <a:srgbClr val="2B2F77"/>
                </a:solidFill>
                <a:latin typeface="Calibri" pitchFamily="34" charset="0"/>
                <a:ea typeface="Calibri" pitchFamily="34" charset="-122"/>
                <a:cs typeface="Calibri" pitchFamily="34" charset="-120"/>
              </a:rPr>
              <a:t>thống</a:t>
            </a:r>
            <a:endParaRPr lang="en-US" sz="1800" dirty="0"/>
          </a:p>
        </p:txBody>
      </p:sp>
      <p:sp>
        <p:nvSpPr>
          <p:cNvPr id="32" name="Shape 30"/>
          <p:cNvSpPr/>
          <p:nvPr/>
        </p:nvSpPr>
        <p:spPr>
          <a:xfrm>
            <a:off x="0" y="4828032"/>
            <a:ext cx="9144000" cy="315468"/>
          </a:xfrm>
          <a:prstGeom prst="rect">
            <a:avLst/>
          </a:prstGeom>
          <a:solidFill>
            <a:srgbClr val="F5A623"/>
          </a:solidFill>
          <a:ln w="12700">
            <a:solidFill>
              <a:srgbClr val="F5A623"/>
            </a:solidFill>
            <a:prstDash val="solid"/>
          </a:ln>
        </p:spPr>
      </p:sp>
      <p:sp>
        <p:nvSpPr>
          <p:cNvPr id="33" name="Text 31"/>
          <p:cNvSpPr/>
          <p:nvPr/>
        </p:nvSpPr>
        <p:spPr>
          <a:xfrm>
            <a:off x="274320" y="4837176"/>
            <a:ext cx="8595360"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Bước tiếp theo: Hoàn thiện khung bài báo → Liên hệ JSTT: jstt@utt.edu.vn | jstt.vn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B2F7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5A623"/>
          </a:solidFill>
          <a:ln w="12700">
            <a:solidFill>
              <a:srgbClr val="F5A623"/>
            </a:solidFill>
            <a:prstDash val="solid"/>
          </a:ln>
        </p:spPr>
      </p:sp>
      <p:sp>
        <p:nvSpPr>
          <p:cNvPr id="3" name="Shape 1"/>
          <p:cNvSpPr/>
          <p:nvPr/>
        </p:nvSpPr>
        <p:spPr>
          <a:xfrm>
            <a:off x="109728" y="91440"/>
            <a:ext cx="566928" cy="566928"/>
          </a:xfrm>
          <a:prstGeom prst="rect">
            <a:avLst/>
          </a:prstGeom>
          <a:solidFill>
            <a:srgbClr val="FFFFFF"/>
          </a:solidFill>
          <a:ln w="12700">
            <a:solidFill>
              <a:srgbClr val="FFFFFF"/>
            </a:solidFill>
            <a:prstDash val="solid"/>
          </a:ln>
        </p:spPr>
      </p:sp>
      <p:sp>
        <p:nvSpPr>
          <p:cNvPr id="4" name="Text 2"/>
          <p:cNvSpPr/>
          <p:nvPr/>
        </p:nvSpPr>
        <p:spPr>
          <a:xfrm>
            <a:off x="109728" y="91440"/>
            <a:ext cx="566928" cy="566928"/>
          </a:xfrm>
          <a:prstGeom prst="rect">
            <a:avLst/>
          </a:prstGeom>
          <a:noFill/>
          <a:ln/>
        </p:spPr>
        <p:txBody>
          <a:bodyPr wrap="square" lIns="0" tIns="0" rIns="0" bIns="0" rtlCol="0" anchor="ctr"/>
          <a:lstStyle/>
          <a:p>
            <a:pPr marL="0" indent="0" algn="ctr">
              <a:buNone/>
            </a:pPr>
            <a:r>
              <a:rPr lang="en-US" sz="1600" b="1" dirty="0">
                <a:solidFill>
                  <a:srgbClr val="F5A623"/>
                </a:solidFill>
                <a:latin typeface="Calibri" pitchFamily="34" charset="0"/>
                <a:ea typeface="Calibri" pitchFamily="34" charset="-122"/>
                <a:cs typeface="Calibri" pitchFamily="34" charset="-120"/>
              </a:rPr>
              <a:t>UTT</a:t>
            </a:r>
            <a:endParaRPr lang="en-US" sz="1600" dirty="0"/>
          </a:p>
        </p:txBody>
      </p:sp>
      <p:sp>
        <p:nvSpPr>
          <p:cNvPr id="5" name="Text 3"/>
          <p:cNvSpPr/>
          <p:nvPr/>
        </p:nvSpPr>
        <p:spPr>
          <a:xfrm>
            <a:off x="777240" y="91440"/>
            <a:ext cx="594360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TRƯỜNG ĐẠI HỌC CÔNG NGHỆ GIAO THÔNG VẬN TẢI</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University Of Transport Technology</a:t>
            </a:r>
            <a:endParaRPr lang="en-US" sz="1300" dirty="0"/>
          </a:p>
        </p:txBody>
      </p:sp>
      <p:sp>
        <p:nvSpPr>
          <p:cNvPr id="6" name="Text 4"/>
          <p:cNvSpPr/>
          <p:nvPr/>
        </p:nvSpPr>
        <p:spPr>
          <a:xfrm>
            <a:off x="7315200" y="228600"/>
            <a:ext cx="1645920" cy="320040"/>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https://utt.edu.vn</a:t>
            </a:r>
            <a:endParaRPr lang="en-US" sz="1200" dirty="0"/>
          </a:p>
        </p:txBody>
      </p:sp>
      <p:sp>
        <p:nvSpPr>
          <p:cNvPr id="7" name="Text 5"/>
          <p:cNvSpPr/>
          <p:nvPr/>
        </p:nvSpPr>
        <p:spPr>
          <a:xfrm>
            <a:off x="457200" y="1645920"/>
            <a:ext cx="8229600" cy="128016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TRÂN TRỌNG CẢM ƠN!</a:t>
            </a:r>
            <a:endParaRPr lang="en-US" sz="5200" dirty="0"/>
          </a:p>
        </p:txBody>
      </p:sp>
      <p:sp>
        <p:nvSpPr>
          <p:cNvPr id="8" name="Shape 6"/>
          <p:cNvSpPr/>
          <p:nvPr/>
        </p:nvSpPr>
        <p:spPr>
          <a:xfrm>
            <a:off x="2286000" y="3017520"/>
            <a:ext cx="4572000" cy="73152"/>
          </a:xfrm>
          <a:prstGeom prst="rect">
            <a:avLst/>
          </a:prstGeom>
          <a:solidFill>
            <a:srgbClr val="F5A623"/>
          </a:solidFill>
          <a:ln w="12700">
            <a:solidFill>
              <a:srgbClr val="F5A623"/>
            </a:solidFill>
            <a:prstDash val="solid"/>
          </a:ln>
        </p:spPr>
      </p:sp>
      <p:sp>
        <p:nvSpPr>
          <p:cNvPr id="9" name="Text 7"/>
          <p:cNvSpPr/>
          <p:nvPr/>
        </p:nvSpPr>
        <p:spPr>
          <a:xfrm>
            <a:off x="457200" y="3200400"/>
            <a:ext cx="8229600" cy="822960"/>
          </a:xfrm>
          <a:prstGeom prst="rect">
            <a:avLst/>
          </a:prstGeom>
          <a:noFill/>
          <a:ln/>
        </p:spPr>
        <p:txBody>
          <a:bodyPr wrap="square" lIns="0" tIns="0" rIns="0" bIns="0" rtlCol="0" anchor="ctr"/>
          <a:lstStyle/>
          <a:p>
            <a:pPr marL="0" indent="0" algn="ctr">
              <a:buNone/>
            </a:pPr>
            <a:r>
              <a:rPr lang="en-US" sz="2000" dirty="0">
                <a:solidFill>
                  <a:srgbClr val="F5A623"/>
                </a:solidFill>
                <a:latin typeface="Calibri" pitchFamily="34" charset="0"/>
                <a:ea typeface="Calibri" pitchFamily="34" charset="-122"/>
                <a:cs typeface="Calibri" pitchFamily="34" charset="-120"/>
              </a:rPr>
              <a:t>Tạp chí Khoa học và Công nghệ Giao thông (JSTT)</a:t>
            </a:r>
            <a:endParaRPr lang="en-US" sz="2000" dirty="0"/>
          </a:p>
          <a:p>
            <a:pPr marL="0" indent="0" algn="ctr">
              <a:buNone/>
            </a:pPr>
            <a:r>
              <a:rPr lang="en-US" sz="2000" dirty="0">
                <a:solidFill>
                  <a:srgbClr val="F5A623"/>
                </a:solidFill>
                <a:latin typeface="Calibri" pitchFamily="34" charset="0"/>
                <a:ea typeface="Calibri" pitchFamily="34" charset="-122"/>
                <a:cs typeface="Calibri" pitchFamily="34" charset="-120"/>
              </a:rPr>
              <a:t>jstt.vn  |  jstt@utt.edu.vn</a:t>
            </a:r>
            <a:endParaRPr lang="en-US" sz="2000" dirty="0"/>
          </a:p>
        </p:txBody>
      </p:sp>
      <p:sp>
        <p:nvSpPr>
          <p:cNvPr id="10" name="Text 8"/>
          <p:cNvSpPr/>
          <p:nvPr/>
        </p:nvSpPr>
        <p:spPr>
          <a:xfrm>
            <a:off x="457200" y="4114800"/>
            <a:ext cx="8229600" cy="457200"/>
          </a:xfrm>
          <a:prstGeom prst="rect">
            <a:avLst/>
          </a:prstGeom>
          <a:noFill/>
          <a:ln/>
        </p:spPr>
        <p:txBody>
          <a:bodyPr wrap="square" lIns="0" tIns="0" rIns="0" bIns="0"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Câu hỏi và thảo luận</a:t>
            </a:r>
            <a:endParaRPr lang="en-US" sz="2200" dirty="0"/>
          </a:p>
        </p:txBody>
      </p:sp>
      <p:sp>
        <p:nvSpPr>
          <p:cNvPr id="11" name="Shape 9"/>
          <p:cNvSpPr/>
          <p:nvPr/>
        </p:nvSpPr>
        <p:spPr>
          <a:xfrm>
            <a:off x="0" y="4892040"/>
            <a:ext cx="9144000" cy="251460"/>
          </a:xfrm>
          <a:prstGeom prst="rect">
            <a:avLst/>
          </a:prstGeom>
          <a:solidFill>
            <a:srgbClr val="F5A623"/>
          </a:solidFill>
          <a:ln w="12700">
            <a:solidFill>
              <a:srgbClr val="F5A623"/>
            </a:solidFill>
            <a:prstDash val="solid"/>
          </a:ln>
        </p:spPr>
      </p:sp>
      <p:sp>
        <p:nvSpPr>
          <p:cNvPr id="12" name="Text 10"/>
          <p:cNvSpPr/>
          <p:nvPr/>
        </p:nvSpPr>
        <p:spPr>
          <a:xfrm>
            <a:off x="182880" y="4901184"/>
            <a:ext cx="877824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 Số 54 Triều Khúc, Thanh Xuân, Hà Nội   |   📞 (0243).854.4264   |   Email: utt@utt.edu.vn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4315</Words>
  <Application>Microsoft Macintosh PowerPoint</Application>
  <PresentationFormat>On-screen Show (16:9)</PresentationFormat>
  <Paragraphs>611</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Ky nang viet bai bao khoa hoc - UTT-JSTT</dc:title>
  <dc:subject>PptxGenJS Presentation</dc:subject>
  <dc:creator>PptxGenJS</dc:creator>
  <cp:lastModifiedBy>PHAN THUY DUONG</cp:lastModifiedBy>
  <cp:revision>4</cp:revision>
  <dcterms:created xsi:type="dcterms:W3CDTF">2026-06-09T01:06:25Z</dcterms:created>
  <dcterms:modified xsi:type="dcterms:W3CDTF">2026-06-10T00:36:23Z</dcterms:modified>
</cp:coreProperties>
</file>